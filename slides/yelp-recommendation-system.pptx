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Anaheim"/>
      <p:regular r:id="rId34"/>
      <p:bold r:id="rId35"/>
    </p:embeddedFont>
    <p:embeddedFont>
      <p:font typeface="Arvo"/>
      <p:regular r:id="rId36"/>
      <p:bold r:id="rId37"/>
      <p:italic r:id="rId38"/>
      <p:boldItalic r:id="rId39"/>
    </p:embeddedFont>
    <p:embeddedFont>
      <p:font typeface="Hind"/>
      <p:regular r:id="rId40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5B0E34-53BF-40CA-B9C7-51939CC34792}">
  <a:tblStyle styleId="{E35B0E34-53BF-40CA-B9C7-51939CC347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ind-regular.fntdata"/><Relationship Id="rId20" Type="http://schemas.openxmlformats.org/officeDocument/2006/relationships/slide" Target="slides/slide15.xml"/><Relationship Id="rId41" Type="http://schemas.openxmlformats.org/officeDocument/2006/relationships/font" Target="fonts/Hind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Anaheim-bold.fntdata"/><Relationship Id="rId12" Type="http://schemas.openxmlformats.org/officeDocument/2006/relationships/slide" Target="slides/slide7.xml"/><Relationship Id="rId34" Type="http://schemas.openxmlformats.org/officeDocument/2006/relationships/font" Target="fonts/Anaheim-regular.fntdata"/><Relationship Id="rId15" Type="http://schemas.openxmlformats.org/officeDocument/2006/relationships/slide" Target="slides/slide10.xml"/><Relationship Id="rId37" Type="http://schemas.openxmlformats.org/officeDocument/2006/relationships/font" Target="fonts/Arvo-bold.fntdata"/><Relationship Id="rId14" Type="http://schemas.openxmlformats.org/officeDocument/2006/relationships/slide" Target="slides/slide9.xml"/><Relationship Id="rId36" Type="http://schemas.openxmlformats.org/officeDocument/2006/relationships/font" Target="fonts/Arvo-regular.fntdata"/><Relationship Id="rId17" Type="http://schemas.openxmlformats.org/officeDocument/2006/relationships/slide" Target="slides/slide12.xml"/><Relationship Id="rId39" Type="http://schemas.openxmlformats.org/officeDocument/2006/relationships/font" Target="fonts/Arvo-boldItalic.fntdata"/><Relationship Id="rId16" Type="http://schemas.openxmlformats.org/officeDocument/2006/relationships/slide" Target="slides/slide11.xml"/><Relationship Id="rId38" Type="http://schemas.openxmlformats.org/officeDocument/2006/relationships/font" Target="fonts/Arv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e96fd93d6a_0_18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e96fd93d6a_0_18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e98479b13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e98479b13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e96fd93d6a_0_18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e96fd93d6a_0_18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e98479b136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e98479b13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e99e70d71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e99e70d71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We approach this through four modeling paradigms of increasing complexity: item-based collaborative filtering, user-based collaborative filtering, a hybrid factorization machine, and a graph neural network, allowing us to directly compare how different representations of user preference and restaurant characteristics affect recommendation quality.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e98479b136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e98479b136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deee169084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deee169084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e99e70d71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e99e70d71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e98479b136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e98479b136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de9af9f03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de9af9f03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e98479b136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e98479b136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e98479b136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e98479b136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e98479b136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e98479b136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e98479b136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e98479b136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e3b42438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e3b42438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e3b8d954fe_0_19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e3b8d954fe_0_19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Optional? </a:t>
            </a:r>
            <a:r>
              <a:rPr b="1" lang="en" sz="1400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account_age_years</a:t>
            </a:r>
            <a:r>
              <a:rPr lang="en" sz="1400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: derived from yelping_since (years since user joined Yelp)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e98479b136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e98479b136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5. Proposed Approaches (Model) with checks for overfitting/underfitting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e449c15bf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e449c15bf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e449c15bf8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3e449c15bf8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e98479b136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3e98479b136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6. Proposed Solution (Model Selection) with regularization, if needed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e452db6d9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3e452db6d9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NDCG@10 </a:t>
            </a:r>
            <a:r>
              <a:rPr lang="en"/>
              <a:t>measures the quality of our model's top-10 ranked recommendations — specifically, not just whether relevant restaurants appear in the list, but whether they appear near the top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e449c15bf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3e449c15bf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graph propagation allows a sparse user's embedding to be shaped by users they've never directly interacted with — capturing structural similarity across the full network — whereas FM can only model interactions within a single user's own observed history.</a:t>
            </a:r>
            <a:endParaRPr sz="1400"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Hybrid FM trained with BPR underperformed User-User CF on NDCG@10, suggesting that at this matrix density and with high attribute missingness, the ranking objective did not compensate for the noise introduced by 332 partially-observed content features. This motivates LightGCN, which captures content-like structural similarity without relying on explicit attribute completeness</a:t>
            </a:r>
            <a:endParaRPr sz="1400"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e98479b136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3e98479b136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7. Results (Accuracy) and Learnings from the methodology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e449c15bf8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3e449c15bf8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e463a2c636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3e463a2c636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e98479b136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3e98479b136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e463a2c636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3e463a2c636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too much wordssss cutttt!!!!!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e98479b13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3e98479b13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164250" y="145200"/>
            <a:ext cx="8815500" cy="4853100"/>
            <a:chOff x="164250" y="145200"/>
            <a:chExt cx="8815500" cy="4853100"/>
          </a:xfrm>
        </p:grpSpPr>
        <p:sp>
          <p:nvSpPr>
            <p:cNvPr id="11" name="Google Shape;11;p2"/>
            <p:cNvSpPr/>
            <p:nvPr/>
          </p:nvSpPr>
          <p:spPr>
            <a:xfrm>
              <a:off x="164250" y="145200"/>
              <a:ext cx="8815500" cy="4853100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61000" y="245100"/>
              <a:ext cx="8622000" cy="46533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3" name="Google Shape;13;p2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ctrTitle"/>
          </p:nvPr>
        </p:nvSpPr>
        <p:spPr>
          <a:xfrm>
            <a:off x="3628700" y="1563483"/>
            <a:ext cx="4795200" cy="13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200">
                <a:solidFill>
                  <a:srgbClr val="37281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4029800" y="3487470"/>
            <a:ext cx="3993000" cy="45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oogle Shape;18;p3"/>
          <p:cNvGrpSpPr/>
          <p:nvPr/>
        </p:nvGrpSpPr>
        <p:grpSpPr>
          <a:xfrm>
            <a:off x="164250" y="145200"/>
            <a:ext cx="8815500" cy="4853100"/>
            <a:chOff x="164250" y="145200"/>
            <a:chExt cx="8815500" cy="4853100"/>
          </a:xfrm>
        </p:grpSpPr>
        <p:sp>
          <p:nvSpPr>
            <p:cNvPr id="19" name="Google Shape;19;p3"/>
            <p:cNvSpPr/>
            <p:nvPr/>
          </p:nvSpPr>
          <p:spPr>
            <a:xfrm>
              <a:off x="164250" y="145200"/>
              <a:ext cx="8815500" cy="4853100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261000" y="245100"/>
              <a:ext cx="8622000" cy="46533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1" name="Google Shape;21;p3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type="title"/>
          </p:nvPr>
        </p:nvSpPr>
        <p:spPr>
          <a:xfrm>
            <a:off x="4153325" y="2393689"/>
            <a:ext cx="38565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3"/>
          <p:cNvSpPr txBox="1"/>
          <p:nvPr>
            <p:ph hasCustomPrompt="1" idx="2" type="title"/>
          </p:nvPr>
        </p:nvSpPr>
        <p:spPr>
          <a:xfrm>
            <a:off x="4153325" y="1551889"/>
            <a:ext cx="3251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4153325" y="3346239"/>
            <a:ext cx="25983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4"/>
          <p:cNvGrpSpPr/>
          <p:nvPr/>
        </p:nvGrpSpPr>
        <p:grpSpPr>
          <a:xfrm>
            <a:off x="164250" y="145200"/>
            <a:ext cx="8815500" cy="4853100"/>
            <a:chOff x="164250" y="145200"/>
            <a:chExt cx="8815500" cy="4853100"/>
          </a:xfrm>
        </p:grpSpPr>
        <p:sp>
          <p:nvSpPr>
            <p:cNvPr id="28" name="Google Shape;28;p4"/>
            <p:cNvSpPr/>
            <p:nvPr/>
          </p:nvSpPr>
          <p:spPr>
            <a:xfrm>
              <a:off x="164250" y="145200"/>
              <a:ext cx="8815500" cy="4853100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261000" y="245100"/>
              <a:ext cx="8622000" cy="46533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0" name="Google Shape;30;p4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720000" y="1258450"/>
            <a:ext cx="7704000" cy="33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3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/>
        </p:txBody>
      </p:sp>
      <p:grpSp>
        <p:nvGrpSpPr>
          <p:cNvPr id="33" name="Google Shape;33;p4"/>
          <p:cNvGrpSpPr/>
          <p:nvPr/>
        </p:nvGrpSpPr>
        <p:grpSpPr>
          <a:xfrm>
            <a:off x="720072" y="540000"/>
            <a:ext cx="7704093" cy="577207"/>
            <a:chOff x="3667800" y="1583575"/>
            <a:chExt cx="4756200" cy="577207"/>
          </a:xfrm>
        </p:grpSpPr>
        <p:cxnSp>
          <p:nvCxnSpPr>
            <p:cNvPr id="34" name="Google Shape;34;p4"/>
            <p:cNvCxnSpPr/>
            <p:nvPr/>
          </p:nvCxnSpPr>
          <p:spPr>
            <a:xfrm>
              <a:off x="3667800" y="1583575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" name="Google Shape;35;p4"/>
            <p:cNvCxnSpPr/>
            <p:nvPr/>
          </p:nvCxnSpPr>
          <p:spPr>
            <a:xfrm>
              <a:off x="3667800" y="2160782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" name="Google Shape;38;p5"/>
          <p:cNvGrpSpPr/>
          <p:nvPr/>
        </p:nvGrpSpPr>
        <p:grpSpPr>
          <a:xfrm>
            <a:off x="164250" y="145200"/>
            <a:ext cx="8815500" cy="4853100"/>
            <a:chOff x="164250" y="145200"/>
            <a:chExt cx="8815500" cy="4853100"/>
          </a:xfrm>
        </p:grpSpPr>
        <p:sp>
          <p:nvSpPr>
            <p:cNvPr id="39" name="Google Shape;39;p5"/>
            <p:cNvSpPr/>
            <p:nvPr/>
          </p:nvSpPr>
          <p:spPr>
            <a:xfrm>
              <a:off x="164250" y="145200"/>
              <a:ext cx="8815500" cy="4853100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261000" y="245100"/>
              <a:ext cx="8622000" cy="46533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1" name="Google Shape;41;p5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/>
          <p:nvPr>
            <p:ph type="title"/>
          </p:nvPr>
        </p:nvSpPr>
        <p:spPr>
          <a:xfrm>
            <a:off x="720000" y="543572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1291075" y="3854700"/>
            <a:ext cx="2907600" cy="7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4945950" y="3854700"/>
            <a:ext cx="2907600" cy="7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3" type="subTitle"/>
          </p:nvPr>
        </p:nvSpPr>
        <p:spPr>
          <a:xfrm>
            <a:off x="1291081" y="3308670"/>
            <a:ext cx="2907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" name="Google Shape;46;p5"/>
          <p:cNvSpPr txBox="1"/>
          <p:nvPr>
            <p:ph idx="4" type="subTitle"/>
          </p:nvPr>
        </p:nvSpPr>
        <p:spPr>
          <a:xfrm>
            <a:off x="4945956" y="3308670"/>
            <a:ext cx="2907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" name="Google Shape;49;p6"/>
          <p:cNvGrpSpPr/>
          <p:nvPr/>
        </p:nvGrpSpPr>
        <p:grpSpPr>
          <a:xfrm>
            <a:off x="164250" y="145200"/>
            <a:ext cx="8815500" cy="4853100"/>
            <a:chOff x="164250" y="145200"/>
            <a:chExt cx="8815500" cy="4853100"/>
          </a:xfrm>
        </p:grpSpPr>
        <p:sp>
          <p:nvSpPr>
            <p:cNvPr id="50" name="Google Shape;50;p6"/>
            <p:cNvSpPr/>
            <p:nvPr/>
          </p:nvSpPr>
          <p:spPr>
            <a:xfrm>
              <a:off x="164250" y="145200"/>
              <a:ext cx="8815500" cy="4853100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261000" y="245100"/>
              <a:ext cx="8622000" cy="46533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2" name="Google Shape;52;p6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title"/>
          </p:nvPr>
        </p:nvSpPr>
        <p:spPr>
          <a:xfrm>
            <a:off x="720000" y="542381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54" name="Google Shape;54;p6"/>
          <p:cNvGrpSpPr/>
          <p:nvPr/>
        </p:nvGrpSpPr>
        <p:grpSpPr>
          <a:xfrm>
            <a:off x="720072" y="540000"/>
            <a:ext cx="7704093" cy="577207"/>
            <a:chOff x="3667800" y="1583575"/>
            <a:chExt cx="4756200" cy="577207"/>
          </a:xfrm>
        </p:grpSpPr>
        <p:cxnSp>
          <p:nvCxnSpPr>
            <p:cNvPr id="55" name="Google Shape;55;p6"/>
            <p:cNvCxnSpPr/>
            <p:nvPr/>
          </p:nvCxnSpPr>
          <p:spPr>
            <a:xfrm>
              <a:off x="3667800" y="1583575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" name="Google Shape;56;p6"/>
            <p:cNvCxnSpPr/>
            <p:nvPr/>
          </p:nvCxnSpPr>
          <p:spPr>
            <a:xfrm>
              <a:off x="3667800" y="2160782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164250" y="145200"/>
            <a:ext cx="8815500" cy="4853100"/>
            <a:chOff x="164250" y="145200"/>
            <a:chExt cx="8815500" cy="4853100"/>
          </a:xfrm>
        </p:grpSpPr>
        <p:sp>
          <p:nvSpPr>
            <p:cNvPr id="60" name="Google Shape;60;p7"/>
            <p:cNvSpPr/>
            <p:nvPr/>
          </p:nvSpPr>
          <p:spPr>
            <a:xfrm>
              <a:off x="164250" y="145200"/>
              <a:ext cx="8815500" cy="4853100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7"/>
            <p:cNvSpPr/>
            <p:nvPr/>
          </p:nvSpPr>
          <p:spPr>
            <a:xfrm>
              <a:off x="261000" y="245100"/>
              <a:ext cx="8622000" cy="46533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2" name="Google Shape;62;p7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>
            <p:ph type="title"/>
          </p:nvPr>
        </p:nvSpPr>
        <p:spPr>
          <a:xfrm>
            <a:off x="3889275" y="540000"/>
            <a:ext cx="4534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" type="body"/>
          </p:nvPr>
        </p:nvSpPr>
        <p:spPr>
          <a:xfrm>
            <a:off x="3889275" y="1277800"/>
            <a:ext cx="4534800" cy="33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50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★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65" name="Google Shape;65;p7"/>
          <p:cNvGrpSpPr/>
          <p:nvPr/>
        </p:nvGrpSpPr>
        <p:grpSpPr>
          <a:xfrm>
            <a:off x="3889553" y="540020"/>
            <a:ext cx="4535037" cy="577207"/>
            <a:chOff x="3667800" y="1583575"/>
            <a:chExt cx="4756200" cy="577207"/>
          </a:xfrm>
        </p:grpSpPr>
        <p:cxnSp>
          <p:nvCxnSpPr>
            <p:cNvPr id="66" name="Google Shape;66;p7"/>
            <p:cNvCxnSpPr/>
            <p:nvPr/>
          </p:nvCxnSpPr>
          <p:spPr>
            <a:xfrm>
              <a:off x="3667800" y="1583575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7"/>
            <p:cNvCxnSpPr/>
            <p:nvPr/>
          </p:nvCxnSpPr>
          <p:spPr>
            <a:xfrm>
              <a:off x="3667800" y="2160782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8"/>
          <p:cNvGrpSpPr/>
          <p:nvPr/>
        </p:nvGrpSpPr>
        <p:grpSpPr>
          <a:xfrm>
            <a:off x="164250" y="145200"/>
            <a:ext cx="8815500" cy="4853100"/>
            <a:chOff x="164250" y="145200"/>
            <a:chExt cx="8815500" cy="4853100"/>
          </a:xfrm>
        </p:grpSpPr>
        <p:sp>
          <p:nvSpPr>
            <p:cNvPr id="71" name="Google Shape;71;p8"/>
            <p:cNvSpPr/>
            <p:nvPr/>
          </p:nvSpPr>
          <p:spPr>
            <a:xfrm>
              <a:off x="164250" y="145200"/>
              <a:ext cx="8815500" cy="4853100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>
              <a:off x="261000" y="245100"/>
              <a:ext cx="8622000" cy="46533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3" name="Google Shape;73;p8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8"/>
          <p:cNvSpPr txBox="1"/>
          <p:nvPr>
            <p:ph type="title"/>
          </p:nvPr>
        </p:nvSpPr>
        <p:spPr>
          <a:xfrm>
            <a:off x="2353036" y="1857868"/>
            <a:ext cx="4446600" cy="161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" name="Google Shape;77;p9"/>
          <p:cNvGrpSpPr/>
          <p:nvPr/>
        </p:nvGrpSpPr>
        <p:grpSpPr>
          <a:xfrm>
            <a:off x="164250" y="145200"/>
            <a:ext cx="8815500" cy="4853100"/>
            <a:chOff x="164250" y="145200"/>
            <a:chExt cx="8815500" cy="4853100"/>
          </a:xfrm>
        </p:grpSpPr>
        <p:sp>
          <p:nvSpPr>
            <p:cNvPr id="78" name="Google Shape;78;p9"/>
            <p:cNvSpPr/>
            <p:nvPr/>
          </p:nvSpPr>
          <p:spPr>
            <a:xfrm>
              <a:off x="164250" y="145200"/>
              <a:ext cx="8815500" cy="4853100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9"/>
            <p:cNvSpPr/>
            <p:nvPr/>
          </p:nvSpPr>
          <p:spPr>
            <a:xfrm>
              <a:off x="261000" y="245100"/>
              <a:ext cx="8622000" cy="46533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0" name="Google Shape;80;p9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9"/>
          <p:cNvSpPr txBox="1"/>
          <p:nvPr>
            <p:ph type="title"/>
          </p:nvPr>
        </p:nvSpPr>
        <p:spPr>
          <a:xfrm>
            <a:off x="1100950" y="1302183"/>
            <a:ext cx="3473100" cy="134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2" name="Google Shape;82;p9"/>
          <p:cNvSpPr txBox="1"/>
          <p:nvPr>
            <p:ph idx="1" type="subTitle"/>
          </p:nvPr>
        </p:nvSpPr>
        <p:spPr>
          <a:xfrm>
            <a:off x="1100950" y="2661472"/>
            <a:ext cx="3473100" cy="15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0"/>
          <p:cNvGrpSpPr/>
          <p:nvPr/>
        </p:nvGrpSpPr>
        <p:grpSpPr>
          <a:xfrm>
            <a:off x="164250" y="145200"/>
            <a:ext cx="8815500" cy="4853100"/>
            <a:chOff x="164250" y="145200"/>
            <a:chExt cx="8815500" cy="4853100"/>
          </a:xfrm>
        </p:grpSpPr>
        <p:sp>
          <p:nvSpPr>
            <p:cNvPr id="86" name="Google Shape;86;p10"/>
            <p:cNvSpPr/>
            <p:nvPr/>
          </p:nvSpPr>
          <p:spPr>
            <a:xfrm>
              <a:off x="164250" y="145200"/>
              <a:ext cx="8815500" cy="4853100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0"/>
            <p:cNvSpPr/>
            <p:nvPr/>
          </p:nvSpPr>
          <p:spPr>
            <a:xfrm>
              <a:off x="261000" y="245100"/>
              <a:ext cx="8622000" cy="46533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10"/>
          <p:cNvSpPr txBox="1"/>
          <p:nvPr>
            <p:ph type="title"/>
          </p:nvPr>
        </p:nvSpPr>
        <p:spPr>
          <a:xfrm>
            <a:off x="4800454" y="3796375"/>
            <a:ext cx="3264000" cy="7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11"/>
          <p:cNvGrpSpPr/>
          <p:nvPr/>
        </p:nvGrpSpPr>
        <p:grpSpPr>
          <a:xfrm>
            <a:off x="164250" y="145200"/>
            <a:ext cx="8815500" cy="4853100"/>
            <a:chOff x="164250" y="145200"/>
            <a:chExt cx="8815500" cy="4853100"/>
          </a:xfrm>
        </p:grpSpPr>
        <p:sp>
          <p:nvSpPr>
            <p:cNvPr id="92" name="Google Shape;92;p11"/>
            <p:cNvSpPr/>
            <p:nvPr/>
          </p:nvSpPr>
          <p:spPr>
            <a:xfrm>
              <a:off x="164250" y="145200"/>
              <a:ext cx="8815500" cy="4853100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1"/>
            <p:cNvSpPr/>
            <p:nvPr/>
          </p:nvSpPr>
          <p:spPr>
            <a:xfrm>
              <a:off x="261000" y="245100"/>
              <a:ext cx="8622000" cy="46533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4" name="Google Shape;94;p11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1"/>
          <p:cNvSpPr txBox="1"/>
          <p:nvPr>
            <p:ph hasCustomPrompt="1" type="title"/>
          </p:nvPr>
        </p:nvSpPr>
        <p:spPr>
          <a:xfrm>
            <a:off x="1896250" y="2807350"/>
            <a:ext cx="53472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6" name="Google Shape;96;p11"/>
          <p:cNvSpPr txBox="1"/>
          <p:nvPr>
            <p:ph idx="1" type="subTitle"/>
          </p:nvPr>
        </p:nvSpPr>
        <p:spPr>
          <a:xfrm>
            <a:off x="2319325" y="4158575"/>
            <a:ext cx="4509300" cy="31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13"/>
          <p:cNvGrpSpPr/>
          <p:nvPr/>
        </p:nvGrpSpPr>
        <p:grpSpPr>
          <a:xfrm>
            <a:off x="164250" y="145200"/>
            <a:ext cx="8815500" cy="4853100"/>
            <a:chOff x="164250" y="145200"/>
            <a:chExt cx="8815500" cy="4853100"/>
          </a:xfrm>
        </p:grpSpPr>
        <p:sp>
          <p:nvSpPr>
            <p:cNvPr id="101" name="Google Shape;101;p13"/>
            <p:cNvSpPr/>
            <p:nvPr/>
          </p:nvSpPr>
          <p:spPr>
            <a:xfrm>
              <a:off x="164250" y="145200"/>
              <a:ext cx="8815500" cy="4853100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261000" y="245100"/>
              <a:ext cx="8622000" cy="46533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3" name="Google Shape;103;p13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3"/>
          <p:cNvSpPr txBox="1"/>
          <p:nvPr>
            <p:ph type="title"/>
          </p:nvPr>
        </p:nvSpPr>
        <p:spPr>
          <a:xfrm>
            <a:off x="3907493" y="1578615"/>
            <a:ext cx="2065200" cy="3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5" name="Google Shape;105;p13"/>
          <p:cNvSpPr txBox="1"/>
          <p:nvPr>
            <p:ph hasCustomPrompt="1" idx="2" type="title"/>
          </p:nvPr>
        </p:nvSpPr>
        <p:spPr>
          <a:xfrm>
            <a:off x="4599561" y="935771"/>
            <a:ext cx="66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/>
          <p:nvPr>
            <p:ph idx="1" type="subTitle"/>
          </p:nvPr>
        </p:nvSpPr>
        <p:spPr>
          <a:xfrm>
            <a:off x="3907493" y="2032690"/>
            <a:ext cx="2065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3" type="title"/>
          </p:nvPr>
        </p:nvSpPr>
        <p:spPr>
          <a:xfrm>
            <a:off x="6350393" y="1578611"/>
            <a:ext cx="2065200" cy="3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8" name="Google Shape;108;p13"/>
          <p:cNvSpPr txBox="1"/>
          <p:nvPr>
            <p:ph hasCustomPrompt="1" idx="4" type="title"/>
          </p:nvPr>
        </p:nvSpPr>
        <p:spPr>
          <a:xfrm>
            <a:off x="7050143" y="935771"/>
            <a:ext cx="66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/>
          <p:nvPr>
            <p:ph idx="5" type="subTitle"/>
          </p:nvPr>
        </p:nvSpPr>
        <p:spPr>
          <a:xfrm>
            <a:off x="6350393" y="2028615"/>
            <a:ext cx="2065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6" type="title"/>
          </p:nvPr>
        </p:nvSpPr>
        <p:spPr>
          <a:xfrm>
            <a:off x="3907493" y="3572193"/>
            <a:ext cx="2065200" cy="3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1" name="Google Shape;111;p13"/>
          <p:cNvSpPr txBox="1"/>
          <p:nvPr>
            <p:ph hasCustomPrompt="1" idx="7" type="title"/>
          </p:nvPr>
        </p:nvSpPr>
        <p:spPr>
          <a:xfrm>
            <a:off x="4607243" y="2922761"/>
            <a:ext cx="66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/>
          <p:nvPr>
            <p:ph idx="8" type="subTitle"/>
          </p:nvPr>
        </p:nvSpPr>
        <p:spPr>
          <a:xfrm>
            <a:off x="3907493" y="4026118"/>
            <a:ext cx="2065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3"/>
          <p:cNvSpPr txBox="1"/>
          <p:nvPr>
            <p:ph idx="9" type="title"/>
          </p:nvPr>
        </p:nvSpPr>
        <p:spPr>
          <a:xfrm>
            <a:off x="6350393" y="3568118"/>
            <a:ext cx="2065200" cy="3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4" name="Google Shape;114;p13"/>
          <p:cNvSpPr txBox="1"/>
          <p:nvPr>
            <p:ph hasCustomPrompt="1" idx="13" type="title"/>
          </p:nvPr>
        </p:nvSpPr>
        <p:spPr>
          <a:xfrm>
            <a:off x="7050143" y="2918686"/>
            <a:ext cx="66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/>
          <p:nvPr>
            <p:ph idx="14" type="subTitle"/>
          </p:nvPr>
        </p:nvSpPr>
        <p:spPr>
          <a:xfrm>
            <a:off x="6350393" y="4022043"/>
            <a:ext cx="2065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3"/>
          <p:cNvSpPr txBox="1"/>
          <p:nvPr>
            <p:ph idx="15" type="title"/>
          </p:nvPr>
        </p:nvSpPr>
        <p:spPr>
          <a:xfrm>
            <a:off x="720000" y="734371"/>
            <a:ext cx="2899800" cy="9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p14"/>
          <p:cNvGrpSpPr/>
          <p:nvPr/>
        </p:nvGrpSpPr>
        <p:grpSpPr>
          <a:xfrm>
            <a:off x="164250" y="145200"/>
            <a:ext cx="8815500" cy="4853100"/>
            <a:chOff x="164250" y="145200"/>
            <a:chExt cx="8815500" cy="4853100"/>
          </a:xfrm>
        </p:grpSpPr>
        <p:sp>
          <p:nvSpPr>
            <p:cNvPr id="120" name="Google Shape;120;p14"/>
            <p:cNvSpPr/>
            <p:nvPr/>
          </p:nvSpPr>
          <p:spPr>
            <a:xfrm>
              <a:off x="164250" y="145200"/>
              <a:ext cx="8815500" cy="4853100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4"/>
            <p:cNvSpPr/>
            <p:nvPr/>
          </p:nvSpPr>
          <p:spPr>
            <a:xfrm>
              <a:off x="261000" y="245100"/>
              <a:ext cx="8622000" cy="46533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2" name="Google Shape;122;p14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4"/>
          <p:cNvSpPr txBox="1"/>
          <p:nvPr>
            <p:ph type="title"/>
          </p:nvPr>
        </p:nvSpPr>
        <p:spPr>
          <a:xfrm>
            <a:off x="4475196" y="3245996"/>
            <a:ext cx="3852000" cy="34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4" name="Google Shape;124;p14"/>
          <p:cNvSpPr txBox="1"/>
          <p:nvPr>
            <p:ph idx="1" type="subTitle"/>
          </p:nvPr>
        </p:nvSpPr>
        <p:spPr>
          <a:xfrm>
            <a:off x="4433550" y="1729646"/>
            <a:ext cx="3905100" cy="144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" name="Google Shape;127;p15"/>
          <p:cNvGrpSpPr/>
          <p:nvPr/>
        </p:nvGrpSpPr>
        <p:grpSpPr>
          <a:xfrm>
            <a:off x="164250" y="145200"/>
            <a:ext cx="8815500" cy="4853100"/>
            <a:chOff x="164250" y="145200"/>
            <a:chExt cx="8815500" cy="4853100"/>
          </a:xfrm>
        </p:grpSpPr>
        <p:sp>
          <p:nvSpPr>
            <p:cNvPr id="128" name="Google Shape;128;p15"/>
            <p:cNvSpPr/>
            <p:nvPr/>
          </p:nvSpPr>
          <p:spPr>
            <a:xfrm>
              <a:off x="164250" y="145200"/>
              <a:ext cx="8815500" cy="4853100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261000" y="245100"/>
              <a:ext cx="8622000" cy="46533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30" name="Google Shape;130;p15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>
            <p:ph type="title"/>
          </p:nvPr>
        </p:nvSpPr>
        <p:spPr>
          <a:xfrm>
            <a:off x="4568826" y="1370925"/>
            <a:ext cx="3405300" cy="19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15"/>
          <p:cNvSpPr txBox="1"/>
          <p:nvPr>
            <p:ph idx="1" type="subTitle"/>
          </p:nvPr>
        </p:nvSpPr>
        <p:spPr>
          <a:xfrm>
            <a:off x="4568836" y="3411596"/>
            <a:ext cx="3692400" cy="66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_1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" name="Google Shape;135;p16"/>
          <p:cNvGrpSpPr/>
          <p:nvPr/>
        </p:nvGrpSpPr>
        <p:grpSpPr>
          <a:xfrm>
            <a:off x="164250" y="145200"/>
            <a:ext cx="8815500" cy="4853100"/>
            <a:chOff x="164250" y="145200"/>
            <a:chExt cx="8815500" cy="4853100"/>
          </a:xfrm>
        </p:grpSpPr>
        <p:sp>
          <p:nvSpPr>
            <p:cNvPr id="136" name="Google Shape;136;p16"/>
            <p:cNvSpPr/>
            <p:nvPr/>
          </p:nvSpPr>
          <p:spPr>
            <a:xfrm>
              <a:off x="164250" y="145200"/>
              <a:ext cx="8815500" cy="4853100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261000" y="245100"/>
              <a:ext cx="8622000" cy="46533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38" name="Google Shape;138;p16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>
            <p:ph type="title"/>
          </p:nvPr>
        </p:nvSpPr>
        <p:spPr>
          <a:xfrm>
            <a:off x="956747" y="1565529"/>
            <a:ext cx="3471000" cy="69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" name="Google Shape;140;p16"/>
          <p:cNvSpPr txBox="1"/>
          <p:nvPr>
            <p:ph idx="1" type="subTitle"/>
          </p:nvPr>
        </p:nvSpPr>
        <p:spPr>
          <a:xfrm>
            <a:off x="956747" y="2290654"/>
            <a:ext cx="3471000" cy="127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0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" name="Google Shape;143;p17"/>
          <p:cNvGrpSpPr/>
          <p:nvPr/>
        </p:nvGrpSpPr>
        <p:grpSpPr>
          <a:xfrm>
            <a:off x="164250" y="145200"/>
            <a:ext cx="8815500" cy="4853100"/>
            <a:chOff x="164250" y="145200"/>
            <a:chExt cx="8815500" cy="4853100"/>
          </a:xfrm>
        </p:grpSpPr>
        <p:sp>
          <p:nvSpPr>
            <p:cNvPr id="144" name="Google Shape;144;p17"/>
            <p:cNvSpPr/>
            <p:nvPr/>
          </p:nvSpPr>
          <p:spPr>
            <a:xfrm>
              <a:off x="164250" y="145200"/>
              <a:ext cx="8815500" cy="4853100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7"/>
            <p:cNvSpPr/>
            <p:nvPr/>
          </p:nvSpPr>
          <p:spPr>
            <a:xfrm>
              <a:off x="261000" y="245100"/>
              <a:ext cx="8622000" cy="46533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46" name="Google Shape;146;p17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>
            <p:ph type="title"/>
          </p:nvPr>
        </p:nvSpPr>
        <p:spPr>
          <a:xfrm>
            <a:off x="720000" y="543572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7"/>
          <p:cNvSpPr txBox="1"/>
          <p:nvPr>
            <p:ph idx="1" type="body"/>
          </p:nvPr>
        </p:nvSpPr>
        <p:spPr>
          <a:xfrm>
            <a:off x="720000" y="1277800"/>
            <a:ext cx="3852000" cy="332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★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9" name="Google Shape;149;p17"/>
          <p:cNvSpPr txBox="1"/>
          <p:nvPr>
            <p:ph idx="2" type="body"/>
          </p:nvPr>
        </p:nvSpPr>
        <p:spPr>
          <a:xfrm>
            <a:off x="4572000" y="1278075"/>
            <a:ext cx="3852000" cy="169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 marR="50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★"/>
              <a:defRPr sz="12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50" name="Google Shape;150;p17"/>
          <p:cNvGrpSpPr/>
          <p:nvPr/>
        </p:nvGrpSpPr>
        <p:grpSpPr>
          <a:xfrm>
            <a:off x="720072" y="540000"/>
            <a:ext cx="7704093" cy="577207"/>
            <a:chOff x="3667800" y="1583575"/>
            <a:chExt cx="4756200" cy="577207"/>
          </a:xfrm>
        </p:grpSpPr>
        <p:cxnSp>
          <p:nvCxnSpPr>
            <p:cNvPr id="151" name="Google Shape;151;p17"/>
            <p:cNvCxnSpPr/>
            <p:nvPr/>
          </p:nvCxnSpPr>
          <p:spPr>
            <a:xfrm>
              <a:off x="3667800" y="1583575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" name="Google Shape;152;p17"/>
            <p:cNvCxnSpPr/>
            <p:nvPr/>
          </p:nvCxnSpPr>
          <p:spPr>
            <a:xfrm>
              <a:off x="3667800" y="2160782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0_1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p18"/>
          <p:cNvGrpSpPr/>
          <p:nvPr/>
        </p:nvGrpSpPr>
        <p:grpSpPr>
          <a:xfrm>
            <a:off x="164250" y="145200"/>
            <a:ext cx="8815500" cy="4853100"/>
            <a:chOff x="164250" y="145200"/>
            <a:chExt cx="8815500" cy="4853100"/>
          </a:xfrm>
        </p:grpSpPr>
        <p:sp>
          <p:nvSpPr>
            <p:cNvPr id="156" name="Google Shape;156;p18"/>
            <p:cNvSpPr/>
            <p:nvPr/>
          </p:nvSpPr>
          <p:spPr>
            <a:xfrm>
              <a:off x="164250" y="145200"/>
              <a:ext cx="8815500" cy="4853100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261000" y="245100"/>
              <a:ext cx="8622000" cy="46533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58" name="Google Shape;158;p18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>
            <p:ph type="title"/>
          </p:nvPr>
        </p:nvSpPr>
        <p:spPr>
          <a:xfrm>
            <a:off x="720000" y="541786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18"/>
          <p:cNvSpPr txBox="1"/>
          <p:nvPr>
            <p:ph idx="1" type="body"/>
          </p:nvPr>
        </p:nvSpPr>
        <p:spPr>
          <a:xfrm>
            <a:off x="720000" y="1596525"/>
            <a:ext cx="3597300" cy="263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★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1" name="Google Shape;161;p18"/>
          <p:cNvSpPr txBox="1"/>
          <p:nvPr>
            <p:ph idx="2" type="body"/>
          </p:nvPr>
        </p:nvSpPr>
        <p:spPr>
          <a:xfrm>
            <a:off x="4826700" y="1596525"/>
            <a:ext cx="3597300" cy="263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 marR="50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★"/>
              <a:defRPr sz="12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62" name="Google Shape;162;p18"/>
          <p:cNvGrpSpPr/>
          <p:nvPr/>
        </p:nvGrpSpPr>
        <p:grpSpPr>
          <a:xfrm>
            <a:off x="720072" y="540000"/>
            <a:ext cx="7704093" cy="577207"/>
            <a:chOff x="3667800" y="1583575"/>
            <a:chExt cx="4756200" cy="577207"/>
          </a:xfrm>
        </p:grpSpPr>
        <p:cxnSp>
          <p:nvCxnSpPr>
            <p:cNvPr id="163" name="Google Shape;163;p18"/>
            <p:cNvCxnSpPr/>
            <p:nvPr/>
          </p:nvCxnSpPr>
          <p:spPr>
            <a:xfrm>
              <a:off x="3667800" y="1583575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" name="Google Shape;164;p18"/>
            <p:cNvCxnSpPr/>
            <p:nvPr/>
          </p:nvCxnSpPr>
          <p:spPr>
            <a:xfrm>
              <a:off x="3667800" y="2160782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3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19"/>
          <p:cNvGrpSpPr/>
          <p:nvPr/>
        </p:nvGrpSpPr>
        <p:grpSpPr>
          <a:xfrm>
            <a:off x="164250" y="145200"/>
            <a:ext cx="8815500" cy="4853100"/>
            <a:chOff x="164250" y="145200"/>
            <a:chExt cx="8815500" cy="4853100"/>
          </a:xfrm>
        </p:grpSpPr>
        <p:sp>
          <p:nvSpPr>
            <p:cNvPr id="168" name="Google Shape;168;p19"/>
            <p:cNvSpPr/>
            <p:nvPr/>
          </p:nvSpPr>
          <p:spPr>
            <a:xfrm>
              <a:off x="164250" y="145200"/>
              <a:ext cx="8815500" cy="4853100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261000" y="245100"/>
              <a:ext cx="8622000" cy="46533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70" name="Google Shape;170;p19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" name="Google Shape;172;p19"/>
          <p:cNvSpPr txBox="1"/>
          <p:nvPr>
            <p:ph idx="2" type="title"/>
          </p:nvPr>
        </p:nvSpPr>
        <p:spPr>
          <a:xfrm>
            <a:off x="720000" y="2272658"/>
            <a:ext cx="2336400" cy="37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3" name="Google Shape;173;p19"/>
          <p:cNvSpPr txBox="1"/>
          <p:nvPr>
            <p:ph idx="1" type="subTitle"/>
          </p:nvPr>
        </p:nvSpPr>
        <p:spPr>
          <a:xfrm>
            <a:off x="720000" y="2710749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9"/>
          <p:cNvSpPr txBox="1"/>
          <p:nvPr>
            <p:ph idx="3" type="title"/>
          </p:nvPr>
        </p:nvSpPr>
        <p:spPr>
          <a:xfrm>
            <a:off x="3403800" y="2272658"/>
            <a:ext cx="2336400" cy="37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5" name="Google Shape;175;p19"/>
          <p:cNvSpPr txBox="1"/>
          <p:nvPr>
            <p:ph idx="4" type="subTitle"/>
          </p:nvPr>
        </p:nvSpPr>
        <p:spPr>
          <a:xfrm>
            <a:off x="3403800" y="2710749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9"/>
          <p:cNvSpPr txBox="1"/>
          <p:nvPr>
            <p:ph idx="5" type="title"/>
          </p:nvPr>
        </p:nvSpPr>
        <p:spPr>
          <a:xfrm>
            <a:off x="6087600" y="2272658"/>
            <a:ext cx="2336400" cy="37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7" name="Google Shape;177;p19"/>
          <p:cNvSpPr txBox="1"/>
          <p:nvPr>
            <p:ph idx="6" type="subTitle"/>
          </p:nvPr>
        </p:nvSpPr>
        <p:spPr>
          <a:xfrm>
            <a:off x="6087600" y="2710749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3_1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" name="Google Shape;180;p20"/>
          <p:cNvGrpSpPr/>
          <p:nvPr/>
        </p:nvGrpSpPr>
        <p:grpSpPr>
          <a:xfrm>
            <a:off x="164250" y="145200"/>
            <a:ext cx="8815500" cy="4853100"/>
            <a:chOff x="164250" y="145200"/>
            <a:chExt cx="8815500" cy="4853100"/>
          </a:xfrm>
        </p:grpSpPr>
        <p:sp>
          <p:nvSpPr>
            <p:cNvPr id="181" name="Google Shape;181;p20"/>
            <p:cNvSpPr/>
            <p:nvPr/>
          </p:nvSpPr>
          <p:spPr>
            <a:xfrm>
              <a:off x="164250" y="145200"/>
              <a:ext cx="8815500" cy="4853100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0"/>
            <p:cNvSpPr/>
            <p:nvPr/>
          </p:nvSpPr>
          <p:spPr>
            <a:xfrm>
              <a:off x="261000" y="245100"/>
              <a:ext cx="8622000" cy="46533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83" name="Google Shape;183;p20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>
            <p:ph type="title"/>
          </p:nvPr>
        </p:nvSpPr>
        <p:spPr>
          <a:xfrm>
            <a:off x="720000" y="542977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20"/>
          <p:cNvSpPr txBox="1"/>
          <p:nvPr>
            <p:ph idx="2" type="title"/>
          </p:nvPr>
        </p:nvSpPr>
        <p:spPr>
          <a:xfrm>
            <a:off x="1000226" y="2998125"/>
            <a:ext cx="1776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6" name="Google Shape;186;p20"/>
          <p:cNvSpPr txBox="1"/>
          <p:nvPr>
            <p:ph idx="1" type="subTitle"/>
          </p:nvPr>
        </p:nvSpPr>
        <p:spPr>
          <a:xfrm>
            <a:off x="1000226" y="3584650"/>
            <a:ext cx="17763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0"/>
          <p:cNvSpPr txBox="1"/>
          <p:nvPr>
            <p:ph idx="3" type="title"/>
          </p:nvPr>
        </p:nvSpPr>
        <p:spPr>
          <a:xfrm>
            <a:off x="3684029" y="3529450"/>
            <a:ext cx="1776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8" name="Google Shape;188;p20"/>
          <p:cNvSpPr txBox="1"/>
          <p:nvPr>
            <p:ph idx="4" type="subTitle"/>
          </p:nvPr>
        </p:nvSpPr>
        <p:spPr>
          <a:xfrm>
            <a:off x="3684029" y="4115975"/>
            <a:ext cx="17763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0"/>
          <p:cNvSpPr txBox="1"/>
          <p:nvPr>
            <p:ph idx="5" type="title"/>
          </p:nvPr>
        </p:nvSpPr>
        <p:spPr>
          <a:xfrm>
            <a:off x="6366586" y="2998125"/>
            <a:ext cx="1776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" name="Google Shape;190;p20"/>
          <p:cNvSpPr txBox="1"/>
          <p:nvPr>
            <p:ph idx="6" type="subTitle"/>
          </p:nvPr>
        </p:nvSpPr>
        <p:spPr>
          <a:xfrm>
            <a:off x="6366586" y="3584650"/>
            <a:ext cx="17763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3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21"/>
          <p:cNvGrpSpPr/>
          <p:nvPr/>
        </p:nvGrpSpPr>
        <p:grpSpPr>
          <a:xfrm>
            <a:off x="164250" y="145200"/>
            <a:ext cx="8815500" cy="4853100"/>
            <a:chOff x="164250" y="145200"/>
            <a:chExt cx="8815500" cy="4853100"/>
          </a:xfrm>
        </p:grpSpPr>
        <p:sp>
          <p:nvSpPr>
            <p:cNvPr id="194" name="Google Shape;194;p21"/>
            <p:cNvSpPr/>
            <p:nvPr/>
          </p:nvSpPr>
          <p:spPr>
            <a:xfrm>
              <a:off x="164250" y="145200"/>
              <a:ext cx="8815500" cy="4853100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261000" y="245100"/>
              <a:ext cx="8622000" cy="46533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6" name="Google Shape;196;p21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>
            <p:ph type="title"/>
          </p:nvPr>
        </p:nvSpPr>
        <p:spPr>
          <a:xfrm>
            <a:off x="720000" y="542016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8" name="Google Shape;198;p21"/>
          <p:cNvSpPr txBox="1"/>
          <p:nvPr>
            <p:ph idx="1" type="subTitle"/>
          </p:nvPr>
        </p:nvSpPr>
        <p:spPr>
          <a:xfrm>
            <a:off x="1886925" y="1894480"/>
            <a:ext cx="17430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21"/>
          <p:cNvSpPr txBox="1"/>
          <p:nvPr>
            <p:ph hasCustomPrompt="1" idx="2" type="title"/>
          </p:nvPr>
        </p:nvSpPr>
        <p:spPr>
          <a:xfrm>
            <a:off x="1137882" y="1684375"/>
            <a:ext cx="483300" cy="43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200" name="Google Shape;200;p21"/>
          <p:cNvSpPr txBox="1"/>
          <p:nvPr>
            <p:ph idx="3" type="subTitle"/>
          </p:nvPr>
        </p:nvSpPr>
        <p:spPr>
          <a:xfrm>
            <a:off x="1886925" y="2931693"/>
            <a:ext cx="17430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1"/>
          <p:cNvSpPr txBox="1"/>
          <p:nvPr>
            <p:ph hasCustomPrompt="1" idx="4" type="title"/>
          </p:nvPr>
        </p:nvSpPr>
        <p:spPr>
          <a:xfrm>
            <a:off x="1140453" y="2732610"/>
            <a:ext cx="483300" cy="43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202" name="Google Shape;202;p21"/>
          <p:cNvSpPr txBox="1"/>
          <p:nvPr>
            <p:ph idx="5" type="subTitle"/>
          </p:nvPr>
        </p:nvSpPr>
        <p:spPr>
          <a:xfrm>
            <a:off x="1886925" y="3987330"/>
            <a:ext cx="17430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>
            <p:ph hasCustomPrompt="1" idx="6" type="title"/>
          </p:nvPr>
        </p:nvSpPr>
        <p:spPr>
          <a:xfrm>
            <a:off x="1140453" y="3776666"/>
            <a:ext cx="483300" cy="43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204" name="Google Shape;204;p21"/>
          <p:cNvSpPr txBox="1"/>
          <p:nvPr>
            <p:ph idx="7" type="subTitle"/>
          </p:nvPr>
        </p:nvSpPr>
        <p:spPr>
          <a:xfrm>
            <a:off x="1886925" y="1475780"/>
            <a:ext cx="17430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vo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vo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vo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vo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vo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vo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vo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vo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vo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9pPr>
          </a:lstStyle>
          <a:p/>
        </p:txBody>
      </p:sp>
      <p:sp>
        <p:nvSpPr>
          <p:cNvPr id="205" name="Google Shape;205;p21"/>
          <p:cNvSpPr txBox="1"/>
          <p:nvPr>
            <p:ph idx="8" type="subTitle"/>
          </p:nvPr>
        </p:nvSpPr>
        <p:spPr>
          <a:xfrm>
            <a:off x="1886925" y="2506964"/>
            <a:ext cx="17430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vo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vo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vo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vo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vo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vo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vo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vo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vo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9" type="subTitle"/>
          </p:nvPr>
        </p:nvSpPr>
        <p:spPr>
          <a:xfrm>
            <a:off x="1886925" y="3565880"/>
            <a:ext cx="17430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vo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vo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vo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vo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vo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vo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vo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vo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vo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4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9" name="Google Shape;209;p22"/>
          <p:cNvGrpSpPr/>
          <p:nvPr/>
        </p:nvGrpSpPr>
        <p:grpSpPr>
          <a:xfrm>
            <a:off x="164250" y="145200"/>
            <a:ext cx="8815500" cy="4853100"/>
            <a:chOff x="164250" y="145200"/>
            <a:chExt cx="8815500" cy="4853100"/>
          </a:xfrm>
        </p:grpSpPr>
        <p:sp>
          <p:nvSpPr>
            <p:cNvPr id="210" name="Google Shape;210;p22"/>
            <p:cNvSpPr/>
            <p:nvPr/>
          </p:nvSpPr>
          <p:spPr>
            <a:xfrm>
              <a:off x="164250" y="145200"/>
              <a:ext cx="8815500" cy="4853100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261000" y="245100"/>
              <a:ext cx="8622000" cy="46533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12" name="Google Shape;212;p22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>
            <p:ph type="title"/>
          </p:nvPr>
        </p:nvSpPr>
        <p:spPr>
          <a:xfrm>
            <a:off x="720000" y="542473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" type="title"/>
          </p:nvPr>
        </p:nvSpPr>
        <p:spPr>
          <a:xfrm>
            <a:off x="722883" y="1659181"/>
            <a:ext cx="2867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5" name="Google Shape;215;p22"/>
          <p:cNvSpPr txBox="1"/>
          <p:nvPr>
            <p:ph idx="1" type="subTitle"/>
          </p:nvPr>
        </p:nvSpPr>
        <p:spPr>
          <a:xfrm>
            <a:off x="722883" y="2245706"/>
            <a:ext cx="2867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2"/>
          <p:cNvSpPr txBox="1"/>
          <p:nvPr>
            <p:ph idx="3" type="title"/>
          </p:nvPr>
        </p:nvSpPr>
        <p:spPr>
          <a:xfrm>
            <a:off x="5561911" y="1659181"/>
            <a:ext cx="2867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7" name="Google Shape;217;p22"/>
          <p:cNvSpPr txBox="1"/>
          <p:nvPr>
            <p:ph idx="4" type="subTitle"/>
          </p:nvPr>
        </p:nvSpPr>
        <p:spPr>
          <a:xfrm>
            <a:off x="5561911" y="2245706"/>
            <a:ext cx="2867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22"/>
          <p:cNvSpPr txBox="1"/>
          <p:nvPr>
            <p:ph idx="5" type="title"/>
          </p:nvPr>
        </p:nvSpPr>
        <p:spPr>
          <a:xfrm>
            <a:off x="722883" y="3092581"/>
            <a:ext cx="2867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9" name="Google Shape;219;p22"/>
          <p:cNvSpPr txBox="1"/>
          <p:nvPr>
            <p:ph idx="6" type="subTitle"/>
          </p:nvPr>
        </p:nvSpPr>
        <p:spPr>
          <a:xfrm>
            <a:off x="722883" y="3679106"/>
            <a:ext cx="2867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7" type="title"/>
          </p:nvPr>
        </p:nvSpPr>
        <p:spPr>
          <a:xfrm>
            <a:off x="5561911" y="3092581"/>
            <a:ext cx="2867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1" name="Google Shape;221;p22"/>
          <p:cNvSpPr txBox="1"/>
          <p:nvPr>
            <p:ph idx="8" type="subTitle"/>
          </p:nvPr>
        </p:nvSpPr>
        <p:spPr>
          <a:xfrm>
            <a:off x="5561911" y="3679106"/>
            <a:ext cx="28671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4" name="Google Shape;224;p23"/>
          <p:cNvGrpSpPr/>
          <p:nvPr/>
        </p:nvGrpSpPr>
        <p:grpSpPr>
          <a:xfrm>
            <a:off x="164250" y="145200"/>
            <a:ext cx="8815500" cy="4853100"/>
            <a:chOff x="164250" y="145200"/>
            <a:chExt cx="8815500" cy="4853100"/>
          </a:xfrm>
        </p:grpSpPr>
        <p:sp>
          <p:nvSpPr>
            <p:cNvPr id="225" name="Google Shape;225;p23"/>
            <p:cNvSpPr/>
            <p:nvPr/>
          </p:nvSpPr>
          <p:spPr>
            <a:xfrm>
              <a:off x="164250" y="145200"/>
              <a:ext cx="8815500" cy="4853100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3"/>
            <p:cNvSpPr/>
            <p:nvPr/>
          </p:nvSpPr>
          <p:spPr>
            <a:xfrm>
              <a:off x="261000" y="245100"/>
              <a:ext cx="8622000" cy="46533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27" name="Google Shape;227;p23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>
            <p:ph type="title"/>
          </p:nvPr>
        </p:nvSpPr>
        <p:spPr>
          <a:xfrm>
            <a:off x="720000" y="542381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2" type="title"/>
          </p:nvPr>
        </p:nvSpPr>
        <p:spPr>
          <a:xfrm>
            <a:off x="720000" y="1659181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0" name="Google Shape;230;p23"/>
          <p:cNvSpPr txBox="1"/>
          <p:nvPr>
            <p:ph idx="1" type="subTitle"/>
          </p:nvPr>
        </p:nvSpPr>
        <p:spPr>
          <a:xfrm>
            <a:off x="720000" y="1946117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23"/>
          <p:cNvSpPr txBox="1"/>
          <p:nvPr>
            <p:ph idx="3" type="title"/>
          </p:nvPr>
        </p:nvSpPr>
        <p:spPr>
          <a:xfrm>
            <a:off x="3419269" y="1659181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2" name="Google Shape;232;p23"/>
          <p:cNvSpPr txBox="1"/>
          <p:nvPr>
            <p:ph idx="4" type="subTitle"/>
          </p:nvPr>
        </p:nvSpPr>
        <p:spPr>
          <a:xfrm>
            <a:off x="3419269" y="1946117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23"/>
          <p:cNvSpPr txBox="1"/>
          <p:nvPr>
            <p:ph idx="5" type="title"/>
          </p:nvPr>
        </p:nvSpPr>
        <p:spPr>
          <a:xfrm>
            <a:off x="720000" y="3477549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4" name="Google Shape;234;p23"/>
          <p:cNvSpPr txBox="1"/>
          <p:nvPr>
            <p:ph idx="6" type="subTitle"/>
          </p:nvPr>
        </p:nvSpPr>
        <p:spPr>
          <a:xfrm>
            <a:off x="720000" y="4064074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23"/>
          <p:cNvSpPr txBox="1"/>
          <p:nvPr>
            <p:ph idx="7" type="title"/>
          </p:nvPr>
        </p:nvSpPr>
        <p:spPr>
          <a:xfrm>
            <a:off x="3419269" y="3477549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6" name="Google Shape;236;p23"/>
          <p:cNvSpPr txBox="1"/>
          <p:nvPr>
            <p:ph idx="8" type="subTitle"/>
          </p:nvPr>
        </p:nvSpPr>
        <p:spPr>
          <a:xfrm>
            <a:off x="3419269" y="4064074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9" type="title"/>
          </p:nvPr>
        </p:nvSpPr>
        <p:spPr>
          <a:xfrm>
            <a:off x="6118545" y="1659181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8" name="Google Shape;238;p23"/>
          <p:cNvSpPr txBox="1"/>
          <p:nvPr>
            <p:ph idx="13" type="subTitle"/>
          </p:nvPr>
        </p:nvSpPr>
        <p:spPr>
          <a:xfrm>
            <a:off x="6118545" y="1946117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23"/>
          <p:cNvSpPr txBox="1"/>
          <p:nvPr>
            <p:ph idx="14" type="title"/>
          </p:nvPr>
        </p:nvSpPr>
        <p:spPr>
          <a:xfrm>
            <a:off x="6118545" y="3477549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0" name="Google Shape;240;p23"/>
          <p:cNvSpPr txBox="1"/>
          <p:nvPr>
            <p:ph idx="15" type="subTitle"/>
          </p:nvPr>
        </p:nvSpPr>
        <p:spPr>
          <a:xfrm>
            <a:off x="6118545" y="4064074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5_1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" name="Google Shape;243;p24"/>
          <p:cNvGrpSpPr/>
          <p:nvPr/>
        </p:nvGrpSpPr>
        <p:grpSpPr>
          <a:xfrm>
            <a:off x="164250" y="145200"/>
            <a:ext cx="8815500" cy="4853100"/>
            <a:chOff x="164250" y="145200"/>
            <a:chExt cx="8815500" cy="4853100"/>
          </a:xfrm>
        </p:grpSpPr>
        <p:sp>
          <p:nvSpPr>
            <p:cNvPr id="244" name="Google Shape;244;p24"/>
            <p:cNvSpPr/>
            <p:nvPr/>
          </p:nvSpPr>
          <p:spPr>
            <a:xfrm>
              <a:off x="164250" y="145200"/>
              <a:ext cx="8815500" cy="4853100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4"/>
            <p:cNvSpPr/>
            <p:nvPr/>
          </p:nvSpPr>
          <p:spPr>
            <a:xfrm>
              <a:off x="261000" y="245100"/>
              <a:ext cx="8622000" cy="46533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46" name="Google Shape;246;p24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>
            <p:ph idx="1" type="subTitle"/>
          </p:nvPr>
        </p:nvSpPr>
        <p:spPr>
          <a:xfrm>
            <a:off x="2894422" y="1917431"/>
            <a:ext cx="1634400" cy="4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2" type="subTitle"/>
          </p:nvPr>
        </p:nvSpPr>
        <p:spPr>
          <a:xfrm>
            <a:off x="2894425" y="2329331"/>
            <a:ext cx="1639200" cy="5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24"/>
          <p:cNvSpPr txBox="1"/>
          <p:nvPr>
            <p:ph idx="3" type="subTitle"/>
          </p:nvPr>
        </p:nvSpPr>
        <p:spPr>
          <a:xfrm>
            <a:off x="4835272" y="1917431"/>
            <a:ext cx="1639200" cy="4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/>
        </p:txBody>
      </p:sp>
      <p:sp>
        <p:nvSpPr>
          <p:cNvPr id="250" name="Google Shape;250;p24"/>
          <p:cNvSpPr txBox="1"/>
          <p:nvPr>
            <p:ph idx="4" type="subTitle"/>
          </p:nvPr>
        </p:nvSpPr>
        <p:spPr>
          <a:xfrm>
            <a:off x="4835275" y="2329331"/>
            <a:ext cx="1639200" cy="5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24"/>
          <p:cNvSpPr txBox="1"/>
          <p:nvPr>
            <p:ph idx="5" type="subTitle"/>
          </p:nvPr>
        </p:nvSpPr>
        <p:spPr>
          <a:xfrm>
            <a:off x="2894422" y="3478394"/>
            <a:ext cx="1634400" cy="4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/>
        </p:txBody>
      </p:sp>
      <p:sp>
        <p:nvSpPr>
          <p:cNvPr id="252" name="Google Shape;252;p24"/>
          <p:cNvSpPr txBox="1"/>
          <p:nvPr>
            <p:ph idx="6" type="subTitle"/>
          </p:nvPr>
        </p:nvSpPr>
        <p:spPr>
          <a:xfrm>
            <a:off x="2894425" y="3893705"/>
            <a:ext cx="1634400" cy="5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24"/>
          <p:cNvSpPr txBox="1"/>
          <p:nvPr>
            <p:ph idx="7" type="subTitle"/>
          </p:nvPr>
        </p:nvSpPr>
        <p:spPr>
          <a:xfrm>
            <a:off x="4835272" y="3478395"/>
            <a:ext cx="1639200" cy="4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/>
        </p:txBody>
      </p:sp>
      <p:sp>
        <p:nvSpPr>
          <p:cNvPr id="254" name="Google Shape;254;p24"/>
          <p:cNvSpPr txBox="1"/>
          <p:nvPr>
            <p:ph idx="8" type="subTitle"/>
          </p:nvPr>
        </p:nvSpPr>
        <p:spPr>
          <a:xfrm>
            <a:off x="4835274" y="3893706"/>
            <a:ext cx="1639200" cy="5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4"/>
          <p:cNvSpPr txBox="1"/>
          <p:nvPr>
            <p:ph idx="9" type="subTitle"/>
          </p:nvPr>
        </p:nvSpPr>
        <p:spPr>
          <a:xfrm>
            <a:off x="6780647" y="1917431"/>
            <a:ext cx="1639200" cy="4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/>
        </p:txBody>
      </p:sp>
      <p:sp>
        <p:nvSpPr>
          <p:cNvPr id="256" name="Google Shape;256;p24"/>
          <p:cNvSpPr txBox="1"/>
          <p:nvPr>
            <p:ph idx="13" type="subTitle"/>
          </p:nvPr>
        </p:nvSpPr>
        <p:spPr>
          <a:xfrm>
            <a:off x="6780650" y="2329331"/>
            <a:ext cx="1639200" cy="5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4"/>
          <p:cNvSpPr txBox="1"/>
          <p:nvPr>
            <p:ph idx="14" type="subTitle"/>
          </p:nvPr>
        </p:nvSpPr>
        <p:spPr>
          <a:xfrm>
            <a:off x="6780673" y="3478389"/>
            <a:ext cx="1639200" cy="4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None/>
              <a:defRPr b="1" sz="2000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/>
        </p:txBody>
      </p:sp>
      <p:sp>
        <p:nvSpPr>
          <p:cNvPr id="258" name="Google Shape;258;p24"/>
          <p:cNvSpPr txBox="1"/>
          <p:nvPr>
            <p:ph idx="15" type="subTitle"/>
          </p:nvPr>
        </p:nvSpPr>
        <p:spPr>
          <a:xfrm>
            <a:off x="6780675" y="3893705"/>
            <a:ext cx="1639200" cy="5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24"/>
          <p:cNvSpPr txBox="1"/>
          <p:nvPr>
            <p:ph type="title"/>
          </p:nvPr>
        </p:nvSpPr>
        <p:spPr>
          <a:xfrm>
            <a:off x="2894500" y="542381"/>
            <a:ext cx="5529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0" name="Google Shape;260;p24"/>
          <p:cNvGrpSpPr/>
          <p:nvPr/>
        </p:nvGrpSpPr>
        <p:grpSpPr>
          <a:xfrm>
            <a:off x="2894274" y="540020"/>
            <a:ext cx="5529558" cy="577207"/>
            <a:chOff x="3667800" y="1583575"/>
            <a:chExt cx="4756200" cy="577207"/>
          </a:xfrm>
        </p:grpSpPr>
        <p:cxnSp>
          <p:nvCxnSpPr>
            <p:cNvPr id="261" name="Google Shape;261;p24"/>
            <p:cNvCxnSpPr/>
            <p:nvPr/>
          </p:nvCxnSpPr>
          <p:spPr>
            <a:xfrm>
              <a:off x="3667800" y="1583575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2" name="Google Shape;262;p24"/>
            <p:cNvCxnSpPr/>
            <p:nvPr/>
          </p:nvCxnSpPr>
          <p:spPr>
            <a:xfrm>
              <a:off x="3667800" y="2160782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6_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5" name="Google Shape;265;p25"/>
          <p:cNvGrpSpPr/>
          <p:nvPr/>
        </p:nvGrpSpPr>
        <p:grpSpPr>
          <a:xfrm>
            <a:off x="164250" y="145200"/>
            <a:ext cx="8815500" cy="4853100"/>
            <a:chOff x="164250" y="145200"/>
            <a:chExt cx="8815500" cy="4853100"/>
          </a:xfrm>
        </p:grpSpPr>
        <p:sp>
          <p:nvSpPr>
            <p:cNvPr id="266" name="Google Shape;266;p25"/>
            <p:cNvSpPr/>
            <p:nvPr/>
          </p:nvSpPr>
          <p:spPr>
            <a:xfrm>
              <a:off x="164250" y="145200"/>
              <a:ext cx="8815500" cy="4853100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5"/>
            <p:cNvSpPr/>
            <p:nvPr/>
          </p:nvSpPr>
          <p:spPr>
            <a:xfrm>
              <a:off x="261000" y="245100"/>
              <a:ext cx="8622000" cy="46533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68" name="Google Shape;268;p25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>
            <p:ph hasCustomPrompt="1" type="title"/>
          </p:nvPr>
        </p:nvSpPr>
        <p:spPr>
          <a:xfrm>
            <a:off x="1626529" y="2950200"/>
            <a:ext cx="1894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70" name="Google Shape;270;p25"/>
          <p:cNvSpPr txBox="1"/>
          <p:nvPr>
            <p:ph idx="1" type="subTitle"/>
          </p:nvPr>
        </p:nvSpPr>
        <p:spPr>
          <a:xfrm>
            <a:off x="1628900" y="4084500"/>
            <a:ext cx="18948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25"/>
          <p:cNvSpPr txBox="1"/>
          <p:nvPr>
            <p:ph hasCustomPrompt="1" idx="2" type="title"/>
          </p:nvPr>
        </p:nvSpPr>
        <p:spPr>
          <a:xfrm>
            <a:off x="5616071" y="2950200"/>
            <a:ext cx="1892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72" name="Google Shape;272;p25"/>
          <p:cNvSpPr txBox="1"/>
          <p:nvPr>
            <p:ph idx="3" type="subTitle"/>
          </p:nvPr>
        </p:nvSpPr>
        <p:spPr>
          <a:xfrm>
            <a:off x="5618426" y="4084500"/>
            <a:ext cx="18924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25"/>
          <p:cNvSpPr txBox="1"/>
          <p:nvPr>
            <p:ph idx="4" type="subTitle"/>
          </p:nvPr>
        </p:nvSpPr>
        <p:spPr>
          <a:xfrm>
            <a:off x="1628893" y="3619200"/>
            <a:ext cx="1894800" cy="38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b="1" sz="2000">
                <a:latin typeface="Hind"/>
                <a:ea typeface="Hind"/>
                <a:cs typeface="Hind"/>
                <a:sym typeface="Hin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b="1" sz="2000">
                <a:latin typeface="Hind"/>
                <a:ea typeface="Hind"/>
                <a:cs typeface="Hind"/>
                <a:sym typeface="Hin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b="1" sz="2000">
                <a:latin typeface="Hind"/>
                <a:ea typeface="Hind"/>
                <a:cs typeface="Hind"/>
                <a:sym typeface="Hin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b="1" sz="2000">
                <a:latin typeface="Hind"/>
                <a:ea typeface="Hind"/>
                <a:cs typeface="Hind"/>
                <a:sym typeface="Hin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b="1" sz="2000">
                <a:latin typeface="Hind"/>
                <a:ea typeface="Hind"/>
                <a:cs typeface="Hind"/>
                <a:sym typeface="Hin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b="1" sz="2000">
                <a:latin typeface="Hind"/>
                <a:ea typeface="Hind"/>
                <a:cs typeface="Hind"/>
                <a:sym typeface="Hin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b="1" sz="2000">
                <a:latin typeface="Hind"/>
                <a:ea typeface="Hind"/>
                <a:cs typeface="Hind"/>
                <a:sym typeface="Hin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b="1" sz="2000">
                <a:latin typeface="Hind"/>
                <a:ea typeface="Hind"/>
                <a:cs typeface="Hind"/>
                <a:sym typeface="Hind"/>
              </a:defRPr>
            </a:lvl9pPr>
          </a:lstStyle>
          <a:p/>
        </p:txBody>
      </p:sp>
      <p:sp>
        <p:nvSpPr>
          <p:cNvPr id="274" name="Google Shape;274;p25"/>
          <p:cNvSpPr txBox="1"/>
          <p:nvPr>
            <p:ph idx="5" type="subTitle"/>
          </p:nvPr>
        </p:nvSpPr>
        <p:spPr>
          <a:xfrm>
            <a:off x="5618429" y="3619200"/>
            <a:ext cx="1892400" cy="38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b="1" sz="2000">
                <a:latin typeface="Arvo"/>
                <a:ea typeface="Arvo"/>
                <a:cs typeface="Arvo"/>
                <a:sym typeface="Arv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b="1" sz="2000">
                <a:latin typeface="Hind"/>
                <a:ea typeface="Hind"/>
                <a:cs typeface="Hind"/>
                <a:sym typeface="Hin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b="1" sz="2000">
                <a:latin typeface="Hind"/>
                <a:ea typeface="Hind"/>
                <a:cs typeface="Hind"/>
                <a:sym typeface="Hin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b="1" sz="2000">
                <a:latin typeface="Hind"/>
                <a:ea typeface="Hind"/>
                <a:cs typeface="Hind"/>
                <a:sym typeface="Hin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b="1" sz="2000">
                <a:latin typeface="Hind"/>
                <a:ea typeface="Hind"/>
                <a:cs typeface="Hind"/>
                <a:sym typeface="Hin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b="1" sz="2000">
                <a:latin typeface="Hind"/>
                <a:ea typeface="Hind"/>
                <a:cs typeface="Hind"/>
                <a:sym typeface="Hin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b="1" sz="2000">
                <a:latin typeface="Hind"/>
                <a:ea typeface="Hind"/>
                <a:cs typeface="Hind"/>
                <a:sym typeface="Hin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b="1" sz="2000">
                <a:latin typeface="Hind"/>
                <a:ea typeface="Hind"/>
                <a:cs typeface="Hind"/>
                <a:sym typeface="Hin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ind"/>
              <a:buNone/>
              <a:defRPr b="1" sz="2000">
                <a:latin typeface="Hind"/>
                <a:ea typeface="Hind"/>
                <a:cs typeface="Hind"/>
                <a:sym typeface="Hind"/>
              </a:defRPr>
            </a:lvl9pPr>
          </a:lstStyle>
          <a:p/>
        </p:txBody>
      </p:sp>
      <p:sp>
        <p:nvSpPr>
          <p:cNvPr id="275" name="Google Shape;275;p25"/>
          <p:cNvSpPr txBox="1"/>
          <p:nvPr>
            <p:ph idx="6" type="title"/>
          </p:nvPr>
        </p:nvSpPr>
        <p:spPr>
          <a:xfrm>
            <a:off x="720000" y="542381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6" name="Google Shape;276;p25"/>
          <p:cNvGrpSpPr/>
          <p:nvPr/>
        </p:nvGrpSpPr>
        <p:grpSpPr>
          <a:xfrm>
            <a:off x="720072" y="540000"/>
            <a:ext cx="7704093" cy="577207"/>
            <a:chOff x="3667800" y="1583575"/>
            <a:chExt cx="4756200" cy="577207"/>
          </a:xfrm>
        </p:grpSpPr>
        <p:cxnSp>
          <p:nvCxnSpPr>
            <p:cNvPr id="277" name="Google Shape;277;p25"/>
            <p:cNvCxnSpPr/>
            <p:nvPr/>
          </p:nvCxnSpPr>
          <p:spPr>
            <a:xfrm>
              <a:off x="3667800" y="1583575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25"/>
            <p:cNvCxnSpPr/>
            <p:nvPr/>
          </p:nvCxnSpPr>
          <p:spPr>
            <a:xfrm>
              <a:off x="3667800" y="2160782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7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1" name="Google Shape;281;p26"/>
          <p:cNvGrpSpPr/>
          <p:nvPr/>
        </p:nvGrpSpPr>
        <p:grpSpPr>
          <a:xfrm>
            <a:off x="164250" y="145200"/>
            <a:ext cx="8815500" cy="4853100"/>
            <a:chOff x="164250" y="145200"/>
            <a:chExt cx="8815500" cy="4853100"/>
          </a:xfrm>
        </p:grpSpPr>
        <p:sp>
          <p:nvSpPr>
            <p:cNvPr id="282" name="Google Shape;282;p26"/>
            <p:cNvSpPr/>
            <p:nvPr/>
          </p:nvSpPr>
          <p:spPr>
            <a:xfrm>
              <a:off x="164250" y="145200"/>
              <a:ext cx="8815500" cy="4853100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6"/>
            <p:cNvSpPr/>
            <p:nvPr/>
          </p:nvSpPr>
          <p:spPr>
            <a:xfrm>
              <a:off x="261000" y="245100"/>
              <a:ext cx="8622000" cy="46533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84" name="Google Shape;284;p26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6"/>
          <p:cNvSpPr txBox="1"/>
          <p:nvPr>
            <p:ph type="title"/>
          </p:nvPr>
        </p:nvSpPr>
        <p:spPr>
          <a:xfrm>
            <a:off x="720000" y="543024"/>
            <a:ext cx="3852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6" name="Google Shape;286;p26"/>
          <p:cNvGrpSpPr/>
          <p:nvPr/>
        </p:nvGrpSpPr>
        <p:grpSpPr>
          <a:xfrm>
            <a:off x="720109" y="540020"/>
            <a:ext cx="3852046" cy="577207"/>
            <a:chOff x="3667800" y="1583575"/>
            <a:chExt cx="4756200" cy="577207"/>
          </a:xfrm>
        </p:grpSpPr>
        <p:cxnSp>
          <p:nvCxnSpPr>
            <p:cNvPr id="287" name="Google Shape;287;p26"/>
            <p:cNvCxnSpPr/>
            <p:nvPr/>
          </p:nvCxnSpPr>
          <p:spPr>
            <a:xfrm>
              <a:off x="3667800" y="1583575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8" name="Google Shape;288;p26"/>
            <p:cNvCxnSpPr/>
            <p:nvPr/>
          </p:nvCxnSpPr>
          <p:spPr>
            <a:xfrm>
              <a:off x="3667800" y="2160782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7_1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" name="Google Shape;291;p27"/>
          <p:cNvGrpSpPr/>
          <p:nvPr/>
        </p:nvGrpSpPr>
        <p:grpSpPr>
          <a:xfrm>
            <a:off x="164250" y="145200"/>
            <a:ext cx="8815500" cy="4853100"/>
            <a:chOff x="164250" y="145200"/>
            <a:chExt cx="8815500" cy="4853100"/>
          </a:xfrm>
        </p:grpSpPr>
        <p:sp>
          <p:nvSpPr>
            <p:cNvPr id="292" name="Google Shape;292;p27"/>
            <p:cNvSpPr/>
            <p:nvPr/>
          </p:nvSpPr>
          <p:spPr>
            <a:xfrm>
              <a:off x="164250" y="145200"/>
              <a:ext cx="8815500" cy="4853100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7"/>
            <p:cNvSpPr/>
            <p:nvPr/>
          </p:nvSpPr>
          <p:spPr>
            <a:xfrm>
              <a:off x="261000" y="245100"/>
              <a:ext cx="8622000" cy="46533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94" name="Google Shape;294;p27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7"/>
          <p:cNvSpPr txBox="1"/>
          <p:nvPr>
            <p:ph type="title"/>
          </p:nvPr>
        </p:nvSpPr>
        <p:spPr>
          <a:xfrm>
            <a:off x="720000" y="541786"/>
            <a:ext cx="54822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28"/>
          <p:cNvGrpSpPr/>
          <p:nvPr/>
        </p:nvGrpSpPr>
        <p:grpSpPr>
          <a:xfrm>
            <a:off x="164250" y="145200"/>
            <a:ext cx="8815500" cy="4853100"/>
            <a:chOff x="164250" y="145200"/>
            <a:chExt cx="8815500" cy="4853100"/>
          </a:xfrm>
        </p:grpSpPr>
        <p:sp>
          <p:nvSpPr>
            <p:cNvPr id="299" name="Google Shape;299;p28"/>
            <p:cNvSpPr/>
            <p:nvPr/>
          </p:nvSpPr>
          <p:spPr>
            <a:xfrm>
              <a:off x="164250" y="145200"/>
              <a:ext cx="8815500" cy="4853100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8"/>
            <p:cNvSpPr/>
            <p:nvPr/>
          </p:nvSpPr>
          <p:spPr>
            <a:xfrm>
              <a:off x="261000" y="245100"/>
              <a:ext cx="8622000" cy="46533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01" name="Google Shape;301;p28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8"/>
          <p:cNvSpPr txBox="1"/>
          <p:nvPr>
            <p:ph type="ctrTitle"/>
          </p:nvPr>
        </p:nvSpPr>
        <p:spPr>
          <a:xfrm>
            <a:off x="1143250" y="777066"/>
            <a:ext cx="3155100" cy="99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03" name="Google Shape;303;p28"/>
          <p:cNvSpPr txBox="1"/>
          <p:nvPr>
            <p:ph idx="1" type="subTitle"/>
          </p:nvPr>
        </p:nvSpPr>
        <p:spPr>
          <a:xfrm>
            <a:off x="1511379" y="1951275"/>
            <a:ext cx="2400600" cy="13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4" name="Google Shape;304;p28"/>
          <p:cNvSpPr txBox="1"/>
          <p:nvPr>
            <p:ph idx="2" type="subTitle"/>
          </p:nvPr>
        </p:nvSpPr>
        <p:spPr>
          <a:xfrm>
            <a:off x="1119100" y="3936671"/>
            <a:ext cx="32034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28"/>
          <p:cNvSpPr txBox="1"/>
          <p:nvPr/>
        </p:nvSpPr>
        <p:spPr>
          <a:xfrm>
            <a:off x="720000" y="4302925"/>
            <a:ext cx="38520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, </a:t>
            </a:r>
            <a:br>
              <a:rPr lang="en" sz="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</a:br>
            <a:r>
              <a:rPr lang="en" sz="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including icons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8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and infographics &amp; images by </a:t>
            </a:r>
            <a:r>
              <a:rPr b="1" lang="en" sz="800">
                <a:solidFill>
                  <a:schemeClr val="dk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8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8_1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8" name="Google Shape;308;p29"/>
          <p:cNvGrpSpPr/>
          <p:nvPr/>
        </p:nvGrpSpPr>
        <p:grpSpPr>
          <a:xfrm>
            <a:off x="164250" y="145200"/>
            <a:ext cx="8815500" cy="4853100"/>
            <a:chOff x="164250" y="145200"/>
            <a:chExt cx="8815500" cy="4853100"/>
          </a:xfrm>
        </p:grpSpPr>
        <p:sp>
          <p:nvSpPr>
            <p:cNvPr id="309" name="Google Shape;309;p29"/>
            <p:cNvSpPr/>
            <p:nvPr/>
          </p:nvSpPr>
          <p:spPr>
            <a:xfrm>
              <a:off x="164250" y="145200"/>
              <a:ext cx="8815500" cy="4853100"/>
            </a:xfrm>
            <a:prstGeom prst="rect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9"/>
            <p:cNvSpPr/>
            <p:nvPr/>
          </p:nvSpPr>
          <p:spPr>
            <a:xfrm>
              <a:off x="261000" y="245100"/>
              <a:ext cx="8622000" cy="4653300"/>
            </a:xfrm>
            <a:prstGeom prst="rect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11" name="Google Shape;311;p29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vo"/>
              <a:buNone/>
              <a:defRPr b="1" sz="2800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■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■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■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23.jpg"/><Relationship Id="rId5" Type="http://schemas.openxmlformats.org/officeDocument/2006/relationships/image" Target="../media/image22.jpg"/><Relationship Id="rId6" Type="http://schemas.openxmlformats.org/officeDocument/2006/relationships/image" Target="../media/image2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30"/>
          <p:cNvGrpSpPr/>
          <p:nvPr/>
        </p:nvGrpSpPr>
        <p:grpSpPr>
          <a:xfrm>
            <a:off x="3628700" y="3708649"/>
            <a:ext cx="4795305" cy="429010"/>
            <a:chOff x="3628700" y="3051039"/>
            <a:chExt cx="4795305" cy="429010"/>
          </a:xfrm>
        </p:grpSpPr>
        <p:sp>
          <p:nvSpPr>
            <p:cNvPr id="317" name="Google Shape;317;p30"/>
            <p:cNvSpPr/>
            <p:nvPr/>
          </p:nvSpPr>
          <p:spPr>
            <a:xfrm>
              <a:off x="3628700" y="3051039"/>
              <a:ext cx="4795305" cy="429010"/>
            </a:xfrm>
            <a:custGeom>
              <a:rect b="b" l="l" r="r" t="t"/>
              <a:pathLst>
                <a:path extrusionOk="0" h="8873" w="99179">
                  <a:moveTo>
                    <a:pt x="0" y="0"/>
                  </a:moveTo>
                  <a:lnTo>
                    <a:pt x="2825" y="4436"/>
                  </a:lnTo>
                  <a:lnTo>
                    <a:pt x="0" y="8872"/>
                  </a:lnTo>
                  <a:lnTo>
                    <a:pt x="99178" y="8872"/>
                  </a:lnTo>
                  <a:lnTo>
                    <a:pt x="95537" y="4436"/>
                  </a:lnTo>
                  <a:lnTo>
                    <a:pt x="991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0"/>
            <p:cNvSpPr/>
            <p:nvPr/>
          </p:nvSpPr>
          <p:spPr>
            <a:xfrm>
              <a:off x="3914775" y="3188675"/>
              <a:ext cx="161517" cy="153748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0"/>
            <p:cNvSpPr/>
            <p:nvPr/>
          </p:nvSpPr>
          <p:spPr>
            <a:xfrm>
              <a:off x="7963565" y="3188675"/>
              <a:ext cx="160407" cy="153748"/>
            </a:xfrm>
            <a:custGeom>
              <a:rect b="b" l="l" r="r" t="t"/>
              <a:pathLst>
                <a:path extrusionOk="0" h="2909" w="3035">
                  <a:moveTo>
                    <a:pt x="1528" y="0"/>
                  </a:moveTo>
                  <a:lnTo>
                    <a:pt x="1047" y="963"/>
                  </a:lnTo>
                  <a:lnTo>
                    <a:pt x="0" y="1109"/>
                  </a:lnTo>
                  <a:lnTo>
                    <a:pt x="754" y="1841"/>
                  </a:lnTo>
                  <a:lnTo>
                    <a:pt x="565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34" y="1109"/>
                  </a:lnTo>
                  <a:lnTo>
                    <a:pt x="1988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0" name="Google Shape;320;p30"/>
          <p:cNvSpPr txBox="1"/>
          <p:nvPr>
            <p:ph type="ctrTitle"/>
          </p:nvPr>
        </p:nvSpPr>
        <p:spPr>
          <a:xfrm>
            <a:off x="3628700" y="1243169"/>
            <a:ext cx="4795200" cy="188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Yelp Restaurant Recommendation System</a:t>
            </a:r>
            <a:endParaRPr sz="3800"/>
          </a:p>
        </p:txBody>
      </p:sp>
      <p:sp>
        <p:nvSpPr>
          <p:cNvPr id="321" name="Google Shape;321;p30"/>
          <p:cNvSpPr txBox="1"/>
          <p:nvPr>
            <p:ph idx="1" type="subTitle"/>
          </p:nvPr>
        </p:nvSpPr>
        <p:spPr>
          <a:xfrm>
            <a:off x="4029800" y="3697409"/>
            <a:ext cx="3993000" cy="45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Charlotte Zhang, Dora Li, Emily Xue, Mia Mac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322" name="Google Shape;322;p30"/>
          <p:cNvGrpSpPr/>
          <p:nvPr/>
        </p:nvGrpSpPr>
        <p:grpSpPr>
          <a:xfrm>
            <a:off x="3667800" y="1176792"/>
            <a:ext cx="4756200" cy="2044430"/>
            <a:chOff x="3667800" y="1583575"/>
            <a:chExt cx="4756200" cy="1513159"/>
          </a:xfrm>
        </p:grpSpPr>
        <p:cxnSp>
          <p:nvCxnSpPr>
            <p:cNvPr id="323" name="Google Shape;323;p30"/>
            <p:cNvCxnSpPr/>
            <p:nvPr/>
          </p:nvCxnSpPr>
          <p:spPr>
            <a:xfrm>
              <a:off x="3667800" y="1583575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" name="Google Shape;324;p30"/>
            <p:cNvCxnSpPr/>
            <p:nvPr/>
          </p:nvCxnSpPr>
          <p:spPr>
            <a:xfrm>
              <a:off x="3667800" y="3096734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25" name="Google Shape;32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173" y="543300"/>
            <a:ext cx="2707981" cy="4056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6" name="Google Shape;326;p30"/>
          <p:cNvGrpSpPr/>
          <p:nvPr/>
        </p:nvGrpSpPr>
        <p:grpSpPr>
          <a:xfrm>
            <a:off x="3731598" y="893097"/>
            <a:ext cx="4558528" cy="199222"/>
            <a:chOff x="3679970" y="1299607"/>
            <a:chExt cx="4558528" cy="199222"/>
          </a:xfrm>
        </p:grpSpPr>
        <p:sp>
          <p:nvSpPr>
            <p:cNvPr id="327" name="Google Shape;327;p30"/>
            <p:cNvSpPr/>
            <p:nvPr/>
          </p:nvSpPr>
          <p:spPr>
            <a:xfrm>
              <a:off x="3679970" y="1299607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0"/>
            <p:cNvSpPr/>
            <p:nvPr/>
          </p:nvSpPr>
          <p:spPr>
            <a:xfrm>
              <a:off x="4014545" y="1299607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0"/>
            <p:cNvSpPr/>
            <p:nvPr/>
          </p:nvSpPr>
          <p:spPr>
            <a:xfrm>
              <a:off x="4349120" y="1299607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0"/>
            <p:cNvSpPr/>
            <p:nvPr/>
          </p:nvSpPr>
          <p:spPr>
            <a:xfrm>
              <a:off x="4683695" y="1299607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0"/>
            <p:cNvSpPr/>
            <p:nvPr/>
          </p:nvSpPr>
          <p:spPr>
            <a:xfrm>
              <a:off x="5018270" y="1299607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0"/>
            <p:cNvSpPr/>
            <p:nvPr/>
          </p:nvSpPr>
          <p:spPr>
            <a:xfrm>
              <a:off x="5352845" y="1299607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0"/>
            <p:cNvSpPr/>
            <p:nvPr/>
          </p:nvSpPr>
          <p:spPr>
            <a:xfrm>
              <a:off x="5687420" y="1299607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0"/>
            <p:cNvSpPr/>
            <p:nvPr/>
          </p:nvSpPr>
          <p:spPr>
            <a:xfrm>
              <a:off x="6021995" y="1299607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0"/>
            <p:cNvSpPr/>
            <p:nvPr/>
          </p:nvSpPr>
          <p:spPr>
            <a:xfrm>
              <a:off x="6356570" y="1299607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0"/>
            <p:cNvSpPr/>
            <p:nvPr/>
          </p:nvSpPr>
          <p:spPr>
            <a:xfrm>
              <a:off x="6691145" y="1299607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0"/>
            <p:cNvSpPr/>
            <p:nvPr/>
          </p:nvSpPr>
          <p:spPr>
            <a:xfrm>
              <a:off x="7025720" y="1299607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0"/>
            <p:cNvSpPr/>
            <p:nvPr/>
          </p:nvSpPr>
          <p:spPr>
            <a:xfrm>
              <a:off x="7360295" y="1299607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0"/>
            <p:cNvSpPr/>
            <p:nvPr/>
          </p:nvSpPr>
          <p:spPr>
            <a:xfrm>
              <a:off x="7694870" y="1299832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0"/>
            <p:cNvSpPr/>
            <p:nvPr/>
          </p:nvSpPr>
          <p:spPr>
            <a:xfrm>
              <a:off x="8029445" y="1299832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1" name="Google Shape;341;p30"/>
          <p:cNvGrpSpPr/>
          <p:nvPr/>
        </p:nvGrpSpPr>
        <p:grpSpPr>
          <a:xfrm>
            <a:off x="3834023" y="3305691"/>
            <a:ext cx="4558528" cy="199222"/>
            <a:chOff x="3679970" y="1299607"/>
            <a:chExt cx="4558528" cy="199222"/>
          </a:xfrm>
        </p:grpSpPr>
        <p:sp>
          <p:nvSpPr>
            <p:cNvPr id="342" name="Google Shape;342;p30"/>
            <p:cNvSpPr/>
            <p:nvPr/>
          </p:nvSpPr>
          <p:spPr>
            <a:xfrm>
              <a:off x="3679970" y="1299607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0"/>
            <p:cNvSpPr/>
            <p:nvPr/>
          </p:nvSpPr>
          <p:spPr>
            <a:xfrm>
              <a:off x="4014545" y="1299607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0"/>
            <p:cNvSpPr/>
            <p:nvPr/>
          </p:nvSpPr>
          <p:spPr>
            <a:xfrm>
              <a:off x="4349120" y="1299607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0"/>
            <p:cNvSpPr/>
            <p:nvPr/>
          </p:nvSpPr>
          <p:spPr>
            <a:xfrm>
              <a:off x="4683695" y="1299607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0"/>
            <p:cNvSpPr/>
            <p:nvPr/>
          </p:nvSpPr>
          <p:spPr>
            <a:xfrm>
              <a:off x="5018270" y="1299607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0"/>
            <p:cNvSpPr/>
            <p:nvPr/>
          </p:nvSpPr>
          <p:spPr>
            <a:xfrm>
              <a:off x="5352845" y="1299607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0"/>
            <p:cNvSpPr/>
            <p:nvPr/>
          </p:nvSpPr>
          <p:spPr>
            <a:xfrm>
              <a:off x="5687420" y="1299607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0"/>
            <p:cNvSpPr/>
            <p:nvPr/>
          </p:nvSpPr>
          <p:spPr>
            <a:xfrm>
              <a:off x="6021995" y="1299607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0"/>
            <p:cNvSpPr/>
            <p:nvPr/>
          </p:nvSpPr>
          <p:spPr>
            <a:xfrm>
              <a:off x="6356570" y="1299607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0"/>
            <p:cNvSpPr/>
            <p:nvPr/>
          </p:nvSpPr>
          <p:spPr>
            <a:xfrm>
              <a:off x="6691145" y="1299607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0"/>
            <p:cNvSpPr/>
            <p:nvPr/>
          </p:nvSpPr>
          <p:spPr>
            <a:xfrm>
              <a:off x="7025720" y="1299607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0"/>
            <p:cNvSpPr/>
            <p:nvPr/>
          </p:nvSpPr>
          <p:spPr>
            <a:xfrm>
              <a:off x="7360295" y="1299607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0"/>
            <p:cNvSpPr/>
            <p:nvPr/>
          </p:nvSpPr>
          <p:spPr>
            <a:xfrm>
              <a:off x="7694870" y="1299832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0"/>
            <p:cNvSpPr/>
            <p:nvPr/>
          </p:nvSpPr>
          <p:spPr>
            <a:xfrm>
              <a:off x="8029445" y="1299832"/>
              <a:ext cx="209053" cy="198997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" name="Google Shape;360;p31"/>
          <p:cNvGrpSpPr/>
          <p:nvPr/>
        </p:nvGrpSpPr>
        <p:grpSpPr>
          <a:xfrm>
            <a:off x="558803" y="3120925"/>
            <a:ext cx="1895311" cy="512992"/>
            <a:chOff x="6248987" y="3151716"/>
            <a:chExt cx="1895311" cy="512992"/>
          </a:xfrm>
        </p:grpSpPr>
        <p:sp>
          <p:nvSpPr>
            <p:cNvPr id="361" name="Google Shape;361;p31"/>
            <p:cNvSpPr/>
            <p:nvPr/>
          </p:nvSpPr>
          <p:spPr>
            <a:xfrm>
              <a:off x="6248987" y="3151716"/>
              <a:ext cx="1895311" cy="512992"/>
            </a:xfrm>
            <a:custGeom>
              <a:rect b="b" l="l" r="r" t="t"/>
              <a:pathLst>
                <a:path extrusionOk="0" h="8873" w="99179">
                  <a:moveTo>
                    <a:pt x="0" y="0"/>
                  </a:moveTo>
                  <a:lnTo>
                    <a:pt x="2825" y="4436"/>
                  </a:lnTo>
                  <a:lnTo>
                    <a:pt x="0" y="8872"/>
                  </a:lnTo>
                  <a:lnTo>
                    <a:pt x="99178" y="8872"/>
                  </a:lnTo>
                  <a:lnTo>
                    <a:pt x="95537" y="4436"/>
                  </a:lnTo>
                  <a:lnTo>
                    <a:pt x="99178" y="0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2" name="Google Shape;362;p31"/>
            <p:cNvGrpSpPr/>
            <p:nvPr/>
          </p:nvGrpSpPr>
          <p:grpSpPr>
            <a:xfrm>
              <a:off x="6396512" y="3330578"/>
              <a:ext cx="1600514" cy="153748"/>
              <a:chOff x="6324017" y="3330578"/>
              <a:chExt cx="1600514" cy="153748"/>
            </a:xfrm>
          </p:grpSpPr>
          <p:sp>
            <p:nvSpPr>
              <p:cNvPr id="363" name="Google Shape;363;p31"/>
              <p:cNvSpPr/>
              <p:nvPr/>
            </p:nvSpPr>
            <p:spPr>
              <a:xfrm>
                <a:off x="6324017" y="3330578"/>
                <a:ext cx="161517" cy="153748"/>
              </a:xfrm>
              <a:custGeom>
                <a:rect b="b" l="l" r="r" t="t"/>
                <a:pathLst>
                  <a:path extrusionOk="0" h="2909" w="3056">
                    <a:moveTo>
                      <a:pt x="1528" y="0"/>
                    </a:moveTo>
                    <a:lnTo>
                      <a:pt x="1067" y="963"/>
                    </a:lnTo>
                    <a:lnTo>
                      <a:pt x="0" y="1109"/>
                    </a:lnTo>
                    <a:lnTo>
                      <a:pt x="774" y="1841"/>
                    </a:lnTo>
                    <a:lnTo>
                      <a:pt x="586" y="2908"/>
                    </a:lnTo>
                    <a:lnTo>
                      <a:pt x="1528" y="2406"/>
                    </a:lnTo>
                    <a:lnTo>
                      <a:pt x="2469" y="2908"/>
                    </a:lnTo>
                    <a:lnTo>
                      <a:pt x="2281" y="1841"/>
                    </a:lnTo>
                    <a:lnTo>
                      <a:pt x="3055" y="1109"/>
                    </a:lnTo>
                    <a:lnTo>
                      <a:pt x="2009" y="963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31"/>
              <p:cNvSpPr/>
              <p:nvPr/>
            </p:nvSpPr>
            <p:spPr>
              <a:xfrm>
                <a:off x="7764123" y="3330578"/>
                <a:ext cx="160407" cy="153748"/>
              </a:xfrm>
              <a:custGeom>
                <a:rect b="b" l="l" r="r" t="t"/>
                <a:pathLst>
                  <a:path extrusionOk="0" h="2909" w="3035">
                    <a:moveTo>
                      <a:pt x="1528" y="0"/>
                    </a:moveTo>
                    <a:lnTo>
                      <a:pt x="1047" y="963"/>
                    </a:lnTo>
                    <a:lnTo>
                      <a:pt x="0" y="1109"/>
                    </a:lnTo>
                    <a:lnTo>
                      <a:pt x="754" y="1841"/>
                    </a:lnTo>
                    <a:lnTo>
                      <a:pt x="565" y="2908"/>
                    </a:lnTo>
                    <a:lnTo>
                      <a:pt x="1528" y="2406"/>
                    </a:lnTo>
                    <a:lnTo>
                      <a:pt x="2469" y="2908"/>
                    </a:lnTo>
                    <a:lnTo>
                      <a:pt x="2281" y="1841"/>
                    </a:lnTo>
                    <a:lnTo>
                      <a:pt x="3034" y="1109"/>
                    </a:lnTo>
                    <a:lnTo>
                      <a:pt x="1988" y="963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65" name="Google Shape;365;p31"/>
          <p:cNvSpPr txBox="1"/>
          <p:nvPr>
            <p:ph type="title"/>
          </p:nvPr>
        </p:nvSpPr>
        <p:spPr>
          <a:xfrm>
            <a:off x="720000" y="542977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TEAM</a:t>
            </a:r>
            <a:endParaRPr/>
          </a:p>
        </p:txBody>
      </p:sp>
      <p:sp>
        <p:nvSpPr>
          <p:cNvPr id="366" name="Google Shape;366;p31"/>
          <p:cNvSpPr txBox="1"/>
          <p:nvPr>
            <p:ph idx="2" type="title"/>
          </p:nvPr>
        </p:nvSpPr>
        <p:spPr>
          <a:xfrm>
            <a:off x="823228" y="3113575"/>
            <a:ext cx="1367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Charlotte</a:t>
            </a:r>
            <a:endParaRPr sz="1800">
              <a:solidFill>
                <a:schemeClr val="lt1"/>
              </a:solidFill>
            </a:endParaRPr>
          </a:p>
        </p:txBody>
      </p:sp>
      <p:grpSp>
        <p:nvGrpSpPr>
          <p:cNvPr id="367" name="Google Shape;367;p31"/>
          <p:cNvGrpSpPr/>
          <p:nvPr/>
        </p:nvGrpSpPr>
        <p:grpSpPr>
          <a:xfrm>
            <a:off x="720072" y="540000"/>
            <a:ext cx="7704093" cy="577207"/>
            <a:chOff x="3667800" y="1583575"/>
            <a:chExt cx="4756200" cy="577207"/>
          </a:xfrm>
        </p:grpSpPr>
        <p:cxnSp>
          <p:nvCxnSpPr>
            <p:cNvPr id="368" name="Google Shape;368;p31"/>
            <p:cNvCxnSpPr/>
            <p:nvPr/>
          </p:nvCxnSpPr>
          <p:spPr>
            <a:xfrm>
              <a:off x="3667800" y="1583575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9" name="Google Shape;369;p31"/>
            <p:cNvCxnSpPr/>
            <p:nvPr/>
          </p:nvCxnSpPr>
          <p:spPr>
            <a:xfrm>
              <a:off x="3667800" y="2160782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70" name="Google Shape;370;p31"/>
          <p:cNvGrpSpPr/>
          <p:nvPr/>
        </p:nvGrpSpPr>
        <p:grpSpPr>
          <a:xfrm>
            <a:off x="2603472" y="3834425"/>
            <a:ext cx="1895311" cy="512970"/>
            <a:chOff x="6249088" y="3151729"/>
            <a:chExt cx="1895311" cy="512970"/>
          </a:xfrm>
        </p:grpSpPr>
        <p:sp>
          <p:nvSpPr>
            <p:cNvPr id="371" name="Google Shape;371;p31"/>
            <p:cNvSpPr/>
            <p:nvPr/>
          </p:nvSpPr>
          <p:spPr>
            <a:xfrm>
              <a:off x="6249088" y="3151729"/>
              <a:ext cx="1895311" cy="512970"/>
            </a:xfrm>
            <a:custGeom>
              <a:rect b="b" l="l" r="r" t="t"/>
              <a:pathLst>
                <a:path extrusionOk="0" h="8873" w="99179">
                  <a:moveTo>
                    <a:pt x="0" y="0"/>
                  </a:moveTo>
                  <a:lnTo>
                    <a:pt x="2825" y="4436"/>
                  </a:lnTo>
                  <a:lnTo>
                    <a:pt x="0" y="8872"/>
                  </a:lnTo>
                  <a:lnTo>
                    <a:pt x="99178" y="8872"/>
                  </a:lnTo>
                  <a:lnTo>
                    <a:pt x="95537" y="4436"/>
                  </a:lnTo>
                  <a:lnTo>
                    <a:pt x="99178" y="0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2" name="Google Shape;372;p31"/>
            <p:cNvGrpSpPr/>
            <p:nvPr/>
          </p:nvGrpSpPr>
          <p:grpSpPr>
            <a:xfrm>
              <a:off x="6396512" y="3330578"/>
              <a:ext cx="1600514" cy="153748"/>
              <a:chOff x="6324017" y="3330578"/>
              <a:chExt cx="1600514" cy="153748"/>
            </a:xfrm>
          </p:grpSpPr>
          <p:sp>
            <p:nvSpPr>
              <p:cNvPr id="373" name="Google Shape;373;p31"/>
              <p:cNvSpPr/>
              <p:nvPr/>
            </p:nvSpPr>
            <p:spPr>
              <a:xfrm>
                <a:off x="6324017" y="3330578"/>
                <a:ext cx="161517" cy="153748"/>
              </a:xfrm>
              <a:custGeom>
                <a:rect b="b" l="l" r="r" t="t"/>
                <a:pathLst>
                  <a:path extrusionOk="0" h="2909" w="3056">
                    <a:moveTo>
                      <a:pt x="1528" y="0"/>
                    </a:moveTo>
                    <a:lnTo>
                      <a:pt x="1067" y="963"/>
                    </a:lnTo>
                    <a:lnTo>
                      <a:pt x="0" y="1109"/>
                    </a:lnTo>
                    <a:lnTo>
                      <a:pt x="774" y="1841"/>
                    </a:lnTo>
                    <a:lnTo>
                      <a:pt x="586" y="2908"/>
                    </a:lnTo>
                    <a:lnTo>
                      <a:pt x="1528" y="2406"/>
                    </a:lnTo>
                    <a:lnTo>
                      <a:pt x="2469" y="2908"/>
                    </a:lnTo>
                    <a:lnTo>
                      <a:pt x="2281" y="1841"/>
                    </a:lnTo>
                    <a:lnTo>
                      <a:pt x="3055" y="1109"/>
                    </a:lnTo>
                    <a:lnTo>
                      <a:pt x="2009" y="963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31"/>
              <p:cNvSpPr/>
              <p:nvPr/>
            </p:nvSpPr>
            <p:spPr>
              <a:xfrm>
                <a:off x="7764123" y="3330578"/>
                <a:ext cx="160407" cy="153748"/>
              </a:xfrm>
              <a:custGeom>
                <a:rect b="b" l="l" r="r" t="t"/>
                <a:pathLst>
                  <a:path extrusionOk="0" h="2909" w="3035">
                    <a:moveTo>
                      <a:pt x="1528" y="0"/>
                    </a:moveTo>
                    <a:lnTo>
                      <a:pt x="1047" y="963"/>
                    </a:lnTo>
                    <a:lnTo>
                      <a:pt x="0" y="1109"/>
                    </a:lnTo>
                    <a:lnTo>
                      <a:pt x="754" y="1841"/>
                    </a:lnTo>
                    <a:lnTo>
                      <a:pt x="565" y="2908"/>
                    </a:lnTo>
                    <a:lnTo>
                      <a:pt x="1528" y="2406"/>
                    </a:lnTo>
                    <a:lnTo>
                      <a:pt x="2469" y="2908"/>
                    </a:lnTo>
                    <a:lnTo>
                      <a:pt x="2281" y="1841"/>
                    </a:lnTo>
                    <a:lnTo>
                      <a:pt x="3034" y="1109"/>
                    </a:lnTo>
                    <a:lnTo>
                      <a:pt x="1988" y="963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75" name="Google Shape;375;p31"/>
          <p:cNvSpPr txBox="1"/>
          <p:nvPr>
            <p:ph idx="2" type="title"/>
          </p:nvPr>
        </p:nvSpPr>
        <p:spPr>
          <a:xfrm>
            <a:off x="2998559" y="3827075"/>
            <a:ext cx="11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Dora</a:t>
            </a:r>
            <a:endParaRPr sz="1800">
              <a:solidFill>
                <a:schemeClr val="lt1"/>
              </a:solidFill>
            </a:endParaRPr>
          </a:p>
        </p:txBody>
      </p:sp>
      <p:grpSp>
        <p:nvGrpSpPr>
          <p:cNvPr id="376" name="Google Shape;376;p31"/>
          <p:cNvGrpSpPr/>
          <p:nvPr/>
        </p:nvGrpSpPr>
        <p:grpSpPr>
          <a:xfrm>
            <a:off x="4646716" y="3120925"/>
            <a:ext cx="1895311" cy="512992"/>
            <a:chOff x="6249088" y="3151716"/>
            <a:chExt cx="1895311" cy="512992"/>
          </a:xfrm>
        </p:grpSpPr>
        <p:sp>
          <p:nvSpPr>
            <p:cNvPr id="377" name="Google Shape;377;p31"/>
            <p:cNvSpPr/>
            <p:nvPr/>
          </p:nvSpPr>
          <p:spPr>
            <a:xfrm>
              <a:off x="6249088" y="3151716"/>
              <a:ext cx="1895311" cy="512992"/>
            </a:xfrm>
            <a:custGeom>
              <a:rect b="b" l="l" r="r" t="t"/>
              <a:pathLst>
                <a:path extrusionOk="0" h="8873" w="99179">
                  <a:moveTo>
                    <a:pt x="0" y="0"/>
                  </a:moveTo>
                  <a:lnTo>
                    <a:pt x="2825" y="4436"/>
                  </a:lnTo>
                  <a:lnTo>
                    <a:pt x="0" y="8872"/>
                  </a:lnTo>
                  <a:lnTo>
                    <a:pt x="99178" y="8872"/>
                  </a:lnTo>
                  <a:lnTo>
                    <a:pt x="95537" y="4436"/>
                  </a:lnTo>
                  <a:lnTo>
                    <a:pt x="99178" y="0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8" name="Google Shape;378;p31"/>
            <p:cNvGrpSpPr/>
            <p:nvPr/>
          </p:nvGrpSpPr>
          <p:grpSpPr>
            <a:xfrm>
              <a:off x="6396512" y="3330578"/>
              <a:ext cx="1600514" cy="153748"/>
              <a:chOff x="6324017" y="3330578"/>
              <a:chExt cx="1600514" cy="153748"/>
            </a:xfrm>
          </p:grpSpPr>
          <p:sp>
            <p:nvSpPr>
              <p:cNvPr id="379" name="Google Shape;379;p31"/>
              <p:cNvSpPr/>
              <p:nvPr/>
            </p:nvSpPr>
            <p:spPr>
              <a:xfrm>
                <a:off x="6324017" y="3330578"/>
                <a:ext cx="161517" cy="153748"/>
              </a:xfrm>
              <a:custGeom>
                <a:rect b="b" l="l" r="r" t="t"/>
                <a:pathLst>
                  <a:path extrusionOk="0" h="2909" w="3056">
                    <a:moveTo>
                      <a:pt x="1528" y="0"/>
                    </a:moveTo>
                    <a:lnTo>
                      <a:pt x="1067" y="963"/>
                    </a:lnTo>
                    <a:lnTo>
                      <a:pt x="0" y="1109"/>
                    </a:lnTo>
                    <a:lnTo>
                      <a:pt x="774" y="1841"/>
                    </a:lnTo>
                    <a:lnTo>
                      <a:pt x="586" y="2908"/>
                    </a:lnTo>
                    <a:lnTo>
                      <a:pt x="1528" y="2406"/>
                    </a:lnTo>
                    <a:lnTo>
                      <a:pt x="2469" y="2908"/>
                    </a:lnTo>
                    <a:lnTo>
                      <a:pt x="2281" y="1841"/>
                    </a:lnTo>
                    <a:lnTo>
                      <a:pt x="3055" y="1109"/>
                    </a:lnTo>
                    <a:lnTo>
                      <a:pt x="2009" y="963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31"/>
              <p:cNvSpPr/>
              <p:nvPr/>
            </p:nvSpPr>
            <p:spPr>
              <a:xfrm>
                <a:off x="7764123" y="3330578"/>
                <a:ext cx="160407" cy="153748"/>
              </a:xfrm>
              <a:custGeom>
                <a:rect b="b" l="l" r="r" t="t"/>
                <a:pathLst>
                  <a:path extrusionOk="0" h="2909" w="3035">
                    <a:moveTo>
                      <a:pt x="1528" y="0"/>
                    </a:moveTo>
                    <a:lnTo>
                      <a:pt x="1047" y="963"/>
                    </a:lnTo>
                    <a:lnTo>
                      <a:pt x="0" y="1109"/>
                    </a:lnTo>
                    <a:lnTo>
                      <a:pt x="754" y="1841"/>
                    </a:lnTo>
                    <a:lnTo>
                      <a:pt x="565" y="2908"/>
                    </a:lnTo>
                    <a:lnTo>
                      <a:pt x="1528" y="2406"/>
                    </a:lnTo>
                    <a:lnTo>
                      <a:pt x="2469" y="2908"/>
                    </a:lnTo>
                    <a:lnTo>
                      <a:pt x="2281" y="1841"/>
                    </a:lnTo>
                    <a:lnTo>
                      <a:pt x="3034" y="1109"/>
                    </a:lnTo>
                    <a:lnTo>
                      <a:pt x="1988" y="963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81" name="Google Shape;381;p31"/>
          <p:cNvSpPr txBox="1"/>
          <p:nvPr>
            <p:ph idx="2" type="title"/>
          </p:nvPr>
        </p:nvSpPr>
        <p:spPr>
          <a:xfrm>
            <a:off x="5095103" y="3113575"/>
            <a:ext cx="9987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Emily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382" name="Google Shape;382;p31" title="Mia_Mac_Headshot.jpg"/>
          <p:cNvPicPr preferRelativeResize="0"/>
          <p:nvPr/>
        </p:nvPicPr>
        <p:blipFill rotWithShape="1">
          <a:blip r:embed="rId3">
            <a:alphaModFix/>
          </a:blip>
          <a:srcRect b="3445" l="0" r="0" t="3436"/>
          <a:stretch/>
        </p:blipFill>
        <p:spPr>
          <a:xfrm>
            <a:off x="6882723" y="2209245"/>
            <a:ext cx="1509777" cy="15087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3" name="Google Shape;383;p31"/>
          <p:cNvGrpSpPr/>
          <p:nvPr/>
        </p:nvGrpSpPr>
        <p:grpSpPr>
          <a:xfrm>
            <a:off x="6689959" y="3834425"/>
            <a:ext cx="1895311" cy="512970"/>
            <a:chOff x="6249088" y="3151729"/>
            <a:chExt cx="1895311" cy="512970"/>
          </a:xfrm>
        </p:grpSpPr>
        <p:sp>
          <p:nvSpPr>
            <p:cNvPr id="384" name="Google Shape;384;p31"/>
            <p:cNvSpPr/>
            <p:nvPr/>
          </p:nvSpPr>
          <p:spPr>
            <a:xfrm>
              <a:off x="6249088" y="3151729"/>
              <a:ext cx="1895311" cy="512970"/>
            </a:xfrm>
            <a:custGeom>
              <a:rect b="b" l="l" r="r" t="t"/>
              <a:pathLst>
                <a:path extrusionOk="0" h="8873" w="99179">
                  <a:moveTo>
                    <a:pt x="0" y="0"/>
                  </a:moveTo>
                  <a:lnTo>
                    <a:pt x="2825" y="4436"/>
                  </a:lnTo>
                  <a:lnTo>
                    <a:pt x="0" y="8872"/>
                  </a:lnTo>
                  <a:lnTo>
                    <a:pt x="99178" y="8872"/>
                  </a:lnTo>
                  <a:lnTo>
                    <a:pt x="95537" y="4436"/>
                  </a:lnTo>
                  <a:lnTo>
                    <a:pt x="99178" y="0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5" name="Google Shape;385;p31"/>
            <p:cNvGrpSpPr/>
            <p:nvPr/>
          </p:nvGrpSpPr>
          <p:grpSpPr>
            <a:xfrm>
              <a:off x="6396512" y="3330578"/>
              <a:ext cx="1600514" cy="153748"/>
              <a:chOff x="6324017" y="3330578"/>
              <a:chExt cx="1600514" cy="153748"/>
            </a:xfrm>
          </p:grpSpPr>
          <p:sp>
            <p:nvSpPr>
              <p:cNvPr id="386" name="Google Shape;386;p31"/>
              <p:cNvSpPr/>
              <p:nvPr/>
            </p:nvSpPr>
            <p:spPr>
              <a:xfrm>
                <a:off x="6324017" y="3330578"/>
                <a:ext cx="161517" cy="153748"/>
              </a:xfrm>
              <a:custGeom>
                <a:rect b="b" l="l" r="r" t="t"/>
                <a:pathLst>
                  <a:path extrusionOk="0" h="2909" w="3056">
                    <a:moveTo>
                      <a:pt x="1528" y="0"/>
                    </a:moveTo>
                    <a:lnTo>
                      <a:pt x="1067" y="963"/>
                    </a:lnTo>
                    <a:lnTo>
                      <a:pt x="0" y="1109"/>
                    </a:lnTo>
                    <a:lnTo>
                      <a:pt x="774" y="1841"/>
                    </a:lnTo>
                    <a:lnTo>
                      <a:pt x="586" y="2908"/>
                    </a:lnTo>
                    <a:lnTo>
                      <a:pt x="1528" y="2406"/>
                    </a:lnTo>
                    <a:lnTo>
                      <a:pt x="2469" y="2908"/>
                    </a:lnTo>
                    <a:lnTo>
                      <a:pt x="2281" y="1841"/>
                    </a:lnTo>
                    <a:lnTo>
                      <a:pt x="3055" y="1109"/>
                    </a:lnTo>
                    <a:lnTo>
                      <a:pt x="2009" y="963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31"/>
              <p:cNvSpPr/>
              <p:nvPr/>
            </p:nvSpPr>
            <p:spPr>
              <a:xfrm>
                <a:off x="7764123" y="3330578"/>
                <a:ext cx="160407" cy="153748"/>
              </a:xfrm>
              <a:custGeom>
                <a:rect b="b" l="l" r="r" t="t"/>
                <a:pathLst>
                  <a:path extrusionOk="0" h="2909" w="3035">
                    <a:moveTo>
                      <a:pt x="1528" y="0"/>
                    </a:moveTo>
                    <a:lnTo>
                      <a:pt x="1047" y="963"/>
                    </a:lnTo>
                    <a:lnTo>
                      <a:pt x="0" y="1109"/>
                    </a:lnTo>
                    <a:lnTo>
                      <a:pt x="754" y="1841"/>
                    </a:lnTo>
                    <a:lnTo>
                      <a:pt x="565" y="2908"/>
                    </a:lnTo>
                    <a:lnTo>
                      <a:pt x="1528" y="2406"/>
                    </a:lnTo>
                    <a:lnTo>
                      <a:pt x="2469" y="2908"/>
                    </a:lnTo>
                    <a:lnTo>
                      <a:pt x="2281" y="1841"/>
                    </a:lnTo>
                    <a:lnTo>
                      <a:pt x="3034" y="1109"/>
                    </a:lnTo>
                    <a:lnTo>
                      <a:pt x="1988" y="963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88" name="Google Shape;388;p31"/>
          <p:cNvSpPr txBox="1"/>
          <p:nvPr>
            <p:ph idx="2" type="title"/>
          </p:nvPr>
        </p:nvSpPr>
        <p:spPr>
          <a:xfrm>
            <a:off x="7085047" y="3827075"/>
            <a:ext cx="11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Mia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389" name="Google Shape;389;p31" title="IMG_0374.jpeg"/>
          <p:cNvPicPr preferRelativeResize="0"/>
          <p:nvPr/>
        </p:nvPicPr>
        <p:blipFill rotWithShape="1">
          <a:blip r:embed="rId4">
            <a:alphaModFix/>
          </a:blip>
          <a:srcRect b="0" l="12474" r="12474" t="0"/>
          <a:stretch/>
        </p:blipFill>
        <p:spPr>
          <a:xfrm>
            <a:off x="2760005" y="2209250"/>
            <a:ext cx="1509775" cy="1508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1"/>
          <p:cNvPicPr preferRelativeResize="0"/>
          <p:nvPr/>
        </p:nvPicPr>
        <p:blipFill rotWithShape="1">
          <a:blip r:embed="rId5">
            <a:alphaModFix/>
          </a:blip>
          <a:srcRect b="38322" l="35235" r="37285" t="41080"/>
          <a:stretch/>
        </p:blipFill>
        <p:spPr>
          <a:xfrm>
            <a:off x="4839550" y="1509900"/>
            <a:ext cx="1509777" cy="150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1"/>
          <p:cNvPicPr preferRelativeResize="0"/>
          <p:nvPr/>
        </p:nvPicPr>
        <p:blipFill rotWithShape="1">
          <a:blip r:embed="rId6">
            <a:alphaModFix/>
          </a:blip>
          <a:srcRect b="0" l="21636" r="0" t="0"/>
          <a:stretch/>
        </p:blipFill>
        <p:spPr>
          <a:xfrm>
            <a:off x="751550" y="1541800"/>
            <a:ext cx="1509776" cy="1444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2"/>
          <p:cNvSpPr/>
          <p:nvPr/>
        </p:nvSpPr>
        <p:spPr>
          <a:xfrm>
            <a:off x="3035975" y="1417234"/>
            <a:ext cx="835938" cy="795728"/>
          </a:xfrm>
          <a:custGeom>
            <a:rect b="b" l="l" r="r" t="t"/>
            <a:pathLst>
              <a:path extrusionOk="0" h="2909" w="3056">
                <a:moveTo>
                  <a:pt x="1528" y="0"/>
                </a:moveTo>
                <a:lnTo>
                  <a:pt x="1067" y="963"/>
                </a:lnTo>
                <a:lnTo>
                  <a:pt x="0" y="1109"/>
                </a:lnTo>
                <a:lnTo>
                  <a:pt x="774" y="1841"/>
                </a:lnTo>
                <a:lnTo>
                  <a:pt x="586" y="2908"/>
                </a:lnTo>
                <a:lnTo>
                  <a:pt x="1528" y="2406"/>
                </a:lnTo>
                <a:lnTo>
                  <a:pt x="2469" y="2908"/>
                </a:lnTo>
                <a:lnTo>
                  <a:pt x="2281" y="1841"/>
                </a:lnTo>
                <a:lnTo>
                  <a:pt x="3055" y="1109"/>
                </a:lnTo>
                <a:lnTo>
                  <a:pt x="2009" y="963"/>
                </a:lnTo>
                <a:lnTo>
                  <a:pt x="152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2"/>
          <p:cNvSpPr/>
          <p:nvPr/>
        </p:nvSpPr>
        <p:spPr>
          <a:xfrm>
            <a:off x="1126513" y="3098710"/>
            <a:ext cx="835938" cy="795728"/>
          </a:xfrm>
          <a:custGeom>
            <a:rect b="b" l="l" r="r" t="t"/>
            <a:pathLst>
              <a:path extrusionOk="0" h="2909" w="3056">
                <a:moveTo>
                  <a:pt x="1528" y="0"/>
                </a:moveTo>
                <a:lnTo>
                  <a:pt x="1067" y="963"/>
                </a:lnTo>
                <a:lnTo>
                  <a:pt x="0" y="1109"/>
                </a:lnTo>
                <a:lnTo>
                  <a:pt x="774" y="1841"/>
                </a:lnTo>
                <a:lnTo>
                  <a:pt x="586" y="2908"/>
                </a:lnTo>
                <a:lnTo>
                  <a:pt x="1528" y="2406"/>
                </a:lnTo>
                <a:lnTo>
                  <a:pt x="2469" y="2908"/>
                </a:lnTo>
                <a:lnTo>
                  <a:pt x="2281" y="1841"/>
                </a:lnTo>
                <a:lnTo>
                  <a:pt x="3055" y="1109"/>
                </a:lnTo>
                <a:lnTo>
                  <a:pt x="2009" y="963"/>
                </a:lnTo>
                <a:lnTo>
                  <a:pt x="152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2"/>
          <p:cNvSpPr/>
          <p:nvPr/>
        </p:nvSpPr>
        <p:spPr>
          <a:xfrm>
            <a:off x="3030768" y="3098710"/>
            <a:ext cx="835938" cy="795728"/>
          </a:xfrm>
          <a:custGeom>
            <a:rect b="b" l="l" r="r" t="t"/>
            <a:pathLst>
              <a:path extrusionOk="0" h="2909" w="3056">
                <a:moveTo>
                  <a:pt x="1528" y="0"/>
                </a:moveTo>
                <a:lnTo>
                  <a:pt x="1067" y="963"/>
                </a:lnTo>
                <a:lnTo>
                  <a:pt x="0" y="1109"/>
                </a:lnTo>
                <a:lnTo>
                  <a:pt x="774" y="1841"/>
                </a:lnTo>
                <a:lnTo>
                  <a:pt x="586" y="2908"/>
                </a:lnTo>
                <a:lnTo>
                  <a:pt x="1528" y="2406"/>
                </a:lnTo>
                <a:lnTo>
                  <a:pt x="2469" y="2908"/>
                </a:lnTo>
                <a:lnTo>
                  <a:pt x="2281" y="1841"/>
                </a:lnTo>
                <a:lnTo>
                  <a:pt x="3055" y="1109"/>
                </a:lnTo>
                <a:lnTo>
                  <a:pt x="2009" y="963"/>
                </a:lnTo>
                <a:lnTo>
                  <a:pt x="152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2"/>
          <p:cNvSpPr/>
          <p:nvPr/>
        </p:nvSpPr>
        <p:spPr>
          <a:xfrm>
            <a:off x="1131721" y="1417234"/>
            <a:ext cx="835938" cy="795728"/>
          </a:xfrm>
          <a:custGeom>
            <a:rect b="b" l="l" r="r" t="t"/>
            <a:pathLst>
              <a:path extrusionOk="0" h="2909" w="3056">
                <a:moveTo>
                  <a:pt x="1528" y="0"/>
                </a:moveTo>
                <a:lnTo>
                  <a:pt x="1067" y="963"/>
                </a:lnTo>
                <a:lnTo>
                  <a:pt x="0" y="1109"/>
                </a:lnTo>
                <a:lnTo>
                  <a:pt x="774" y="1841"/>
                </a:lnTo>
                <a:lnTo>
                  <a:pt x="586" y="2908"/>
                </a:lnTo>
                <a:lnTo>
                  <a:pt x="1528" y="2406"/>
                </a:lnTo>
                <a:lnTo>
                  <a:pt x="2469" y="2908"/>
                </a:lnTo>
                <a:lnTo>
                  <a:pt x="2281" y="1841"/>
                </a:lnTo>
                <a:lnTo>
                  <a:pt x="3055" y="1109"/>
                </a:lnTo>
                <a:lnTo>
                  <a:pt x="2009" y="963"/>
                </a:lnTo>
                <a:lnTo>
                  <a:pt x="152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2"/>
          <p:cNvSpPr txBox="1"/>
          <p:nvPr>
            <p:ph type="title"/>
          </p:nvPr>
        </p:nvSpPr>
        <p:spPr>
          <a:xfrm>
            <a:off x="720000" y="2271425"/>
            <a:ext cx="1659600" cy="61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Problem Statement</a:t>
            </a:r>
            <a:endParaRPr sz="1800"/>
          </a:p>
        </p:txBody>
      </p:sp>
      <p:sp>
        <p:nvSpPr>
          <p:cNvPr id="401" name="Google Shape;401;p32"/>
          <p:cNvSpPr txBox="1"/>
          <p:nvPr>
            <p:ph idx="2" type="title"/>
          </p:nvPr>
        </p:nvSpPr>
        <p:spPr>
          <a:xfrm>
            <a:off x="1207753" y="1639084"/>
            <a:ext cx="66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01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402" name="Google Shape;402;p32"/>
          <p:cNvSpPr txBox="1"/>
          <p:nvPr>
            <p:ph idx="4" type="title"/>
          </p:nvPr>
        </p:nvSpPr>
        <p:spPr>
          <a:xfrm>
            <a:off x="3121098" y="1639084"/>
            <a:ext cx="66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02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403" name="Google Shape;403;p32"/>
          <p:cNvSpPr txBox="1"/>
          <p:nvPr>
            <p:ph idx="7" type="title"/>
          </p:nvPr>
        </p:nvSpPr>
        <p:spPr>
          <a:xfrm>
            <a:off x="1207753" y="3321661"/>
            <a:ext cx="66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05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404" name="Google Shape;404;p32"/>
          <p:cNvSpPr txBox="1"/>
          <p:nvPr>
            <p:ph idx="13" type="title"/>
          </p:nvPr>
        </p:nvSpPr>
        <p:spPr>
          <a:xfrm>
            <a:off x="3121098" y="3317586"/>
            <a:ext cx="66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06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405" name="Google Shape;405;p32"/>
          <p:cNvSpPr txBox="1"/>
          <p:nvPr>
            <p:ph idx="3" type="title"/>
          </p:nvPr>
        </p:nvSpPr>
        <p:spPr>
          <a:xfrm>
            <a:off x="2519356" y="2271400"/>
            <a:ext cx="1869300" cy="61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Assumptions/Hypotheses</a:t>
            </a:r>
            <a:endParaRPr sz="1800"/>
          </a:p>
        </p:txBody>
      </p:sp>
      <p:sp>
        <p:nvSpPr>
          <p:cNvPr id="406" name="Google Shape;406;p32"/>
          <p:cNvSpPr txBox="1"/>
          <p:nvPr>
            <p:ph idx="6" type="title"/>
          </p:nvPr>
        </p:nvSpPr>
        <p:spPr>
          <a:xfrm>
            <a:off x="720000" y="3947975"/>
            <a:ext cx="1659600" cy="6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Proposed Approaches</a:t>
            </a:r>
            <a:endParaRPr sz="1800"/>
          </a:p>
        </p:txBody>
      </p:sp>
      <p:sp>
        <p:nvSpPr>
          <p:cNvPr id="407" name="Google Shape;407;p32"/>
          <p:cNvSpPr txBox="1"/>
          <p:nvPr>
            <p:ph idx="9" type="title"/>
          </p:nvPr>
        </p:nvSpPr>
        <p:spPr>
          <a:xfrm>
            <a:off x="2519356" y="3941675"/>
            <a:ext cx="1869300" cy="6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Proposed Solution</a:t>
            </a:r>
            <a:endParaRPr sz="1800"/>
          </a:p>
        </p:txBody>
      </p:sp>
      <p:sp>
        <p:nvSpPr>
          <p:cNvPr id="408" name="Google Shape;408;p32"/>
          <p:cNvSpPr txBox="1"/>
          <p:nvPr/>
        </p:nvSpPr>
        <p:spPr>
          <a:xfrm>
            <a:off x="720000" y="542977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372814"/>
                </a:solidFill>
                <a:latin typeface="Arvo"/>
                <a:ea typeface="Arvo"/>
                <a:cs typeface="Arvo"/>
                <a:sym typeface="Arvo"/>
              </a:rPr>
              <a:t>TABLE OF CONTENTS</a:t>
            </a:r>
            <a:endParaRPr b="1" sz="2800">
              <a:solidFill>
                <a:srgbClr val="372814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409" name="Google Shape;409;p32"/>
          <p:cNvGrpSpPr/>
          <p:nvPr/>
        </p:nvGrpSpPr>
        <p:grpSpPr>
          <a:xfrm>
            <a:off x="720072" y="540000"/>
            <a:ext cx="7704093" cy="577207"/>
            <a:chOff x="3667800" y="1583575"/>
            <a:chExt cx="4756200" cy="577207"/>
          </a:xfrm>
        </p:grpSpPr>
        <p:cxnSp>
          <p:nvCxnSpPr>
            <p:cNvPr id="410" name="Google Shape;410;p32"/>
            <p:cNvCxnSpPr/>
            <p:nvPr/>
          </p:nvCxnSpPr>
          <p:spPr>
            <a:xfrm>
              <a:off x="3667800" y="1583575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1" name="Google Shape;411;p32"/>
            <p:cNvCxnSpPr/>
            <p:nvPr/>
          </p:nvCxnSpPr>
          <p:spPr>
            <a:xfrm>
              <a:off x="3667800" y="2160782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12" name="Google Shape;412;p32"/>
          <p:cNvSpPr/>
          <p:nvPr/>
        </p:nvSpPr>
        <p:spPr>
          <a:xfrm>
            <a:off x="5133801" y="1417235"/>
            <a:ext cx="835938" cy="795728"/>
          </a:xfrm>
          <a:custGeom>
            <a:rect b="b" l="l" r="r" t="t"/>
            <a:pathLst>
              <a:path extrusionOk="0" h="2909" w="3056">
                <a:moveTo>
                  <a:pt x="1528" y="0"/>
                </a:moveTo>
                <a:lnTo>
                  <a:pt x="1067" y="963"/>
                </a:lnTo>
                <a:lnTo>
                  <a:pt x="0" y="1109"/>
                </a:lnTo>
                <a:lnTo>
                  <a:pt x="774" y="1841"/>
                </a:lnTo>
                <a:lnTo>
                  <a:pt x="586" y="2908"/>
                </a:lnTo>
                <a:lnTo>
                  <a:pt x="1528" y="2406"/>
                </a:lnTo>
                <a:lnTo>
                  <a:pt x="2469" y="2908"/>
                </a:lnTo>
                <a:lnTo>
                  <a:pt x="2281" y="1841"/>
                </a:lnTo>
                <a:lnTo>
                  <a:pt x="3055" y="1109"/>
                </a:lnTo>
                <a:lnTo>
                  <a:pt x="2009" y="963"/>
                </a:lnTo>
                <a:lnTo>
                  <a:pt x="152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2"/>
          <p:cNvSpPr/>
          <p:nvPr/>
        </p:nvSpPr>
        <p:spPr>
          <a:xfrm>
            <a:off x="7151597" y="1417235"/>
            <a:ext cx="835938" cy="795728"/>
          </a:xfrm>
          <a:custGeom>
            <a:rect b="b" l="l" r="r" t="t"/>
            <a:pathLst>
              <a:path extrusionOk="0" h="2909" w="3056">
                <a:moveTo>
                  <a:pt x="1528" y="0"/>
                </a:moveTo>
                <a:lnTo>
                  <a:pt x="1067" y="963"/>
                </a:lnTo>
                <a:lnTo>
                  <a:pt x="0" y="1109"/>
                </a:lnTo>
                <a:lnTo>
                  <a:pt x="774" y="1841"/>
                </a:lnTo>
                <a:lnTo>
                  <a:pt x="586" y="2908"/>
                </a:lnTo>
                <a:lnTo>
                  <a:pt x="1528" y="2406"/>
                </a:lnTo>
                <a:lnTo>
                  <a:pt x="2469" y="2908"/>
                </a:lnTo>
                <a:lnTo>
                  <a:pt x="2281" y="1841"/>
                </a:lnTo>
                <a:lnTo>
                  <a:pt x="3055" y="1109"/>
                </a:lnTo>
                <a:lnTo>
                  <a:pt x="2009" y="963"/>
                </a:lnTo>
                <a:lnTo>
                  <a:pt x="152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2"/>
          <p:cNvSpPr txBox="1"/>
          <p:nvPr>
            <p:ph idx="7" type="title"/>
          </p:nvPr>
        </p:nvSpPr>
        <p:spPr>
          <a:xfrm>
            <a:off x="5215041" y="1640186"/>
            <a:ext cx="66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03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415" name="Google Shape;415;p32"/>
          <p:cNvSpPr txBox="1"/>
          <p:nvPr>
            <p:ph idx="13" type="title"/>
          </p:nvPr>
        </p:nvSpPr>
        <p:spPr>
          <a:xfrm>
            <a:off x="7241926" y="1636111"/>
            <a:ext cx="66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04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416" name="Google Shape;416;p32"/>
          <p:cNvSpPr txBox="1"/>
          <p:nvPr>
            <p:ph idx="6" type="title"/>
          </p:nvPr>
        </p:nvSpPr>
        <p:spPr>
          <a:xfrm>
            <a:off x="4646028" y="2269650"/>
            <a:ext cx="1821900" cy="6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Exploratory Data Analysis</a:t>
            </a:r>
            <a:endParaRPr sz="1800"/>
          </a:p>
        </p:txBody>
      </p:sp>
      <p:sp>
        <p:nvSpPr>
          <p:cNvPr id="417" name="Google Shape;417;p32"/>
          <p:cNvSpPr txBox="1"/>
          <p:nvPr>
            <p:ph idx="9" type="title"/>
          </p:nvPr>
        </p:nvSpPr>
        <p:spPr>
          <a:xfrm>
            <a:off x="6725275" y="2263350"/>
            <a:ext cx="1698900" cy="6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Feature Engineering</a:t>
            </a:r>
            <a:endParaRPr sz="1800"/>
          </a:p>
        </p:txBody>
      </p:sp>
      <p:sp>
        <p:nvSpPr>
          <p:cNvPr id="418" name="Google Shape;418;p32"/>
          <p:cNvSpPr/>
          <p:nvPr/>
        </p:nvSpPr>
        <p:spPr>
          <a:xfrm>
            <a:off x="5133801" y="3098710"/>
            <a:ext cx="835938" cy="795728"/>
          </a:xfrm>
          <a:custGeom>
            <a:rect b="b" l="l" r="r" t="t"/>
            <a:pathLst>
              <a:path extrusionOk="0" h="2909" w="3056">
                <a:moveTo>
                  <a:pt x="1528" y="0"/>
                </a:moveTo>
                <a:lnTo>
                  <a:pt x="1067" y="963"/>
                </a:lnTo>
                <a:lnTo>
                  <a:pt x="0" y="1109"/>
                </a:lnTo>
                <a:lnTo>
                  <a:pt x="774" y="1841"/>
                </a:lnTo>
                <a:lnTo>
                  <a:pt x="586" y="2908"/>
                </a:lnTo>
                <a:lnTo>
                  <a:pt x="1528" y="2406"/>
                </a:lnTo>
                <a:lnTo>
                  <a:pt x="2469" y="2908"/>
                </a:lnTo>
                <a:lnTo>
                  <a:pt x="2281" y="1841"/>
                </a:lnTo>
                <a:lnTo>
                  <a:pt x="3055" y="1109"/>
                </a:lnTo>
                <a:lnTo>
                  <a:pt x="2009" y="963"/>
                </a:lnTo>
                <a:lnTo>
                  <a:pt x="152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2"/>
          <p:cNvSpPr/>
          <p:nvPr/>
        </p:nvSpPr>
        <p:spPr>
          <a:xfrm>
            <a:off x="7151597" y="3098710"/>
            <a:ext cx="835938" cy="795728"/>
          </a:xfrm>
          <a:custGeom>
            <a:rect b="b" l="l" r="r" t="t"/>
            <a:pathLst>
              <a:path extrusionOk="0" h="2909" w="3056">
                <a:moveTo>
                  <a:pt x="1528" y="0"/>
                </a:moveTo>
                <a:lnTo>
                  <a:pt x="1067" y="963"/>
                </a:lnTo>
                <a:lnTo>
                  <a:pt x="0" y="1109"/>
                </a:lnTo>
                <a:lnTo>
                  <a:pt x="774" y="1841"/>
                </a:lnTo>
                <a:lnTo>
                  <a:pt x="586" y="2908"/>
                </a:lnTo>
                <a:lnTo>
                  <a:pt x="1528" y="2406"/>
                </a:lnTo>
                <a:lnTo>
                  <a:pt x="2469" y="2908"/>
                </a:lnTo>
                <a:lnTo>
                  <a:pt x="2281" y="1841"/>
                </a:lnTo>
                <a:lnTo>
                  <a:pt x="3055" y="1109"/>
                </a:lnTo>
                <a:lnTo>
                  <a:pt x="2009" y="963"/>
                </a:lnTo>
                <a:lnTo>
                  <a:pt x="152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2"/>
          <p:cNvSpPr txBox="1"/>
          <p:nvPr>
            <p:ph idx="7" type="title"/>
          </p:nvPr>
        </p:nvSpPr>
        <p:spPr>
          <a:xfrm>
            <a:off x="5215041" y="3321661"/>
            <a:ext cx="66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07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421" name="Google Shape;421;p32"/>
          <p:cNvSpPr txBox="1"/>
          <p:nvPr>
            <p:ph idx="13" type="title"/>
          </p:nvPr>
        </p:nvSpPr>
        <p:spPr>
          <a:xfrm>
            <a:off x="7241926" y="3317586"/>
            <a:ext cx="66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</a:rPr>
              <a:t>08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422" name="Google Shape;422;p32"/>
          <p:cNvSpPr txBox="1"/>
          <p:nvPr>
            <p:ph idx="6" type="title"/>
          </p:nvPr>
        </p:nvSpPr>
        <p:spPr>
          <a:xfrm>
            <a:off x="4646028" y="3951125"/>
            <a:ext cx="1821900" cy="6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Results and Learnings</a:t>
            </a:r>
            <a:endParaRPr sz="1800"/>
          </a:p>
        </p:txBody>
      </p:sp>
      <p:sp>
        <p:nvSpPr>
          <p:cNvPr id="423" name="Google Shape;423;p32"/>
          <p:cNvSpPr txBox="1"/>
          <p:nvPr>
            <p:ph idx="9" type="title"/>
          </p:nvPr>
        </p:nvSpPr>
        <p:spPr>
          <a:xfrm>
            <a:off x="6725275" y="3944825"/>
            <a:ext cx="1698900" cy="6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Future Work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3"/>
          <p:cNvSpPr txBox="1"/>
          <p:nvPr>
            <p:ph type="title"/>
          </p:nvPr>
        </p:nvSpPr>
        <p:spPr>
          <a:xfrm>
            <a:off x="4153325" y="2393700"/>
            <a:ext cx="3856500" cy="13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</a:t>
            </a:r>
            <a:r>
              <a:rPr lang="en"/>
              <a:t>STATEMENT</a:t>
            </a:r>
            <a:endParaRPr/>
          </a:p>
        </p:txBody>
      </p:sp>
      <p:sp>
        <p:nvSpPr>
          <p:cNvPr id="429" name="Google Shape;429;p33"/>
          <p:cNvSpPr txBox="1"/>
          <p:nvPr>
            <p:ph idx="2" type="title"/>
          </p:nvPr>
        </p:nvSpPr>
        <p:spPr>
          <a:xfrm>
            <a:off x="4153325" y="1551889"/>
            <a:ext cx="3251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grpSp>
        <p:nvGrpSpPr>
          <p:cNvPr id="430" name="Google Shape;430;p33"/>
          <p:cNvGrpSpPr/>
          <p:nvPr/>
        </p:nvGrpSpPr>
        <p:grpSpPr>
          <a:xfrm>
            <a:off x="4153325" y="1103551"/>
            <a:ext cx="3889378" cy="2666548"/>
            <a:chOff x="4153325" y="1039015"/>
            <a:chExt cx="3889378" cy="2666548"/>
          </a:xfrm>
        </p:grpSpPr>
        <p:cxnSp>
          <p:nvCxnSpPr>
            <p:cNvPr id="431" name="Google Shape;431;p33"/>
            <p:cNvCxnSpPr/>
            <p:nvPr/>
          </p:nvCxnSpPr>
          <p:spPr>
            <a:xfrm>
              <a:off x="4154099" y="3705563"/>
              <a:ext cx="38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32" name="Google Shape;432;p33"/>
            <p:cNvGrpSpPr/>
            <p:nvPr/>
          </p:nvGrpSpPr>
          <p:grpSpPr>
            <a:xfrm>
              <a:off x="4153325" y="1039015"/>
              <a:ext cx="3889378" cy="283322"/>
              <a:chOff x="4153325" y="1168827"/>
              <a:chExt cx="3889378" cy="283322"/>
            </a:xfrm>
          </p:grpSpPr>
          <p:cxnSp>
            <p:nvCxnSpPr>
              <p:cNvPr id="433" name="Google Shape;433;p33"/>
              <p:cNvCxnSpPr/>
              <p:nvPr/>
            </p:nvCxnSpPr>
            <p:spPr>
              <a:xfrm>
                <a:off x="4154099" y="1452149"/>
                <a:ext cx="38562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434" name="Google Shape;434;p33"/>
              <p:cNvGrpSpPr/>
              <p:nvPr/>
            </p:nvGrpSpPr>
            <p:grpSpPr>
              <a:xfrm>
                <a:off x="4153325" y="1168827"/>
                <a:ext cx="3889378" cy="198997"/>
                <a:chOff x="4534325" y="1013201"/>
                <a:chExt cx="3889378" cy="198997"/>
              </a:xfrm>
            </p:grpSpPr>
            <p:sp>
              <p:nvSpPr>
                <p:cNvPr id="435" name="Google Shape;435;p33"/>
                <p:cNvSpPr/>
                <p:nvPr/>
              </p:nvSpPr>
              <p:spPr>
                <a:xfrm>
                  <a:off x="453432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" name="Google Shape;436;p33"/>
                <p:cNvSpPr/>
                <p:nvPr/>
              </p:nvSpPr>
              <p:spPr>
                <a:xfrm>
                  <a:off x="486890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7" name="Google Shape;437;p33"/>
                <p:cNvSpPr/>
                <p:nvPr/>
              </p:nvSpPr>
              <p:spPr>
                <a:xfrm>
                  <a:off x="520347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8" name="Google Shape;438;p33"/>
                <p:cNvSpPr/>
                <p:nvPr/>
              </p:nvSpPr>
              <p:spPr>
                <a:xfrm>
                  <a:off x="553805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9" name="Google Shape;439;p33"/>
                <p:cNvSpPr/>
                <p:nvPr/>
              </p:nvSpPr>
              <p:spPr>
                <a:xfrm>
                  <a:off x="587262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0" name="Google Shape;440;p33"/>
                <p:cNvSpPr/>
                <p:nvPr/>
              </p:nvSpPr>
              <p:spPr>
                <a:xfrm>
                  <a:off x="620720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1" name="Google Shape;441;p33"/>
                <p:cNvSpPr/>
                <p:nvPr/>
              </p:nvSpPr>
              <p:spPr>
                <a:xfrm>
                  <a:off x="654177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2" name="Google Shape;442;p33"/>
                <p:cNvSpPr/>
                <p:nvPr/>
              </p:nvSpPr>
              <p:spPr>
                <a:xfrm>
                  <a:off x="687635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3" name="Google Shape;443;p33"/>
                <p:cNvSpPr/>
                <p:nvPr/>
              </p:nvSpPr>
              <p:spPr>
                <a:xfrm>
                  <a:off x="721092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4" name="Google Shape;444;p33"/>
                <p:cNvSpPr/>
                <p:nvPr/>
              </p:nvSpPr>
              <p:spPr>
                <a:xfrm>
                  <a:off x="754550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5" name="Google Shape;445;p33"/>
                <p:cNvSpPr/>
                <p:nvPr/>
              </p:nvSpPr>
              <p:spPr>
                <a:xfrm>
                  <a:off x="788007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6" name="Google Shape;446;p33"/>
                <p:cNvSpPr/>
                <p:nvPr/>
              </p:nvSpPr>
              <p:spPr>
                <a:xfrm>
                  <a:off x="821465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pic>
        <p:nvPicPr>
          <p:cNvPr id="447" name="Google Shape;447;p33" title="Problem solving-pan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825" y="861925"/>
            <a:ext cx="3251700" cy="325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4"/>
          <p:cNvSpPr txBox="1"/>
          <p:nvPr>
            <p:ph type="title"/>
          </p:nvPr>
        </p:nvSpPr>
        <p:spPr>
          <a:xfrm>
            <a:off x="516850" y="1340525"/>
            <a:ext cx="5150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0" lang="en" sz="1400">
                <a:latin typeface="Anaheim"/>
                <a:ea typeface="Anaheim"/>
                <a:cs typeface="Anaheim"/>
                <a:sym typeface="Anaheim"/>
              </a:rPr>
              <a:t>Restaurant discovery is a high-frequency decision problem: people choose where to eat multiple times per week, yet most platforms surface options primarily by location proximity or average rating, leaving individual taste patterns largely unexploited</a:t>
            </a:r>
            <a:r>
              <a:rPr b="0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3700"/>
          </a:p>
        </p:txBody>
      </p:sp>
      <p:sp>
        <p:nvSpPr>
          <p:cNvPr id="453" name="Google Shape;453;p34"/>
          <p:cNvSpPr txBox="1"/>
          <p:nvPr>
            <p:ph idx="2" type="title"/>
          </p:nvPr>
        </p:nvSpPr>
        <p:spPr>
          <a:xfrm>
            <a:off x="423325" y="423950"/>
            <a:ext cx="8405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Restaurants Recommendations</a:t>
            </a:r>
            <a:endParaRPr sz="3800"/>
          </a:p>
        </p:txBody>
      </p:sp>
      <p:sp>
        <p:nvSpPr>
          <p:cNvPr id="454" name="Google Shape;454;p34"/>
          <p:cNvSpPr txBox="1"/>
          <p:nvPr>
            <p:ph idx="1" type="subTitle"/>
          </p:nvPr>
        </p:nvSpPr>
        <p:spPr>
          <a:xfrm>
            <a:off x="516850" y="2316900"/>
            <a:ext cx="5082300" cy="234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This creates a </a:t>
            </a:r>
            <a:r>
              <a:rPr b="1" lang="en" sz="1400"/>
              <a:t>persistent gap between what platforms recommend and what a given user would actually enjoy</a:t>
            </a:r>
            <a:r>
              <a:rPr lang="en" sz="1400"/>
              <a:t>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The goal of this project is to close that gap. Given a user's historical interactions on the </a:t>
            </a:r>
            <a:r>
              <a:rPr b="1" i="1" lang="en" sz="1300"/>
              <a:t>Yelp Open Dataset</a:t>
            </a:r>
            <a:r>
              <a:rPr lang="en" sz="1400"/>
              <a:t> (reviews, ratings, and profile features) alongside restaurant attributes including cuisine type, price range, ambience, and amenities, </a:t>
            </a:r>
            <a:r>
              <a:rPr b="1" lang="en" sz="1400"/>
              <a:t>our objective is to produce a personalized ranked list of restaurants the user is most likely to rate positively.</a:t>
            </a:r>
            <a:r>
              <a:rPr lang="en" sz="1400"/>
              <a:t> </a:t>
            </a:r>
            <a:endParaRPr sz="1400"/>
          </a:p>
        </p:txBody>
      </p:sp>
      <p:grpSp>
        <p:nvGrpSpPr>
          <p:cNvPr id="455" name="Google Shape;455;p34"/>
          <p:cNvGrpSpPr/>
          <p:nvPr/>
        </p:nvGrpSpPr>
        <p:grpSpPr>
          <a:xfrm>
            <a:off x="5599278" y="1726711"/>
            <a:ext cx="3083284" cy="2348315"/>
            <a:chOff x="720010" y="1419647"/>
            <a:chExt cx="4021500" cy="3062887"/>
          </a:xfrm>
        </p:grpSpPr>
        <p:sp>
          <p:nvSpPr>
            <p:cNvPr id="456" name="Google Shape;456;p34"/>
            <p:cNvSpPr/>
            <p:nvPr/>
          </p:nvSpPr>
          <p:spPr>
            <a:xfrm>
              <a:off x="720010" y="1419647"/>
              <a:ext cx="4021500" cy="2544300"/>
            </a:xfrm>
            <a:prstGeom prst="roundRect">
              <a:avLst>
                <a:gd fmla="val 3857" name="adj"/>
              </a:avLst>
            </a:prstGeom>
            <a:solidFill>
              <a:schemeClr val="lt2"/>
            </a:solidFill>
            <a:ln cap="flat" cmpd="sng" w="179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175" lIns="86175" spcFirstLastPara="1" rIns="86175" wrap="square" tIns="86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4"/>
            <p:cNvSpPr/>
            <p:nvPr/>
          </p:nvSpPr>
          <p:spPr>
            <a:xfrm>
              <a:off x="747353" y="1447364"/>
              <a:ext cx="3966900" cy="2488800"/>
            </a:xfrm>
            <a:prstGeom prst="roundRect">
              <a:avLst>
                <a:gd fmla="val 3282" name="adj"/>
              </a:avLst>
            </a:prstGeom>
            <a:solidFill>
              <a:schemeClr val="lt2"/>
            </a:solidFill>
            <a:ln cap="flat" cmpd="sng" w="179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175" lIns="86175" spcFirstLastPara="1" rIns="86175" wrap="square" tIns="86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4"/>
            <p:cNvSpPr/>
            <p:nvPr/>
          </p:nvSpPr>
          <p:spPr>
            <a:xfrm>
              <a:off x="858158" y="1548119"/>
              <a:ext cx="3748500" cy="2285700"/>
            </a:xfrm>
            <a:prstGeom prst="rect">
              <a:avLst/>
            </a:prstGeom>
            <a:solidFill>
              <a:srgbClr val="031D34"/>
            </a:solidFill>
            <a:ln cap="flat" cmpd="sng" w="179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175" lIns="86175" spcFirstLastPara="1" rIns="86175" wrap="square" tIns="86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4"/>
            <p:cNvSpPr/>
            <p:nvPr/>
          </p:nvSpPr>
          <p:spPr>
            <a:xfrm>
              <a:off x="2042408" y="3963886"/>
              <a:ext cx="1373274" cy="518648"/>
            </a:xfrm>
            <a:custGeom>
              <a:rect b="b" l="l" r="r" t="t"/>
              <a:pathLst>
                <a:path extrusionOk="0" h="24926" w="65999">
                  <a:moveTo>
                    <a:pt x="13372" y="0"/>
                  </a:moveTo>
                  <a:cubicBezTo>
                    <a:pt x="13051" y="1881"/>
                    <a:pt x="12653" y="8225"/>
                    <a:pt x="11445" y="11283"/>
                  </a:cubicBezTo>
                  <a:cubicBezTo>
                    <a:pt x="10237" y="14341"/>
                    <a:pt x="7883" y="16511"/>
                    <a:pt x="6125" y="18346"/>
                  </a:cubicBezTo>
                  <a:cubicBezTo>
                    <a:pt x="4367" y="20181"/>
                    <a:pt x="1875" y="21297"/>
                    <a:pt x="896" y="22291"/>
                  </a:cubicBezTo>
                  <a:cubicBezTo>
                    <a:pt x="-82" y="23285"/>
                    <a:pt x="-174" y="23896"/>
                    <a:pt x="254" y="24309"/>
                  </a:cubicBezTo>
                  <a:cubicBezTo>
                    <a:pt x="682" y="24722"/>
                    <a:pt x="805" y="24692"/>
                    <a:pt x="3465" y="24768"/>
                  </a:cubicBezTo>
                  <a:cubicBezTo>
                    <a:pt x="6125" y="24845"/>
                    <a:pt x="10925" y="24768"/>
                    <a:pt x="16215" y="24768"/>
                  </a:cubicBezTo>
                  <a:cubicBezTo>
                    <a:pt x="21505" y="24768"/>
                    <a:pt x="28630" y="24768"/>
                    <a:pt x="35204" y="24768"/>
                  </a:cubicBezTo>
                  <a:cubicBezTo>
                    <a:pt x="41778" y="24768"/>
                    <a:pt x="50783" y="24768"/>
                    <a:pt x="55660" y="24768"/>
                  </a:cubicBezTo>
                  <a:cubicBezTo>
                    <a:pt x="60537" y="24768"/>
                    <a:pt x="62754" y="25104"/>
                    <a:pt x="64466" y="24768"/>
                  </a:cubicBezTo>
                  <a:cubicBezTo>
                    <a:pt x="66178" y="24432"/>
                    <a:pt x="66056" y="23346"/>
                    <a:pt x="65934" y="22750"/>
                  </a:cubicBezTo>
                  <a:cubicBezTo>
                    <a:pt x="65812" y="22154"/>
                    <a:pt x="65353" y="22765"/>
                    <a:pt x="63732" y="21190"/>
                  </a:cubicBezTo>
                  <a:cubicBezTo>
                    <a:pt x="62111" y="19615"/>
                    <a:pt x="57999" y="16512"/>
                    <a:pt x="56210" y="13301"/>
                  </a:cubicBezTo>
                  <a:cubicBezTo>
                    <a:pt x="54421" y="10091"/>
                    <a:pt x="53505" y="4083"/>
                    <a:pt x="53000" y="1927"/>
                  </a:cubicBezTo>
                  <a:cubicBezTo>
                    <a:pt x="52496" y="-229"/>
                    <a:pt x="53153" y="627"/>
                    <a:pt x="53183" y="367"/>
                  </a:cubicBezTo>
                </a:path>
              </a:pathLst>
            </a:custGeom>
            <a:solidFill>
              <a:schemeClr val="lt2"/>
            </a:solidFill>
            <a:ln cap="flat" cmpd="sng" w="269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pic>
        <p:nvPicPr>
          <p:cNvPr id="460" name="Google Shape;460;p34" title="Screenshot 2026-05-20 at 1.55.04 PM.png"/>
          <p:cNvPicPr preferRelativeResize="0"/>
          <p:nvPr/>
        </p:nvPicPr>
        <p:blipFill rotWithShape="1">
          <a:blip r:embed="rId3">
            <a:alphaModFix/>
          </a:blip>
          <a:srcRect b="1086" l="0" r="0" t="1086"/>
          <a:stretch/>
        </p:blipFill>
        <p:spPr>
          <a:xfrm>
            <a:off x="5704700" y="1818500"/>
            <a:ext cx="2880325" cy="173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5"/>
          <p:cNvSpPr txBox="1"/>
          <p:nvPr>
            <p:ph type="title"/>
          </p:nvPr>
        </p:nvSpPr>
        <p:spPr>
          <a:xfrm>
            <a:off x="4153325" y="2393700"/>
            <a:ext cx="3981900" cy="13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ASSUMPTIONS/HYPOTHESES</a:t>
            </a:r>
            <a:endParaRPr/>
          </a:p>
        </p:txBody>
      </p:sp>
      <p:sp>
        <p:nvSpPr>
          <p:cNvPr id="466" name="Google Shape;466;p35"/>
          <p:cNvSpPr txBox="1"/>
          <p:nvPr>
            <p:ph idx="2" type="title"/>
          </p:nvPr>
        </p:nvSpPr>
        <p:spPr>
          <a:xfrm>
            <a:off x="4153325" y="1551889"/>
            <a:ext cx="3251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grpSp>
        <p:nvGrpSpPr>
          <p:cNvPr id="467" name="Google Shape;467;p35"/>
          <p:cNvGrpSpPr/>
          <p:nvPr/>
        </p:nvGrpSpPr>
        <p:grpSpPr>
          <a:xfrm>
            <a:off x="4153325" y="1103551"/>
            <a:ext cx="3889378" cy="2666548"/>
            <a:chOff x="4153325" y="1039015"/>
            <a:chExt cx="3889378" cy="2666548"/>
          </a:xfrm>
        </p:grpSpPr>
        <p:cxnSp>
          <p:nvCxnSpPr>
            <p:cNvPr id="468" name="Google Shape;468;p35"/>
            <p:cNvCxnSpPr/>
            <p:nvPr/>
          </p:nvCxnSpPr>
          <p:spPr>
            <a:xfrm>
              <a:off x="4154099" y="3705563"/>
              <a:ext cx="38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69" name="Google Shape;469;p35"/>
            <p:cNvGrpSpPr/>
            <p:nvPr/>
          </p:nvGrpSpPr>
          <p:grpSpPr>
            <a:xfrm>
              <a:off x="4153325" y="1039015"/>
              <a:ext cx="3889378" cy="283322"/>
              <a:chOff x="4153325" y="1168827"/>
              <a:chExt cx="3889378" cy="283322"/>
            </a:xfrm>
          </p:grpSpPr>
          <p:cxnSp>
            <p:nvCxnSpPr>
              <p:cNvPr id="470" name="Google Shape;470;p35"/>
              <p:cNvCxnSpPr/>
              <p:nvPr/>
            </p:nvCxnSpPr>
            <p:spPr>
              <a:xfrm>
                <a:off x="4154099" y="1452149"/>
                <a:ext cx="38562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471" name="Google Shape;471;p35"/>
              <p:cNvGrpSpPr/>
              <p:nvPr/>
            </p:nvGrpSpPr>
            <p:grpSpPr>
              <a:xfrm>
                <a:off x="4153325" y="1168827"/>
                <a:ext cx="3889378" cy="198997"/>
                <a:chOff x="4534325" y="1013201"/>
                <a:chExt cx="3889378" cy="198997"/>
              </a:xfrm>
            </p:grpSpPr>
            <p:sp>
              <p:nvSpPr>
                <p:cNvPr id="472" name="Google Shape;472;p35"/>
                <p:cNvSpPr/>
                <p:nvPr/>
              </p:nvSpPr>
              <p:spPr>
                <a:xfrm>
                  <a:off x="453432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3" name="Google Shape;473;p35"/>
                <p:cNvSpPr/>
                <p:nvPr/>
              </p:nvSpPr>
              <p:spPr>
                <a:xfrm>
                  <a:off x="486890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4" name="Google Shape;474;p35"/>
                <p:cNvSpPr/>
                <p:nvPr/>
              </p:nvSpPr>
              <p:spPr>
                <a:xfrm>
                  <a:off x="520347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5" name="Google Shape;475;p35"/>
                <p:cNvSpPr/>
                <p:nvPr/>
              </p:nvSpPr>
              <p:spPr>
                <a:xfrm>
                  <a:off x="553805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6" name="Google Shape;476;p35"/>
                <p:cNvSpPr/>
                <p:nvPr/>
              </p:nvSpPr>
              <p:spPr>
                <a:xfrm>
                  <a:off x="587262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7" name="Google Shape;477;p35"/>
                <p:cNvSpPr/>
                <p:nvPr/>
              </p:nvSpPr>
              <p:spPr>
                <a:xfrm>
                  <a:off x="620720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8" name="Google Shape;478;p35"/>
                <p:cNvSpPr/>
                <p:nvPr/>
              </p:nvSpPr>
              <p:spPr>
                <a:xfrm>
                  <a:off x="654177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9" name="Google Shape;479;p35"/>
                <p:cNvSpPr/>
                <p:nvPr/>
              </p:nvSpPr>
              <p:spPr>
                <a:xfrm>
                  <a:off x="687635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0" name="Google Shape;480;p35"/>
                <p:cNvSpPr/>
                <p:nvPr/>
              </p:nvSpPr>
              <p:spPr>
                <a:xfrm>
                  <a:off x="721092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1" name="Google Shape;481;p35"/>
                <p:cNvSpPr/>
                <p:nvPr/>
              </p:nvSpPr>
              <p:spPr>
                <a:xfrm>
                  <a:off x="754550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" name="Google Shape;482;p35"/>
                <p:cNvSpPr/>
                <p:nvPr/>
              </p:nvSpPr>
              <p:spPr>
                <a:xfrm>
                  <a:off x="788007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3" name="Google Shape;483;p35"/>
                <p:cNvSpPr/>
                <p:nvPr/>
              </p:nvSpPr>
              <p:spPr>
                <a:xfrm>
                  <a:off x="821465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pic>
        <p:nvPicPr>
          <p:cNvPr id="484" name="Google Shape;484;p35" title="Thinking face-ami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925" y="852963"/>
            <a:ext cx="3251700" cy="325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6"/>
          <p:cNvSpPr/>
          <p:nvPr/>
        </p:nvSpPr>
        <p:spPr>
          <a:xfrm>
            <a:off x="1021775" y="2589999"/>
            <a:ext cx="606379" cy="577197"/>
          </a:xfrm>
          <a:custGeom>
            <a:rect b="b" l="l" r="r" t="t"/>
            <a:pathLst>
              <a:path extrusionOk="0" h="2909" w="3056">
                <a:moveTo>
                  <a:pt x="1528" y="0"/>
                </a:moveTo>
                <a:lnTo>
                  <a:pt x="1067" y="963"/>
                </a:lnTo>
                <a:lnTo>
                  <a:pt x="0" y="1109"/>
                </a:lnTo>
                <a:lnTo>
                  <a:pt x="774" y="1841"/>
                </a:lnTo>
                <a:lnTo>
                  <a:pt x="586" y="2908"/>
                </a:lnTo>
                <a:lnTo>
                  <a:pt x="1528" y="2406"/>
                </a:lnTo>
                <a:lnTo>
                  <a:pt x="2469" y="2908"/>
                </a:lnTo>
                <a:lnTo>
                  <a:pt x="2281" y="1841"/>
                </a:lnTo>
                <a:lnTo>
                  <a:pt x="3055" y="1109"/>
                </a:lnTo>
                <a:lnTo>
                  <a:pt x="2009" y="963"/>
                </a:lnTo>
                <a:lnTo>
                  <a:pt x="152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490" name="Google Shape;490;p36"/>
          <p:cNvSpPr/>
          <p:nvPr/>
        </p:nvSpPr>
        <p:spPr>
          <a:xfrm>
            <a:off x="1021775" y="3627975"/>
            <a:ext cx="606372" cy="577189"/>
          </a:xfrm>
          <a:custGeom>
            <a:rect b="b" l="l" r="r" t="t"/>
            <a:pathLst>
              <a:path extrusionOk="0" h="2909" w="3056">
                <a:moveTo>
                  <a:pt x="1528" y="0"/>
                </a:moveTo>
                <a:lnTo>
                  <a:pt x="1067" y="963"/>
                </a:lnTo>
                <a:lnTo>
                  <a:pt x="0" y="1109"/>
                </a:lnTo>
                <a:lnTo>
                  <a:pt x="774" y="1841"/>
                </a:lnTo>
                <a:lnTo>
                  <a:pt x="586" y="2908"/>
                </a:lnTo>
                <a:lnTo>
                  <a:pt x="1528" y="2406"/>
                </a:lnTo>
                <a:lnTo>
                  <a:pt x="2469" y="2908"/>
                </a:lnTo>
                <a:lnTo>
                  <a:pt x="2281" y="1841"/>
                </a:lnTo>
                <a:lnTo>
                  <a:pt x="3055" y="1109"/>
                </a:lnTo>
                <a:lnTo>
                  <a:pt x="2009" y="963"/>
                </a:lnTo>
                <a:lnTo>
                  <a:pt x="152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491" name="Google Shape;491;p36"/>
          <p:cNvSpPr/>
          <p:nvPr/>
        </p:nvSpPr>
        <p:spPr>
          <a:xfrm>
            <a:off x="1017750" y="1554025"/>
            <a:ext cx="601673" cy="572702"/>
          </a:xfrm>
          <a:custGeom>
            <a:rect b="b" l="l" r="r" t="t"/>
            <a:pathLst>
              <a:path extrusionOk="0" h="2909" w="3056">
                <a:moveTo>
                  <a:pt x="1528" y="0"/>
                </a:moveTo>
                <a:lnTo>
                  <a:pt x="1067" y="963"/>
                </a:lnTo>
                <a:lnTo>
                  <a:pt x="0" y="1109"/>
                </a:lnTo>
                <a:lnTo>
                  <a:pt x="774" y="1841"/>
                </a:lnTo>
                <a:lnTo>
                  <a:pt x="586" y="2908"/>
                </a:lnTo>
                <a:lnTo>
                  <a:pt x="1528" y="2406"/>
                </a:lnTo>
                <a:lnTo>
                  <a:pt x="2469" y="2908"/>
                </a:lnTo>
                <a:lnTo>
                  <a:pt x="2281" y="1841"/>
                </a:lnTo>
                <a:lnTo>
                  <a:pt x="3055" y="1109"/>
                </a:lnTo>
                <a:lnTo>
                  <a:pt x="2009" y="963"/>
                </a:lnTo>
                <a:lnTo>
                  <a:pt x="152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76350" lIns="76350" spcFirstLastPara="1" rIns="76350" wrap="square" tIns="7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9"/>
          </a:p>
        </p:txBody>
      </p:sp>
      <p:sp>
        <p:nvSpPr>
          <p:cNvPr id="492" name="Google Shape;492;p36"/>
          <p:cNvSpPr txBox="1"/>
          <p:nvPr>
            <p:ph type="title"/>
          </p:nvPr>
        </p:nvSpPr>
        <p:spPr>
          <a:xfrm>
            <a:off x="720000" y="542016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Assumptions</a:t>
            </a:r>
            <a:endParaRPr/>
          </a:p>
        </p:txBody>
      </p:sp>
      <p:sp>
        <p:nvSpPr>
          <p:cNvPr id="493" name="Google Shape;493;p36"/>
          <p:cNvSpPr txBox="1"/>
          <p:nvPr>
            <p:ph idx="2" type="title"/>
          </p:nvPr>
        </p:nvSpPr>
        <p:spPr>
          <a:xfrm>
            <a:off x="1118042" y="1662849"/>
            <a:ext cx="403500" cy="362100"/>
          </a:xfrm>
          <a:prstGeom prst="rect">
            <a:avLst/>
          </a:prstGeom>
        </p:spPr>
        <p:txBody>
          <a:bodyPr anchorCtr="0" anchor="b" bIns="0" lIns="76350" spcFirstLastPara="1" rIns="76350" wrap="square" tIns="7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38">
                <a:solidFill>
                  <a:schemeClr val="lt1"/>
                </a:solidFill>
              </a:rPr>
              <a:t>1</a:t>
            </a:r>
            <a:endParaRPr sz="2338">
              <a:solidFill>
                <a:schemeClr val="lt1"/>
              </a:solidFill>
            </a:endParaRPr>
          </a:p>
        </p:txBody>
      </p:sp>
      <p:sp>
        <p:nvSpPr>
          <p:cNvPr id="494" name="Google Shape;494;p36"/>
          <p:cNvSpPr txBox="1"/>
          <p:nvPr>
            <p:ph idx="3" type="subTitle"/>
          </p:nvPr>
        </p:nvSpPr>
        <p:spPr>
          <a:xfrm>
            <a:off x="1886925" y="3083150"/>
            <a:ext cx="59064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act of writing a review signals meaningful engagement with a restaurant. Only reviewed restaurants are treated as observed interactions.</a:t>
            </a:r>
            <a:endParaRPr/>
          </a:p>
        </p:txBody>
      </p:sp>
      <p:sp>
        <p:nvSpPr>
          <p:cNvPr id="495" name="Google Shape;495;p36"/>
          <p:cNvSpPr txBox="1"/>
          <p:nvPr>
            <p:ph idx="4" type="title"/>
          </p:nvPr>
        </p:nvSpPr>
        <p:spPr>
          <a:xfrm>
            <a:off x="1121632" y="2710005"/>
            <a:ext cx="406800" cy="365100"/>
          </a:xfrm>
          <a:prstGeom prst="rect">
            <a:avLst/>
          </a:prstGeom>
        </p:spPr>
        <p:txBody>
          <a:bodyPr anchorCtr="0" anchor="b" bIns="0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6">
                <a:solidFill>
                  <a:schemeClr val="lt1"/>
                </a:solidFill>
              </a:rPr>
              <a:t>2</a:t>
            </a:r>
            <a:endParaRPr sz="2356">
              <a:solidFill>
                <a:schemeClr val="lt1"/>
              </a:solidFill>
            </a:endParaRPr>
          </a:p>
        </p:txBody>
      </p:sp>
      <p:sp>
        <p:nvSpPr>
          <p:cNvPr id="496" name="Google Shape;496;p36"/>
          <p:cNvSpPr txBox="1"/>
          <p:nvPr>
            <p:ph idx="5" type="subTitle"/>
          </p:nvPr>
        </p:nvSpPr>
        <p:spPr>
          <a:xfrm>
            <a:off x="1886925" y="4122025"/>
            <a:ext cx="57138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Restaurants without a reported price range are dropped rather than imputed.</a:t>
            </a:r>
            <a:endParaRPr/>
          </a:p>
        </p:txBody>
      </p:sp>
      <p:sp>
        <p:nvSpPr>
          <p:cNvPr id="497" name="Google Shape;497;p36"/>
          <p:cNvSpPr txBox="1"/>
          <p:nvPr>
            <p:ph idx="1" type="subTitle"/>
          </p:nvPr>
        </p:nvSpPr>
        <p:spPr>
          <a:xfrm>
            <a:off x="1886925" y="1909575"/>
            <a:ext cx="59799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user's star rating (1–5) is treated as an explicit measure of preference. Higher ratings indicate stronger positive affinity and serve as important signal across all four models.</a:t>
            </a:r>
            <a:endParaRPr/>
          </a:p>
        </p:txBody>
      </p:sp>
      <p:sp>
        <p:nvSpPr>
          <p:cNvPr id="498" name="Google Shape;498;p36"/>
          <p:cNvSpPr txBox="1"/>
          <p:nvPr>
            <p:ph idx="6" type="title"/>
          </p:nvPr>
        </p:nvSpPr>
        <p:spPr>
          <a:xfrm>
            <a:off x="1121631" y="3753095"/>
            <a:ext cx="406500" cy="365100"/>
          </a:xfrm>
          <a:prstGeom prst="rect">
            <a:avLst/>
          </a:prstGeom>
        </p:spPr>
        <p:txBody>
          <a:bodyPr anchorCtr="0" anchor="b" bIns="0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6">
                <a:solidFill>
                  <a:schemeClr val="lt1"/>
                </a:solidFill>
              </a:rPr>
              <a:t>3</a:t>
            </a:r>
            <a:endParaRPr sz="2356">
              <a:solidFill>
                <a:schemeClr val="lt1"/>
              </a:solidFill>
            </a:endParaRPr>
          </a:p>
        </p:txBody>
      </p:sp>
      <p:grpSp>
        <p:nvGrpSpPr>
          <p:cNvPr id="499" name="Google Shape;499;p36"/>
          <p:cNvGrpSpPr/>
          <p:nvPr/>
        </p:nvGrpSpPr>
        <p:grpSpPr>
          <a:xfrm>
            <a:off x="720072" y="540000"/>
            <a:ext cx="7704093" cy="577207"/>
            <a:chOff x="3667800" y="1583575"/>
            <a:chExt cx="4756200" cy="577207"/>
          </a:xfrm>
        </p:grpSpPr>
        <p:cxnSp>
          <p:nvCxnSpPr>
            <p:cNvPr id="500" name="Google Shape;500;p36"/>
            <p:cNvCxnSpPr/>
            <p:nvPr/>
          </p:nvCxnSpPr>
          <p:spPr>
            <a:xfrm>
              <a:off x="3667800" y="1583575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1" name="Google Shape;501;p36"/>
            <p:cNvCxnSpPr/>
            <p:nvPr/>
          </p:nvCxnSpPr>
          <p:spPr>
            <a:xfrm>
              <a:off x="3667800" y="2160782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02" name="Google Shape;502;p36"/>
          <p:cNvSpPr txBox="1"/>
          <p:nvPr>
            <p:ph idx="7" type="subTitle"/>
          </p:nvPr>
        </p:nvSpPr>
        <p:spPr>
          <a:xfrm>
            <a:off x="1886925" y="1390350"/>
            <a:ext cx="49056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Star ratings as preference signal</a:t>
            </a:r>
            <a:endParaRPr/>
          </a:p>
        </p:txBody>
      </p:sp>
      <p:sp>
        <p:nvSpPr>
          <p:cNvPr id="503" name="Google Shape;503;p36"/>
          <p:cNvSpPr txBox="1"/>
          <p:nvPr>
            <p:ph idx="8" type="subTitle"/>
          </p:nvPr>
        </p:nvSpPr>
        <p:spPr>
          <a:xfrm>
            <a:off x="1886925" y="2574325"/>
            <a:ext cx="61554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User-</a:t>
            </a:r>
            <a:r>
              <a:rPr lang="en"/>
              <a:t>Interaction as implicit confirmation.</a:t>
            </a:r>
            <a:endParaRPr/>
          </a:p>
        </p:txBody>
      </p:sp>
      <p:sp>
        <p:nvSpPr>
          <p:cNvPr id="504" name="Google Shape;504;p36"/>
          <p:cNvSpPr txBox="1"/>
          <p:nvPr>
            <p:ph idx="9" type="subTitle"/>
          </p:nvPr>
        </p:nvSpPr>
        <p:spPr>
          <a:xfrm>
            <a:off x="1886925" y="3700575"/>
            <a:ext cx="59064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Price range as core identity.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7"/>
          <p:cNvSpPr txBox="1"/>
          <p:nvPr>
            <p:ph type="title"/>
          </p:nvPr>
        </p:nvSpPr>
        <p:spPr>
          <a:xfrm>
            <a:off x="720000" y="542016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</a:t>
            </a:r>
            <a:endParaRPr/>
          </a:p>
        </p:txBody>
      </p:sp>
      <p:sp>
        <p:nvSpPr>
          <p:cNvPr id="510" name="Google Shape;510;p37"/>
          <p:cNvSpPr txBox="1"/>
          <p:nvPr>
            <p:ph idx="2" type="title"/>
          </p:nvPr>
        </p:nvSpPr>
        <p:spPr>
          <a:xfrm>
            <a:off x="617707" y="1409500"/>
            <a:ext cx="650700" cy="43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H1</a:t>
            </a:r>
            <a:endParaRPr/>
          </a:p>
        </p:txBody>
      </p:sp>
      <p:sp>
        <p:nvSpPr>
          <p:cNvPr id="511" name="Google Shape;511;p37"/>
          <p:cNvSpPr txBox="1"/>
          <p:nvPr>
            <p:ph idx="3" type="subTitle"/>
          </p:nvPr>
        </p:nvSpPr>
        <p:spPr>
          <a:xfrm>
            <a:off x="1400151" y="3118650"/>
            <a:ext cx="553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Users with higher review counts will receive more accurate top-10 recommendations than low-activity users</a:t>
            </a:r>
            <a:endParaRPr sz="1200"/>
          </a:p>
        </p:txBody>
      </p:sp>
      <p:sp>
        <p:nvSpPr>
          <p:cNvPr id="512" name="Google Shape;512;p37"/>
          <p:cNvSpPr txBox="1"/>
          <p:nvPr>
            <p:ph idx="4" type="title"/>
          </p:nvPr>
        </p:nvSpPr>
        <p:spPr>
          <a:xfrm>
            <a:off x="560250" y="2822450"/>
            <a:ext cx="765600" cy="43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H2</a:t>
            </a:r>
            <a:endParaRPr sz="2000"/>
          </a:p>
        </p:txBody>
      </p:sp>
      <p:sp>
        <p:nvSpPr>
          <p:cNvPr id="513" name="Google Shape;513;p37"/>
          <p:cNvSpPr txBox="1"/>
          <p:nvPr>
            <p:ph idx="7" type="subTitle"/>
          </p:nvPr>
        </p:nvSpPr>
        <p:spPr>
          <a:xfrm>
            <a:off x="1325850" y="1632200"/>
            <a:ext cx="7240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0" lang="en" sz="1800"/>
              <a:t>Recommendation quality improves as models incorporate richer representations of user preference and restaurant identity. </a:t>
            </a:r>
            <a:endParaRPr b="0" sz="1800"/>
          </a:p>
        </p:txBody>
      </p:sp>
      <p:sp>
        <p:nvSpPr>
          <p:cNvPr id="514" name="Google Shape;514;p37"/>
          <p:cNvSpPr txBox="1"/>
          <p:nvPr>
            <p:ph idx="8" type="subTitle"/>
          </p:nvPr>
        </p:nvSpPr>
        <p:spPr>
          <a:xfrm>
            <a:off x="1355959" y="2727285"/>
            <a:ext cx="69210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0" lang="en" sz="1900"/>
              <a:t>User activity level predicts collaborative signal quality</a:t>
            </a:r>
            <a:endParaRPr b="0" sz="1900"/>
          </a:p>
        </p:txBody>
      </p:sp>
      <p:sp>
        <p:nvSpPr>
          <p:cNvPr id="515" name="Google Shape;515;p37"/>
          <p:cNvSpPr txBox="1"/>
          <p:nvPr>
            <p:ph idx="3" type="subTitle"/>
          </p:nvPr>
        </p:nvSpPr>
        <p:spPr>
          <a:xfrm>
            <a:off x="1355950" y="2179750"/>
            <a:ext cx="68520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Our advanced models will outperform baseline models as they have full content features from the dataset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8"/>
          <p:cNvSpPr txBox="1"/>
          <p:nvPr>
            <p:ph type="title"/>
          </p:nvPr>
        </p:nvSpPr>
        <p:spPr>
          <a:xfrm>
            <a:off x="4153325" y="2393700"/>
            <a:ext cx="4013400" cy="13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521" name="Google Shape;521;p38"/>
          <p:cNvSpPr txBox="1"/>
          <p:nvPr>
            <p:ph idx="2" type="title"/>
          </p:nvPr>
        </p:nvSpPr>
        <p:spPr>
          <a:xfrm>
            <a:off x="4153325" y="1551889"/>
            <a:ext cx="3251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grpSp>
        <p:nvGrpSpPr>
          <p:cNvPr id="522" name="Google Shape;522;p38"/>
          <p:cNvGrpSpPr/>
          <p:nvPr/>
        </p:nvGrpSpPr>
        <p:grpSpPr>
          <a:xfrm>
            <a:off x="4153325" y="1103551"/>
            <a:ext cx="3889378" cy="2666548"/>
            <a:chOff x="4153325" y="1039015"/>
            <a:chExt cx="3889378" cy="2666548"/>
          </a:xfrm>
        </p:grpSpPr>
        <p:cxnSp>
          <p:nvCxnSpPr>
            <p:cNvPr id="523" name="Google Shape;523;p38"/>
            <p:cNvCxnSpPr/>
            <p:nvPr/>
          </p:nvCxnSpPr>
          <p:spPr>
            <a:xfrm>
              <a:off x="4154099" y="3705563"/>
              <a:ext cx="38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24" name="Google Shape;524;p38"/>
            <p:cNvGrpSpPr/>
            <p:nvPr/>
          </p:nvGrpSpPr>
          <p:grpSpPr>
            <a:xfrm>
              <a:off x="4153325" y="1039015"/>
              <a:ext cx="3889378" cy="283322"/>
              <a:chOff x="4153325" y="1168827"/>
              <a:chExt cx="3889378" cy="283322"/>
            </a:xfrm>
          </p:grpSpPr>
          <p:cxnSp>
            <p:nvCxnSpPr>
              <p:cNvPr id="525" name="Google Shape;525;p38"/>
              <p:cNvCxnSpPr/>
              <p:nvPr/>
            </p:nvCxnSpPr>
            <p:spPr>
              <a:xfrm>
                <a:off x="4154099" y="1452149"/>
                <a:ext cx="38562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526" name="Google Shape;526;p38"/>
              <p:cNvGrpSpPr/>
              <p:nvPr/>
            </p:nvGrpSpPr>
            <p:grpSpPr>
              <a:xfrm>
                <a:off x="4153325" y="1168827"/>
                <a:ext cx="3889378" cy="198997"/>
                <a:chOff x="4534325" y="1013201"/>
                <a:chExt cx="3889378" cy="198997"/>
              </a:xfrm>
            </p:grpSpPr>
            <p:sp>
              <p:nvSpPr>
                <p:cNvPr id="527" name="Google Shape;527;p38"/>
                <p:cNvSpPr/>
                <p:nvPr/>
              </p:nvSpPr>
              <p:spPr>
                <a:xfrm>
                  <a:off x="453432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8" name="Google Shape;528;p38"/>
                <p:cNvSpPr/>
                <p:nvPr/>
              </p:nvSpPr>
              <p:spPr>
                <a:xfrm>
                  <a:off x="486890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9" name="Google Shape;529;p38"/>
                <p:cNvSpPr/>
                <p:nvPr/>
              </p:nvSpPr>
              <p:spPr>
                <a:xfrm>
                  <a:off x="520347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0" name="Google Shape;530;p38"/>
                <p:cNvSpPr/>
                <p:nvPr/>
              </p:nvSpPr>
              <p:spPr>
                <a:xfrm>
                  <a:off x="553805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1" name="Google Shape;531;p38"/>
                <p:cNvSpPr/>
                <p:nvPr/>
              </p:nvSpPr>
              <p:spPr>
                <a:xfrm>
                  <a:off x="587262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2" name="Google Shape;532;p38"/>
                <p:cNvSpPr/>
                <p:nvPr/>
              </p:nvSpPr>
              <p:spPr>
                <a:xfrm>
                  <a:off x="620720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3" name="Google Shape;533;p38"/>
                <p:cNvSpPr/>
                <p:nvPr/>
              </p:nvSpPr>
              <p:spPr>
                <a:xfrm>
                  <a:off x="654177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4" name="Google Shape;534;p38"/>
                <p:cNvSpPr/>
                <p:nvPr/>
              </p:nvSpPr>
              <p:spPr>
                <a:xfrm>
                  <a:off x="687635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5" name="Google Shape;535;p38"/>
                <p:cNvSpPr/>
                <p:nvPr/>
              </p:nvSpPr>
              <p:spPr>
                <a:xfrm>
                  <a:off x="721092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6" name="Google Shape;536;p38"/>
                <p:cNvSpPr/>
                <p:nvPr/>
              </p:nvSpPr>
              <p:spPr>
                <a:xfrm>
                  <a:off x="754550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7" name="Google Shape;537;p38"/>
                <p:cNvSpPr/>
                <p:nvPr/>
              </p:nvSpPr>
              <p:spPr>
                <a:xfrm>
                  <a:off x="788007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8" name="Google Shape;538;p38"/>
                <p:cNvSpPr/>
                <p:nvPr/>
              </p:nvSpPr>
              <p:spPr>
                <a:xfrm>
                  <a:off x="821465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pic>
        <p:nvPicPr>
          <p:cNvPr id="539" name="Google Shape;539;p38" title="Research paper-ami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675" y="1021634"/>
            <a:ext cx="2895350" cy="2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4" name="Google Shape;544;p39"/>
          <p:cNvGrpSpPr/>
          <p:nvPr/>
        </p:nvGrpSpPr>
        <p:grpSpPr>
          <a:xfrm>
            <a:off x="5400797" y="3164497"/>
            <a:ext cx="2870704" cy="501770"/>
            <a:chOff x="5969552" y="3203450"/>
            <a:chExt cx="2454432" cy="429010"/>
          </a:xfrm>
        </p:grpSpPr>
        <p:sp>
          <p:nvSpPr>
            <p:cNvPr id="545" name="Google Shape;545;p39"/>
            <p:cNvSpPr/>
            <p:nvPr/>
          </p:nvSpPr>
          <p:spPr>
            <a:xfrm>
              <a:off x="5969552" y="3203450"/>
              <a:ext cx="2454432" cy="429010"/>
            </a:xfrm>
            <a:custGeom>
              <a:rect b="b" l="l" r="r" t="t"/>
              <a:pathLst>
                <a:path extrusionOk="0" h="8873" w="99179">
                  <a:moveTo>
                    <a:pt x="0" y="0"/>
                  </a:moveTo>
                  <a:lnTo>
                    <a:pt x="2825" y="4436"/>
                  </a:lnTo>
                  <a:lnTo>
                    <a:pt x="0" y="8872"/>
                  </a:lnTo>
                  <a:lnTo>
                    <a:pt x="99178" y="8872"/>
                  </a:lnTo>
                  <a:lnTo>
                    <a:pt x="95537" y="4436"/>
                  </a:lnTo>
                  <a:lnTo>
                    <a:pt x="99178" y="0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ctr" bIns="106925" lIns="106925" spcFirstLastPara="1" rIns="106925" wrap="square" tIns="1069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7"/>
            </a:p>
          </p:txBody>
        </p:sp>
        <p:grpSp>
          <p:nvGrpSpPr>
            <p:cNvPr id="546" name="Google Shape;546;p39"/>
            <p:cNvGrpSpPr/>
            <p:nvPr/>
          </p:nvGrpSpPr>
          <p:grpSpPr>
            <a:xfrm>
              <a:off x="6197070" y="3341075"/>
              <a:ext cx="1999398" cy="153748"/>
              <a:chOff x="6124575" y="3341075"/>
              <a:chExt cx="1999398" cy="153748"/>
            </a:xfrm>
          </p:grpSpPr>
          <p:sp>
            <p:nvSpPr>
              <p:cNvPr id="547" name="Google Shape;547;p39"/>
              <p:cNvSpPr/>
              <p:nvPr/>
            </p:nvSpPr>
            <p:spPr>
              <a:xfrm>
                <a:off x="6124575" y="3341075"/>
                <a:ext cx="161517" cy="153748"/>
              </a:xfrm>
              <a:custGeom>
                <a:rect b="b" l="l" r="r" t="t"/>
                <a:pathLst>
                  <a:path extrusionOk="0" h="2909" w="3056">
                    <a:moveTo>
                      <a:pt x="1528" y="0"/>
                    </a:moveTo>
                    <a:lnTo>
                      <a:pt x="1067" y="963"/>
                    </a:lnTo>
                    <a:lnTo>
                      <a:pt x="0" y="1109"/>
                    </a:lnTo>
                    <a:lnTo>
                      <a:pt x="774" y="1841"/>
                    </a:lnTo>
                    <a:lnTo>
                      <a:pt x="586" y="2908"/>
                    </a:lnTo>
                    <a:lnTo>
                      <a:pt x="1528" y="2406"/>
                    </a:lnTo>
                    <a:lnTo>
                      <a:pt x="2469" y="2908"/>
                    </a:lnTo>
                    <a:lnTo>
                      <a:pt x="2281" y="1841"/>
                    </a:lnTo>
                    <a:lnTo>
                      <a:pt x="3055" y="1109"/>
                    </a:lnTo>
                    <a:lnTo>
                      <a:pt x="2009" y="963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06925" lIns="106925" spcFirstLastPara="1" rIns="106925" wrap="square" tIns="1069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37"/>
              </a:p>
            </p:txBody>
          </p:sp>
          <p:sp>
            <p:nvSpPr>
              <p:cNvPr id="548" name="Google Shape;548;p39"/>
              <p:cNvSpPr/>
              <p:nvPr/>
            </p:nvSpPr>
            <p:spPr>
              <a:xfrm>
                <a:off x="7963565" y="3341075"/>
                <a:ext cx="160407" cy="153748"/>
              </a:xfrm>
              <a:custGeom>
                <a:rect b="b" l="l" r="r" t="t"/>
                <a:pathLst>
                  <a:path extrusionOk="0" h="2909" w="3035">
                    <a:moveTo>
                      <a:pt x="1528" y="0"/>
                    </a:moveTo>
                    <a:lnTo>
                      <a:pt x="1047" y="963"/>
                    </a:lnTo>
                    <a:lnTo>
                      <a:pt x="0" y="1109"/>
                    </a:lnTo>
                    <a:lnTo>
                      <a:pt x="754" y="1841"/>
                    </a:lnTo>
                    <a:lnTo>
                      <a:pt x="565" y="2908"/>
                    </a:lnTo>
                    <a:lnTo>
                      <a:pt x="1528" y="2406"/>
                    </a:lnTo>
                    <a:lnTo>
                      <a:pt x="2469" y="2908"/>
                    </a:lnTo>
                    <a:lnTo>
                      <a:pt x="2281" y="1841"/>
                    </a:lnTo>
                    <a:lnTo>
                      <a:pt x="3034" y="1109"/>
                    </a:lnTo>
                    <a:lnTo>
                      <a:pt x="1988" y="963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106925" lIns="106925" spcFirstLastPara="1" rIns="106925" wrap="square" tIns="1069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9" name="Google Shape;549;p39"/>
          <p:cNvSpPr txBox="1"/>
          <p:nvPr>
            <p:ph type="title"/>
          </p:nvPr>
        </p:nvSpPr>
        <p:spPr>
          <a:xfrm>
            <a:off x="1100950" y="1302183"/>
            <a:ext cx="3473100" cy="134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 of Data</a:t>
            </a:r>
            <a:endParaRPr/>
          </a:p>
        </p:txBody>
      </p:sp>
      <p:sp>
        <p:nvSpPr>
          <p:cNvPr id="550" name="Google Shape;550;p39"/>
          <p:cNvSpPr txBox="1"/>
          <p:nvPr>
            <p:ph idx="1" type="subTitle"/>
          </p:nvPr>
        </p:nvSpPr>
        <p:spPr>
          <a:xfrm>
            <a:off x="1100950" y="2661472"/>
            <a:ext cx="3473100" cy="15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We filtered and cleaned the dataset to cover restaurants in </a:t>
            </a:r>
            <a:r>
              <a:rPr b="1" lang="en"/>
              <a:t>six U.S. cities</a:t>
            </a:r>
            <a:r>
              <a:rPr lang="en"/>
              <a:t>, selected to </a:t>
            </a:r>
            <a:r>
              <a:rPr lang="en"/>
              <a:t>provide broad geographic coverage across five regions while maintaining interaction density sufficient for ML model training.</a:t>
            </a:r>
            <a:endParaRPr/>
          </a:p>
        </p:txBody>
      </p:sp>
      <p:sp>
        <p:nvSpPr>
          <p:cNvPr id="551" name="Google Shape;551;p39"/>
          <p:cNvSpPr txBox="1"/>
          <p:nvPr/>
        </p:nvSpPr>
        <p:spPr>
          <a:xfrm>
            <a:off x="5804350" y="3263725"/>
            <a:ext cx="22479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Dataset Coverage (6 cities)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grpSp>
        <p:nvGrpSpPr>
          <p:cNvPr id="552" name="Google Shape;552;p39"/>
          <p:cNvGrpSpPr/>
          <p:nvPr/>
        </p:nvGrpSpPr>
        <p:grpSpPr>
          <a:xfrm>
            <a:off x="1100950" y="993361"/>
            <a:ext cx="3889378" cy="1668121"/>
            <a:chOff x="4153325" y="1039015"/>
            <a:chExt cx="3889378" cy="1668121"/>
          </a:xfrm>
        </p:grpSpPr>
        <p:cxnSp>
          <p:nvCxnSpPr>
            <p:cNvPr id="553" name="Google Shape;553;p39"/>
            <p:cNvCxnSpPr/>
            <p:nvPr/>
          </p:nvCxnSpPr>
          <p:spPr>
            <a:xfrm>
              <a:off x="4154099" y="2707136"/>
              <a:ext cx="38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54" name="Google Shape;554;p39"/>
            <p:cNvGrpSpPr/>
            <p:nvPr/>
          </p:nvGrpSpPr>
          <p:grpSpPr>
            <a:xfrm>
              <a:off x="4153325" y="1039015"/>
              <a:ext cx="3889378" cy="283322"/>
              <a:chOff x="4153325" y="1168827"/>
              <a:chExt cx="3889378" cy="283322"/>
            </a:xfrm>
          </p:grpSpPr>
          <p:cxnSp>
            <p:nvCxnSpPr>
              <p:cNvPr id="555" name="Google Shape;555;p39"/>
              <p:cNvCxnSpPr/>
              <p:nvPr/>
            </p:nvCxnSpPr>
            <p:spPr>
              <a:xfrm>
                <a:off x="4154099" y="1452149"/>
                <a:ext cx="38562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556" name="Google Shape;556;p39"/>
              <p:cNvGrpSpPr/>
              <p:nvPr/>
            </p:nvGrpSpPr>
            <p:grpSpPr>
              <a:xfrm>
                <a:off x="4153325" y="1168827"/>
                <a:ext cx="3889378" cy="198997"/>
                <a:chOff x="4534325" y="1013201"/>
                <a:chExt cx="3889378" cy="198997"/>
              </a:xfrm>
            </p:grpSpPr>
            <p:sp>
              <p:nvSpPr>
                <p:cNvPr id="557" name="Google Shape;557;p39"/>
                <p:cNvSpPr/>
                <p:nvPr/>
              </p:nvSpPr>
              <p:spPr>
                <a:xfrm>
                  <a:off x="453432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8" name="Google Shape;558;p39"/>
                <p:cNvSpPr/>
                <p:nvPr/>
              </p:nvSpPr>
              <p:spPr>
                <a:xfrm>
                  <a:off x="486890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9" name="Google Shape;559;p39"/>
                <p:cNvSpPr/>
                <p:nvPr/>
              </p:nvSpPr>
              <p:spPr>
                <a:xfrm>
                  <a:off x="520347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0" name="Google Shape;560;p39"/>
                <p:cNvSpPr/>
                <p:nvPr/>
              </p:nvSpPr>
              <p:spPr>
                <a:xfrm>
                  <a:off x="553805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1" name="Google Shape;561;p39"/>
                <p:cNvSpPr/>
                <p:nvPr/>
              </p:nvSpPr>
              <p:spPr>
                <a:xfrm>
                  <a:off x="587262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2" name="Google Shape;562;p39"/>
                <p:cNvSpPr/>
                <p:nvPr/>
              </p:nvSpPr>
              <p:spPr>
                <a:xfrm>
                  <a:off x="620720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3" name="Google Shape;563;p39"/>
                <p:cNvSpPr/>
                <p:nvPr/>
              </p:nvSpPr>
              <p:spPr>
                <a:xfrm>
                  <a:off x="654177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4" name="Google Shape;564;p39"/>
                <p:cNvSpPr/>
                <p:nvPr/>
              </p:nvSpPr>
              <p:spPr>
                <a:xfrm>
                  <a:off x="687635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5" name="Google Shape;565;p39"/>
                <p:cNvSpPr/>
                <p:nvPr/>
              </p:nvSpPr>
              <p:spPr>
                <a:xfrm>
                  <a:off x="721092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6" name="Google Shape;566;p39"/>
                <p:cNvSpPr/>
                <p:nvPr/>
              </p:nvSpPr>
              <p:spPr>
                <a:xfrm>
                  <a:off x="754550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7" name="Google Shape;567;p39"/>
                <p:cNvSpPr/>
                <p:nvPr/>
              </p:nvSpPr>
              <p:spPr>
                <a:xfrm>
                  <a:off x="788007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8" name="Google Shape;568;p39"/>
                <p:cNvSpPr/>
                <p:nvPr/>
              </p:nvSpPr>
              <p:spPr>
                <a:xfrm>
                  <a:off x="821465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pic>
        <p:nvPicPr>
          <p:cNvPr id="569" name="Google Shape;56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1750" y="1350050"/>
            <a:ext cx="3473100" cy="1766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4" name="Google Shape;574;p40"/>
          <p:cNvGraphicFramePr/>
          <p:nvPr/>
        </p:nvGraphicFramePr>
        <p:xfrm>
          <a:off x="720000" y="17710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{E35B0E34-53BF-40CA-B9C7-51939CC34792}</a:tableStyleId>
              </a:tblPr>
              <a:tblGrid>
                <a:gridCol w="1333650"/>
                <a:gridCol w="1204050"/>
                <a:gridCol w="1065275"/>
              </a:tblGrid>
              <a:tr h="35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dk1"/>
                        </a:solidFill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RAW</a:t>
                      </a:r>
                      <a:endParaRPr b="1" sz="1300">
                        <a:solidFill>
                          <a:schemeClr val="dk1"/>
                        </a:solidFill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5-CORE</a:t>
                      </a:r>
                      <a:endParaRPr b="1" sz="1300">
                        <a:solidFill>
                          <a:schemeClr val="dk1"/>
                        </a:solidFill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Reviews</a:t>
                      </a:r>
                      <a:endParaRPr b="1" sz="1300">
                        <a:solidFill>
                          <a:schemeClr val="dk1"/>
                        </a:solidFill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1.9M</a:t>
                      </a:r>
                      <a:endParaRPr b="1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T="0" marB="0" marR="91425" marL="0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1.0M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Restaurants</a:t>
                      </a:r>
                      <a:endParaRPr b="1" sz="1300">
                        <a:solidFill>
                          <a:schemeClr val="dk1"/>
                        </a:solidFill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14.8K</a:t>
                      </a:r>
                      <a:endParaRPr b="1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T="0" marB="0" marR="91425" marL="0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13.1K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Users</a:t>
                      </a:r>
                      <a:endParaRPr b="1" sz="1300">
                        <a:solidFill>
                          <a:schemeClr val="dk1"/>
                        </a:solidFill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662K</a:t>
                      </a:r>
                      <a:endParaRPr b="1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T="0" marB="0" marR="91425" marL="0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50K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5" name="Google Shape;575;p40"/>
          <p:cNvSpPr txBox="1"/>
          <p:nvPr/>
        </p:nvSpPr>
        <p:spPr>
          <a:xfrm>
            <a:off x="720000" y="542977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372814"/>
                </a:solidFill>
                <a:latin typeface="Arvo"/>
                <a:ea typeface="Arvo"/>
                <a:cs typeface="Arvo"/>
                <a:sym typeface="Arvo"/>
              </a:rPr>
              <a:t>DATASET OVERVIEW</a:t>
            </a:r>
            <a:endParaRPr b="1" sz="2800">
              <a:solidFill>
                <a:srgbClr val="372814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576" name="Google Shape;576;p40"/>
          <p:cNvGrpSpPr/>
          <p:nvPr/>
        </p:nvGrpSpPr>
        <p:grpSpPr>
          <a:xfrm>
            <a:off x="720072" y="540000"/>
            <a:ext cx="7704093" cy="577207"/>
            <a:chOff x="3667800" y="1583575"/>
            <a:chExt cx="4756200" cy="577207"/>
          </a:xfrm>
        </p:grpSpPr>
        <p:cxnSp>
          <p:nvCxnSpPr>
            <p:cNvPr id="577" name="Google Shape;577;p40"/>
            <p:cNvCxnSpPr/>
            <p:nvPr/>
          </p:nvCxnSpPr>
          <p:spPr>
            <a:xfrm>
              <a:off x="3667800" y="1583575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8" name="Google Shape;578;p40"/>
            <p:cNvCxnSpPr/>
            <p:nvPr/>
          </p:nvCxnSpPr>
          <p:spPr>
            <a:xfrm>
              <a:off x="3667800" y="2160782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79" name="Google Shape;579;p40"/>
          <p:cNvSpPr txBox="1"/>
          <p:nvPr/>
        </p:nvSpPr>
        <p:spPr>
          <a:xfrm>
            <a:off x="4819282" y="1298681"/>
            <a:ext cx="36030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RATINGS DISTRIBUTION</a:t>
            </a:r>
            <a:endParaRPr b="1" sz="2000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580" name="Google Shape;580;p40"/>
          <p:cNvSpPr txBox="1"/>
          <p:nvPr/>
        </p:nvSpPr>
        <p:spPr>
          <a:xfrm>
            <a:off x="4821025" y="1801556"/>
            <a:ext cx="5430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5 star</a:t>
            </a:r>
            <a:endParaRPr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1" name="Google Shape;581;p40"/>
          <p:cNvSpPr txBox="1"/>
          <p:nvPr/>
        </p:nvSpPr>
        <p:spPr>
          <a:xfrm>
            <a:off x="4821025" y="2398124"/>
            <a:ext cx="5430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3 </a:t>
            </a: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star</a:t>
            </a:r>
            <a:endParaRPr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2" name="Google Shape;582;p40"/>
          <p:cNvSpPr txBox="1"/>
          <p:nvPr/>
        </p:nvSpPr>
        <p:spPr>
          <a:xfrm>
            <a:off x="4821025" y="2099840"/>
            <a:ext cx="5430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4</a:t>
            </a: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star</a:t>
            </a:r>
            <a:endParaRPr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3" name="Google Shape;583;p40"/>
          <p:cNvSpPr/>
          <p:nvPr/>
        </p:nvSpPr>
        <p:spPr>
          <a:xfrm>
            <a:off x="5354105" y="1856740"/>
            <a:ext cx="2529000" cy="17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40"/>
          <p:cNvSpPr/>
          <p:nvPr/>
        </p:nvSpPr>
        <p:spPr>
          <a:xfrm>
            <a:off x="5354275" y="2155043"/>
            <a:ext cx="1416300" cy="17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0"/>
          <p:cNvSpPr/>
          <p:nvPr/>
        </p:nvSpPr>
        <p:spPr>
          <a:xfrm>
            <a:off x="5354222" y="2453321"/>
            <a:ext cx="660600" cy="17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0"/>
          <p:cNvSpPr txBox="1"/>
          <p:nvPr/>
        </p:nvSpPr>
        <p:spPr>
          <a:xfrm>
            <a:off x="7967225" y="1822559"/>
            <a:ext cx="4569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43.6</a:t>
            </a: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%</a:t>
            </a:r>
            <a:endParaRPr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7" name="Google Shape;587;p40"/>
          <p:cNvSpPr txBox="1"/>
          <p:nvPr/>
        </p:nvSpPr>
        <p:spPr>
          <a:xfrm>
            <a:off x="7967225" y="2419128"/>
            <a:ext cx="4569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12.0</a:t>
            </a: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%</a:t>
            </a:r>
            <a:endParaRPr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8" name="Google Shape;588;p40"/>
          <p:cNvSpPr txBox="1"/>
          <p:nvPr/>
        </p:nvSpPr>
        <p:spPr>
          <a:xfrm>
            <a:off x="7967225" y="2120844"/>
            <a:ext cx="4569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25.5</a:t>
            </a: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%</a:t>
            </a:r>
            <a:endParaRPr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9" name="Google Shape;589;p40"/>
          <p:cNvSpPr txBox="1"/>
          <p:nvPr/>
        </p:nvSpPr>
        <p:spPr>
          <a:xfrm>
            <a:off x="4821025" y="2696409"/>
            <a:ext cx="5430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2 </a:t>
            </a: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star</a:t>
            </a:r>
            <a:endParaRPr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90" name="Google Shape;590;p40"/>
          <p:cNvSpPr txBox="1"/>
          <p:nvPr/>
        </p:nvSpPr>
        <p:spPr>
          <a:xfrm>
            <a:off x="4821025" y="2994693"/>
            <a:ext cx="5430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1 </a:t>
            </a: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star</a:t>
            </a:r>
            <a:endParaRPr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91" name="Google Shape;591;p40"/>
          <p:cNvSpPr txBox="1"/>
          <p:nvPr/>
        </p:nvSpPr>
        <p:spPr>
          <a:xfrm>
            <a:off x="7967225" y="2717413"/>
            <a:ext cx="4569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8.2</a:t>
            </a: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%</a:t>
            </a:r>
            <a:endParaRPr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92" name="Google Shape;592;p40"/>
          <p:cNvSpPr txBox="1"/>
          <p:nvPr/>
        </p:nvSpPr>
        <p:spPr>
          <a:xfrm>
            <a:off x="7967225" y="3015697"/>
            <a:ext cx="4569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10.6</a:t>
            </a: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%</a:t>
            </a:r>
            <a:endParaRPr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93" name="Google Shape;593;p40"/>
          <p:cNvSpPr txBox="1"/>
          <p:nvPr/>
        </p:nvSpPr>
        <p:spPr>
          <a:xfrm>
            <a:off x="719995" y="1298681"/>
            <a:ext cx="36030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DATASET SCALE</a:t>
            </a:r>
            <a:endParaRPr b="1" sz="2000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594" name="Google Shape;594;p40"/>
          <p:cNvSpPr txBox="1"/>
          <p:nvPr/>
        </p:nvSpPr>
        <p:spPr>
          <a:xfrm>
            <a:off x="720000" y="3324955"/>
            <a:ext cx="3603000" cy="13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6060" lvl="0" marL="274320" marR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00"/>
              <a:buFont typeface="Anaheim"/>
              <a:buChar char="★"/>
            </a:pPr>
            <a:r>
              <a:rPr lang="en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5-core: every user and item has at least 5 interactions, converged after 6 passes</a:t>
            </a:r>
            <a:endParaRPr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226060" lvl="0" marL="274320" marR="50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1400"/>
              <a:buFont typeface="Anaheim"/>
              <a:buChar char="★"/>
            </a:pPr>
            <a:r>
              <a:rPr lang="en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11% of users and </a:t>
            </a:r>
            <a:r>
              <a:rPr lang="en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45% of reviews retained after filtering</a:t>
            </a:r>
            <a:endParaRPr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226060" lvl="0" marL="274320" marR="5080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990000"/>
              </a:buClr>
              <a:buSzPts val="1400"/>
              <a:buFont typeface="Anaheim"/>
              <a:buChar char="★"/>
            </a:pPr>
            <a:r>
              <a:rPr lang="en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Interaction density: 0.09% (sparse matrix)</a:t>
            </a:r>
            <a:endParaRPr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95" name="Google Shape;595;p40"/>
          <p:cNvSpPr txBox="1"/>
          <p:nvPr/>
        </p:nvSpPr>
        <p:spPr>
          <a:xfrm>
            <a:off x="4819275" y="3324955"/>
            <a:ext cx="3603000" cy="13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606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00"/>
              <a:buFont typeface="Anaheim"/>
              <a:buChar char="★"/>
            </a:pPr>
            <a:r>
              <a:rPr lang="en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69% of reviews are 4-5 stars → strong </a:t>
            </a:r>
            <a:r>
              <a:rPr lang="en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positivity</a:t>
            </a:r>
            <a:r>
              <a:rPr lang="en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 bias</a:t>
            </a:r>
            <a:endParaRPr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226060" lvl="0" marL="274320" marR="5080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990000"/>
              </a:buClr>
              <a:buSzPts val="1400"/>
              <a:buFont typeface="Anaheim"/>
              <a:buChar char="★"/>
            </a:pPr>
            <a:r>
              <a:rPr b="1" lang="en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Threshold for “relevant” set to 4+ stars in evaluation</a:t>
            </a:r>
            <a:endParaRPr b="1"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96" name="Google Shape;596;p40"/>
          <p:cNvSpPr/>
          <p:nvPr/>
        </p:nvSpPr>
        <p:spPr>
          <a:xfrm>
            <a:off x="5340315" y="3049903"/>
            <a:ext cx="611400" cy="17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40"/>
          <p:cNvSpPr/>
          <p:nvPr/>
        </p:nvSpPr>
        <p:spPr>
          <a:xfrm>
            <a:off x="5340300" y="2751599"/>
            <a:ext cx="543000" cy="17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1"/>
          <p:cNvSpPr txBox="1"/>
          <p:nvPr/>
        </p:nvSpPr>
        <p:spPr>
          <a:xfrm>
            <a:off x="720000" y="542977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372814"/>
                </a:solidFill>
                <a:latin typeface="Arvo"/>
                <a:ea typeface="Arvo"/>
                <a:cs typeface="Arvo"/>
                <a:sym typeface="Arvo"/>
              </a:rPr>
              <a:t>RESTAURANT</a:t>
            </a:r>
            <a:r>
              <a:rPr b="1" lang="en" sz="2800">
                <a:solidFill>
                  <a:srgbClr val="372814"/>
                </a:solidFill>
                <a:latin typeface="Arvo"/>
                <a:ea typeface="Arvo"/>
                <a:cs typeface="Arvo"/>
                <a:sym typeface="Arvo"/>
              </a:rPr>
              <a:t> CHARACTERISTICS</a:t>
            </a:r>
            <a:endParaRPr b="1" sz="2800">
              <a:solidFill>
                <a:srgbClr val="372814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603" name="Google Shape;603;p41"/>
          <p:cNvGrpSpPr/>
          <p:nvPr/>
        </p:nvGrpSpPr>
        <p:grpSpPr>
          <a:xfrm>
            <a:off x="720072" y="540000"/>
            <a:ext cx="7704093" cy="577207"/>
            <a:chOff x="3667800" y="1583575"/>
            <a:chExt cx="4756200" cy="577207"/>
          </a:xfrm>
        </p:grpSpPr>
        <p:cxnSp>
          <p:nvCxnSpPr>
            <p:cNvPr id="604" name="Google Shape;604;p41"/>
            <p:cNvCxnSpPr/>
            <p:nvPr/>
          </p:nvCxnSpPr>
          <p:spPr>
            <a:xfrm>
              <a:off x="3667800" y="1583575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5" name="Google Shape;605;p41"/>
            <p:cNvCxnSpPr/>
            <p:nvPr/>
          </p:nvCxnSpPr>
          <p:spPr>
            <a:xfrm>
              <a:off x="3667800" y="2160782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06" name="Google Shape;606;p41"/>
          <p:cNvSpPr txBox="1"/>
          <p:nvPr/>
        </p:nvSpPr>
        <p:spPr>
          <a:xfrm>
            <a:off x="720075" y="1298675"/>
            <a:ext cx="32661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PRICE RANGES</a:t>
            </a:r>
            <a:endParaRPr b="1" sz="2000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607" name="Google Shape;607;p41"/>
          <p:cNvSpPr txBox="1"/>
          <p:nvPr/>
        </p:nvSpPr>
        <p:spPr>
          <a:xfrm>
            <a:off x="4406101" y="1298675"/>
            <a:ext cx="40179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FEATURE AVAILABILITY</a:t>
            </a:r>
            <a:endParaRPr b="1" sz="2000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pic>
        <p:nvPicPr>
          <p:cNvPr id="608" name="Google Shape;608;p41"/>
          <p:cNvPicPr preferRelativeResize="0"/>
          <p:nvPr/>
        </p:nvPicPr>
        <p:blipFill rotWithShape="1">
          <a:blip r:embed="rId3">
            <a:alphaModFix/>
          </a:blip>
          <a:srcRect b="4158" l="1668" r="1890" t="1351"/>
          <a:stretch/>
        </p:blipFill>
        <p:spPr>
          <a:xfrm>
            <a:off x="4406175" y="1789472"/>
            <a:ext cx="4017776" cy="2725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41"/>
          <p:cNvPicPr preferRelativeResize="0"/>
          <p:nvPr/>
        </p:nvPicPr>
        <p:blipFill rotWithShape="1">
          <a:blip r:embed="rId4">
            <a:alphaModFix/>
          </a:blip>
          <a:srcRect b="0" l="2058" r="1751" t="5204"/>
          <a:stretch/>
        </p:blipFill>
        <p:spPr>
          <a:xfrm>
            <a:off x="721975" y="1789472"/>
            <a:ext cx="3266124" cy="242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2"/>
          <p:cNvSpPr txBox="1"/>
          <p:nvPr/>
        </p:nvSpPr>
        <p:spPr>
          <a:xfrm>
            <a:off x="720000" y="542977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372814"/>
                </a:solidFill>
                <a:latin typeface="Arvo"/>
                <a:ea typeface="Arvo"/>
                <a:cs typeface="Arvo"/>
                <a:sym typeface="Arvo"/>
              </a:rPr>
              <a:t>DATA CHALLENGES</a:t>
            </a:r>
            <a:endParaRPr b="1" sz="2800">
              <a:solidFill>
                <a:srgbClr val="372814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615" name="Google Shape;615;p42"/>
          <p:cNvGrpSpPr/>
          <p:nvPr/>
        </p:nvGrpSpPr>
        <p:grpSpPr>
          <a:xfrm>
            <a:off x="720072" y="540000"/>
            <a:ext cx="7704093" cy="577207"/>
            <a:chOff x="3667800" y="1583575"/>
            <a:chExt cx="4756200" cy="577207"/>
          </a:xfrm>
        </p:grpSpPr>
        <p:cxnSp>
          <p:nvCxnSpPr>
            <p:cNvPr id="616" name="Google Shape;616;p42"/>
            <p:cNvCxnSpPr/>
            <p:nvPr/>
          </p:nvCxnSpPr>
          <p:spPr>
            <a:xfrm>
              <a:off x="3667800" y="1583575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7" name="Google Shape;617;p42"/>
            <p:cNvCxnSpPr/>
            <p:nvPr/>
          </p:nvCxnSpPr>
          <p:spPr>
            <a:xfrm>
              <a:off x="3667800" y="2160782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rgbClr val="99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18" name="Google Shape;618;p42"/>
          <p:cNvSpPr txBox="1"/>
          <p:nvPr/>
        </p:nvSpPr>
        <p:spPr>
          <a:xfrm>
            <a:off x="5395381" y="1298675"/>
            <a:ext cx="30267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USER ACTIVITY (VAL)</a:t>
            </a:r>
            <a:endParaRPr b="1" sz="2000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619" name="Google Shape;619;p42"/>
          <p:cNvSpPr txBox="1"/>
          <p:nvPr/>
        </p:nvSpPr>
        <p:spPr>
          <a:xfrm>
            <a:off x="720000" y="1298675"/>
            <a:ext cx="42759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REVIEW VOLUME BY YEAR</a:t>
            </a:r>
            <a:endParaRPr b="1" sz="2000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620" name="Google Shape;620;p42"/>
          <p:cNvSpPr txBox="1"/>
          <p:nvPr/>
        </p:nvSpPr>
        <p:spPr>
          <a:xfrm>
            <a:off x="5395375" y="3576225"/>
            <a:ext cx="3026700" cy="7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6060" lvl="0" marL="27432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990000"/>
              </a:buClr>
              <a:buSzPts val="1400"/>
              <a:buFont typeface="Anaheim"/>
              <a:buChar char="★"/>
            </a:pPr>
            <a:r>
              <a:rPr lang="en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85% of val users have only 1-5 training interactions (cold-start)</a:t>
            </a:r>
            <a:endParaRPr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pic>
        <p:nvPicPr>
          <p:cNvPr id="621" name="Google Shape;621;p42"/>
          <p:cNvPicPr preferRelativeResize="0"/>
          <p:nvPr/>
        </p:nvPicPr>
        <p:blipFill rotWithShape="1">
          <a:blip r:embed="rId3">
            <a:alphaModFix/>
          </a:blip>
          <a:srcRect b="0" l="1575" r="0" t="0"/>
          <a:stretch/>
        </p:blipFill>
        <p:spPr>
          <a:xfrm>
            <a:off x="720000" y="1826610"/>
            <a:ext cx="4276000" cy="245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5375" y="1774125"/>
            <a:ext cx="2940025" cy="179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3"/>
          <p:cNvSpPr txBox="1"/>
          <p:nvPr>
            <p:ph type="title"/>
          </p:nvPr>
        </p:nvSpPr>
        <p:spPr>
          <a:xfrm>
            <a:off x="4153325" y="2393700"/>
            <a:ext cx="3856500" cy="13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</a:t>
            </a:r>
            <a:endParaRPr/>
          </a:p>
        </p:txBody>
      </p:sp>
      <p:sp>
        <p:nvSpPr>
          <p:cNvPr id="628" name="Google Shape;628;p43"/>
          <p:cNvSpPr txBox="1"/>
          <p:nvPr>
            <p:ph idx="2" type="title"/>
          </p:nvPr>
        </p:nvSpPr>
        <p:spPr>
          <a:xfrm>
            <a:off x="4153325" y="1551889"/>
            <a:ext cx="3251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04.</a:t>
            </a:r>
            <a:endParaRPr/>
          </a:p>
        </p:txBody>
      </p:sp>
      <p:grpSp>
        <p:nvGrpSpPr>
          <p:cNvPr id="629" name="Google Shape;629;p43"/>
          <p:cNvGrpSpPr/>
          <p:nvPr/>
        </p:nvGrpSpPr>
        <p:grpSpPr>
          <a:xfrm>
            <a:off x="4153325" y="1103551"/>
            <a:ext cx="3889378" cy="2666548"/>
            <a:chOff x="4153325" y="1039015"/>
            <a:chExt cx="3889378" cy="2666548"/>
          </a:xfrm>
        </p:grpSpPr>
        <p:cxnSp>
          <p:nvCxnSpPr>
            <p:cNvPr id="630" name="Google Shape;630;p43"/>
            <p:cNvCxnSpPr/>
            <p:nvPr/>
          </p:nvCxnSpPr>
          <p:spPr>
            <a:xfrm>
              <a:off x="4154099" y="3705563"/>
              <a:ext cx="38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31" name="Google Shape;631;p43"/>
            <p:cNvGrpSpPr/>
            <p:nvPr/>
          </p:nvGrpSpPr>
          <p:grpSpPr>
            <a:xfrm>
              <a:off x="4153325" y="1039015"/>
              <a:ext cx="3889378" cy="283322"/>
              <a:chOff x="4153325" y="1168827"/>
              <a:chExt cx="3889378" cy="283322"/>
            </a:xfrm>
          </p:grpSpPr>
          <p:cxnSp>
            <p:nvCxnSpPr>
              <p:cNvPr id="632" name="Google Shape;632;p43"/>
              <p:cNvCxnSpPr/>
              <p:nvPr/>
            </p:nvCxnSpPr>
            <p:spPr>
              <a:xfrm>
                <a:off x="4154099" y="1452149"/>
                <a:ext cx="38562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633" name="Google Shape;633;p43"/>
              <p:cNvGrpSpPr/>
              <p:nvPr/>
            </p:nvGrpSpPr>
            <p:grpSpPr>
              <a:xfrm>
                <a:off x="4153325" y="1168827"/>
                <a:ext cx="3889378" cy="198997"/>
                <a:chOff x="4534325" y="1013201"/>
                <a:chExt cx="3889378" cy="198997"/>
              </a:xfrm>
            </p:grpSpPr>
            <p:sp>
              <p:nvSpPr>
                <p:cNvPr id="634" name="Google Shape;634;p43"/>
                <p:cNvSpPr/>
                <p:nvPr/>
              </p:nvSpPr>
              <p:spPr>
                <a:xfrm>
                  <a:off x="453432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5" name="Google Shape;635;p43"/>
                <p:cNvSpPr/>
                <p:nvPr/>
              </p:nvSpPr>
              <p:spPr>
                <a:xfrm>
                  <a:off x="486890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6" name="Google Shape;636;p43"/>
                <p:cNvSpPr/>
                <p:nvPr/>
              </p:nvSpPr>
              <p:spPr>
                <a:xfrm>
                  <a:off x="520347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7" name="Google Shape;637;p43"/>
                <p:cNvSpPr/>
                <p:nvPr/>
              </p:nvSpPr>
              <p:spPr>
                <a:xfrm>
                  <a:off x="553805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8" name="Google Shape;638;p43"/>
                <p:cNvSpPr/>
                <p:nvPr/>
              </p:nvSpPr>
              <p:spPr>
                <a:xfrm>
                  <a:off x="587262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9" name="Google Shape;639;p43"/>
                <p:cNvSpPr/>
                <p:nvPr/>
              </p:nvSpPr>
              <p:spPr>
                <a:xfrm>
                  <a:off x="620720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0" name="Google Shape;640;p43"/>
                <p:cNvSpPr/>
                <p:nvPr/>
              </p:nvSpPr>
              <p:spPr>
                <a:xfrm>
                  <a:off x="654177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1" name="Google Shape;641;p43"/>
                <p:cNvSpPr/>
                <p:nvPr/>
              </p:nvSpPr>
              <p:spPr>
                <a:xfrm>
                  <a:off x="687635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2" name="Google Shape;642;p43"/>
                <p:cNvSpPr/>
                <p:nvPr/>
              </p:nvSpPr>
              <p:spPr>
                <a:xfrm>
                  <a:off x="721092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3" name="Google Shape;643;p43"/>
                <p:cNvSpPr/>
                <p:nvPr/>
              </p:nvSpPr>
              <p:spPr>
                <a:xfrm>
                  <a:off x="754550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4" name="Google Shape;644;p43"/>
                <p:cNvSpPr/>
                <p:nvPr/>
              </p:nvSpPr>
              <p:spPr>
                <a:xfrm>
                  <a:off x="788007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5" name="Google Shape;645;p43"/>
                <p:cNvSpPr/>
                <p:nvPr/>
              </p:nvSpPr>
              <p:spPr>
                <a:xfrm>
                  <a:off x="821465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pic>
        <p:nvPicPr>
          <p:cNvPr id="646" name="Google Shape;646;p43" title="Low code development-amic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900" y="1009062"/>
            <a:ext cx="2907625" cy="290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4"/>
          <p:cNvSpPr txBox="1"/>
          <p:nvPr>
            <p:ph type="title"/>
          </p:nvPr>
        </p:nvSpPr>
        <p:spPr>
          <a:xfrm>
            <a:off x="720000" y="542381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 AND SPLITS</a:t>
            </a:r>
            <a:endParaRPr/>
          </a:p>
        </p:txBody>
      </p:sp>
      <p:sp>
        <p:nvSpPr>
          <p:cNvPr id="652" name="Google Shape;652;p44"/>
          <p:cNvSpPr txBox="1"/>
          <p:nvPr/>
        </p:nvSpPr>
        <p:spPr>
          <a:xfrm>
            <a:off x="6713653" y="1837139"/>
            <a:ext cx="1686300" cy="6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Encode per split (fit on train only)</a:t>
            </a:r>
            <a:endParaRPr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653" name="Google Shape;653;p44"/>
          <p:cNvSpPr txBox="1"/>
          <p:nvPr/>
        </p:nvSpPr>
        <p:spPr>
          <a:xfrm>
            <a:off x="660317" y="1837139"/>
            <a:ext cx="1686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Raw CSVs (reviews, restaurants, users)</a:t>
            </a:r>
            <a:endParaRPr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654" name="Google Shape;654;p44"/>
          <p:cNvSpPr txBox="1"/>
          <p:nvPr/>
        </p:nvSpPr>
        <p:spPr>
          <a:xfrm>
            <a:off x="4707836" y="1837139"/>
            <a:ext cx="1686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Temporal split by timestamp</a:t>
            </a:r>
            <a:endParaRPr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655" name="Google Shape;655;p44"/>
          <p:cNvSpPr txBox="1"/>
          <p:nvPr/>
        </p:nvSpPr>
        <p:spPr>
          <a:xfrm>
            <a:off x="2702019" y="1837139"/>
            <a:ext cx="1686300" cy="6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5-core filter (iterative, 6 passes)</a:t>
            </a:r>
            <a:endParaRPr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grpSp>
        <p:nvGrpSpPr>
          <p:cNvPr id="656" name="Google Shape;656;p44"/>
          <p:cNvGrpSpPr/>
          <p:nvPr/>
        </p:nvGrpSpPr>
        <p:grpSpPr>
          <a:xfrm>
            <a:off x="720072" y="540000"/>
            <a:ext cx="7704093" cy="577207"/>
            <a:chOff x="3667800" y="1583575"/>
            <a:chExt cx="4756200" cy="577207"/>
          </a:xfrm>
        </p:grpSpPr>
        <p:cxnSp>
          <p:nvCxnSpPr>
            <p:cNvPr id="657" name="Google Shape;657;p44"/>
            <p:cNvCxnSpPr/>
            <p:nvPr/>
          </p:nvCxnSpPr>
          <p:spPr>
            <a:xfrm>
              <a:off x="3667800" y="1583575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8" name="Google Shape;658;p44"/>
            <p:cNvCxnSpPr/>
            <p:nvPr/>
          </p:nvCxnSpPr>
          <p:spPr>
            <a:xfrm>
              <a:off x="3667800" y="2160782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659" name="Google Shape;659;p44"/>
          <p:cNvGraphicFramePr/>
          <p:nvPr/>
        </p:nvGraphicFramePr>
        <p:xfrm>
          <a:off x="720000" y="30177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{E35B0E34-53BF-40CA-B9C7-51939CC34792}</a:tableStyleId>
              </a:tblPr>
              <a:tblGrid>
                <a:gridCol w="1175500"/>
                <a:gridCol w="751500"/>
                <a:gridCol w="1151375"/>
                <a:gridCol w="1301875"/>
              </a:tblGrid>
              <a:tr h="35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dk1"/>
                        </a:solidFill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Rows</a:t>
                      </a:r>
                      <a:endParaRPr b="1" sz="1300">
                        <a:solidFill>
                          <a:schemeClr val="dk1"/>
                        </a:solidFill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% of 5-C</a:t>
                      </a:r>
                      <a:r>
                        <a:rPr b="1" lang="en" sz="1300">
                          <a:solidFill>
                            <a:schemeClr val="dk1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ore</a:t>
                      </a:r>
                      <a:endParaRPr b="1" sz="1300">
                        <a:solidFill>
                          <a:schemeClr val="dk1"/>
                        </a:solidFill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Cold-Start</a:t>
                      </a:r>
                      <a:endParaRPr b="1" sz="1300">
                        <a:solidFill>
                          <a:schemeClr val="dk1"/>
                        </a:solidFill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Train</a:t>
                      </a:r>
                      <a:endParaRPr b="1" sz="1300">
                        <a:solidFill>
                          <a:schemeClr val="dk1"/>
                        </a:solidFill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837K</a:t>
                      </a:r>
                      <a:endParaRPr b="1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T="0" marB="0" marR="91425" marL="0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80%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N/A (reference)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Validation</a:t>
                      </a:r>
                      <a:endParaRPr b="1" sz="1300">
                        <a:solidFill>
                          <a:schemeClr val="dk1"/>
                        </a:solidFill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73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K</a:t>
                      </a:r>
                      <a:endParaRPr b="1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T="0" marB="0" marR="91425" marL="0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10%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30% removed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Test</a:t>
                      </a:r>
                      <a:endParaRPr b="1" sz="1300">
                        <a:solidFill>
                          <a:schemeClr val="dk1"/>
                        </a:solidFill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55K</a:t>
                      </a:r>
                      <a:endParaRPr b="1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T="0" marB="0" marR="91425" marL="0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10%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47% removed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60" name="Google Shape;660;p44"/>
          <p:cNvSpPr txBox="1"/>
          <p:nvPr/>
        </p:nvSpPr>
        <p:spPr>
          <a:xfrm>
            <a:off x="720000" y="2545375"/>
            <a:ext cx="4380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SPLIT SIZES AFTER COLD-START</a:t>
            </a:r>
            <a:endParaRPr b="1" sz="2000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661" name="Google Shape;661;p44"/>
          <p:cNvSpPr/>
          <p:nvPr/>
        </p:nvSpPr>
        <p:spPr>
          <a:xfrm>
            <a:off x="2726778" y="1437798"/>
            <a:ext cx="1686300" cy="378900"/>
          </a:xfrm>
          <a:prstGeom prst="chevron">
            <a:avLst>
              <a:gd fmla="val 50000" name="adj"/>
            </a:avLst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662" name="Google Shape;662;p44"/>
          <p:cNvSpPr txBox="1"/>
          <p:nvPr/>
        </p:nvSpPr>
        <p:spPr>
          <a:xfrm>
            <a:off x="2943210" y="1520725"/>
            <a:ext cx="12039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>
                <a:solidFill>
                  <a:schemeClr val="lt1"/>
                </a:solidFill>
                <a:latin typeface="Arvo"/>
                <a:ea typeface="Arvo"/>
                <a:cs typeface="Arvo"/>
                <a:sym typeface="Arvo"/>
              </a:rPr>
              <a:t>STEP 2</a:t>
            </a:r>
            <a:endParaRPr b="1">
              <a:solidFill>
                <a:schemeClr val="lt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663" name="Google Shape;663;p44"/>
          <p:cNvSpPr/>
          <p:nvPr/>
        </p:nvSpPr>
        <p:spPr>
          <a:xfrm>
            <a:off x="4731769" y="1437798"/>
            <a:ext cx="1686300" cy="378900"/>
          </a:xfrm>
          <a:prstGeom prst="chevron">
            <a:avLst>
              <a:gd fmla="val 50000" name="adj"/>
            </a:avLst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664" name="Google Shape;664;p44"/>
          <p:cNvSpPr txBox="1"/>
          <p:nvPr/>
        </p:nvSpPr>
        <p:spPr>
          <a:xfrm>
            <a:off x="4948198" y="1520725"/>
            <a:ext cx="12039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>
                <a:solidFill>
                  <a:schemeClr val="lt1"/>
                </a:solidFill>
                <a:latin typeface="Arvo"/>
                <a:ea typeface="Arvo"/>
                <a:cs typeface="Arvo"/>
                <a:sym typeface="Arvo"/>
              </a:rPr>
              <a:t>STEP 3</a:t>
            </a:r>
            <a:endParaRPr b="1">
              <a:solidFill>
                <a:schemeClr val="lt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665" name="Google Shape;665;p44"/>
          <p:cNvSpPr/>
          <p:nvPr/>
        </p:nvSpPr>
        <p:spPr>
          <a:xfrm>
            <a:off x="6736772" y="1437798"/>
            <a:ext cx="1686300" cy="378900"/>
          </a:xfrm>
          <a:prstGeom prst="chevron">
            <a:avLst>
              <a:gd fmla="val 50000" name="adj"/>
            </a:avLst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666" name="Google Shape;666;p44"/>
          <p:cNvSpPr txBox="1"/>
          <p:nvPr/>
        </p:nvSpPr>
        <p:spPr>
          <a:xfrm>
            <a:off x="6953198" y="1520725"/>
            <a:ext cx="12039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>
                <a:solidFill>
                  <a:schemeClr val="lt1"/>
                </a:solidFill>
                <a:latin typeface="Arvo"/>
                <a:ea typeface="Arvo"/>
                <a:cs typeface="Arvo"/>
                <a:sym typeface="Arvo"/>
              </a:rPr>
              <a:t>STEP 4</a:t>
            </a:r>
            <a:endParaRPr b="1">
              <a:solidFill>
                <a:schemeClr val="lt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667" name="Google Shape;667;p44"/>
          <p:cNvSpPr/>
          <p:nvPr/>
        </p:nvSpPr>
        <p:spPr>
          <a:xfrm>
            <a:off x="720150" y="1437811"/>
            <a:ext cx="1686300" cy="3789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668" name="Google Shape;668;p44"/>
          <p:cNvSpPr txBox="1"/>
          <p:nvPr/>
        </p:nvSpPr>
        <p:spPr>
          <a:xfrm>
            <a:off x="904025" y="1520725"/>
            <a:ext cx="12039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>
                <a:solidFill>
                  <a:schemeClr val="lt1"/>
                </a:solidFill>
                <a:latin typeface="Arvo"/>
                <a:ea typeface="Arvo"/>
                <a:cs typeface="Arvo"/>
                <a:sym typeface="Arvo"/>
              </a:rPr>
              <a:t>STEP 1</a:t>
            </a:r>
            <a:endParaRPr b="1">
              <a:solidFill>
                <a:schemeClr val="lt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669" name="Google Shape;669;p44"/>
          <p:cNvSpPr txBox="1"/>
          <p:nvPr/>
        </p:nvSpPr>
        <p:spPr>
          <a:xfrm>
            <a:off x="5432425" y="2772675"/>
            <a:ext cx="2991600" cy="17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606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00"/>
              <a:buFont typeface="Anaheim"/>
              <a:buChar char="★"/>
            </a:pPr>
            <a:r>
              <a:rPr lang="en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Split by timestamp (not random) to prevent future-data leakage</a:t>
            </a:r>
            <a:endParaRPr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226060" lvl="0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1400"/>
              <a:buFont typeface="Anaheim"/>
              <a:buChar char="★"/>
            </a:pPr>
            <a:r>
              <a:rPr lang="en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Cold-start: interactions removed where user or item unseen in train</a:t>
            </a:r>
            <a:endParaRPr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226060" lvl="0" marL="27432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990000"/>
              </a:buClr>
              <a:buSzPts val="1400"/>
              <a:buFont typeface="Anaheim"/>
              <a:buChar char="★"/>
            </a:pPr>
            <a:r>
              <a:rPr lang="en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Higher test removal reflects COVID period - many new users / inactive restaurants</a:t>
            </a:r>
            <a:endParaRPr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5"/>
          <p:cNvSpPr txBox="1"/>
          <p:nvPr>
            <p:ph type="title"/>
          </p:nvPr>
        </p:nvSpPr>
        <p:spPr>
          <a:xfrm>
            <a:off x="720000" y="542381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ENCODING </a:t>
            </a:r>
            <a:r>
              <a:rPr lang="en"/>
              <a:t>BY FEATURE TYPE</a:t>
            </a:r>
            <a:endParaRPr/>
          </a:p>
        </p:txBody>
      </p:sp>
      <p:grpSp>
        <p:nvGrpSpPr>
          <p:cNvPr id="675" name="Google Shape;675;p45"/>
          <p:cNvGrpSpPr/>
          <p:nvPr/>
        </p:nvGrpSpPr>
        <p:grpSpPr>
          <a:xfrm>
            <a:off x="720072" y="540000"/>
            <a:ext cx="7704093" cy="577207"/>
            <a:chOff x="3667800" y="1583575"/>
            <a:chExt cx="4756200" cy="577207"/>
          </a:xfrm>
        </p:grpSpPr>
        <p:cxnSp>
          <p:nvCxnSpPr>
            <p:cNvPr id="676" name="Google Shape;676;p45"/>
            <p:cNvCxnSpPr/>
            <p:nvPr/>
          </p:nvCxnSpPr>
          <p:spPr>
            <a:xfrm>
              <a:off x="3667800" y="1583575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7" name="Google Shape;677;p45"/>
            <p:cNvCxnSpPr/>
            <p:nvPr/>
          </p:nvCxnSpPr>
          <p:spPr>
            <a:xfrm>
              <a:off x="3667800" y="2160782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678" name="Google Shape;678;p45"/>
          <p:cNvGraphicFramePr/>
          <p:nvPr/>
        </p:nvGraphicFramePr>
        <p:xfrm>
          <a:off x="720013" y="12376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{E35B0E34-53BF-40CA-B9C7-51939CC34792}</a:tableStyleId>
              </a:tblPr>
              <a:tblGrid>
                <a:gridCol w="1239650"/>
                <a:gridCol w="812250"/>
                <a:gridCol w="2044800"/>
                <a:gridCol w="3607275"/>
              </a:tblGrid>
              <a:tr h="334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dk1"/>
                        </a:solidFill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0" marB="0" marR="45700" marL="45700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Count</a:t>
                      </a:r>
                      <a:endParaRPr b="1" sz="1300">
                        <a:solidFill>
                          <a:schemeClr val="dk1"/>
                        </a:solidFill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0" marB="0" marR="45700" marL="45700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Method</a:t>
                      </a:r>
                      <a:endParaRPr b="1" sz="1300">
                        <a:solidFill>
                          <a:schemeClr val="dk1"/>
                        </a:solidFill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0" marB="0" marR="45700" marL="45700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Examples</a:t>
                      </a:r>
                      <a:endParaRPr b="1" sz="1300">
                        <a:solidFill>
                          <a:schemeClr val="dk1"/>
                        </a:solidFill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0" marB="0" marR="45700" marL="45700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IDs</a:t>
                      </a:r>
                      <a:endParaRPr b="1" sz="1300">
                        <a:solidFill>
                          <a:schemeClr val="dk1"/>
                        </a:solidFill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0" marB="0" marR="45700" marL="45700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2</a:t>
                      </a:r>
                      <a:endParaRPr b="1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T="0" marB="0" marR="45700" marL="45700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Not encoded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45700" marL="45700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user_id, business_id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45700" marL="45700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Numeric</a:t>
                      </a:r>
                      <a:endParaRPr b="1" sz="1300">
                        <a:solidFill>
                          <a:schemeClr val="dk1"/>
                        </a:solidFill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0" marB="0" marR="45700" marL="45700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8</a:t>
                      </a:r>
                      <a:endParaRPr b="1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T="0" marB="0" marR="45700" marL="45700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Log1p + MinMaxScaler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45700" marL="45700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review_count, avg_stars, price_range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45700" marL="45700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Boolean</a:t>
                      </a:r>
                      <a:endParaRPr b="1" sz="1300">
                        <a:solidFill>
                          <a:schemeClr val="dk1"/>
                        </a:solidFill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0" marB="0" marR="45700" marL="45700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7</a:t>
                      </a:r>
                      <a:endParaRPr b="1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T="0" marB="0" marR="45700" marL="45700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True=1, False=0, NaN=-1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45700" marL="45700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is_open, delivery, outdoor_seating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45700" marL="45700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Categorical</a:t>
                      </a:r>
                      <a:endParaRPr b="1" sz="1300">
                        <a:solidFill>
                          <a:schemeClr val="dk1"/>
                        </a:solidFill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0" marB="0" marR="45700" marL="45700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317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45700" marL="45700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OneHotEncoder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45700" marL="45700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city, wifi, alcohol, noise_level, primary_cuisine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45700" marL="45700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79" name="Google Shape;679;p45"/>
          <p:cNvSpPr txBox="1"/>
          <p:nvPr/>
        </p:nvSpPr>
        <p:spPr>
          <a:xfrm>
            <a:off x="719988" y="3136082"/>
            <a:ext cx="7704000" cy="14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332 total model</a:t>
            </a:r>
            <a:r>
              <a:rPr i="1"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features (IDs excluded, used only as join keys not model inputs)</a:t>
            </a:r>
            <a:endParaRPr i="1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226060" lvl="0" marL="27432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90000"/>
              </a:buClr>
              <a:buSzPts val="1400"/>
              <a:buFont typeface="Anaheim"/>
              <a:buChar char="★"/>
            </a:pPr>
            <a:r>
              <a:rPr b="1"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Data Transformation</a:t>
            </a: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: </a:t>
            </a:r>
            <a:r>
              <a:rPr lang="en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Log1p on right-skewed numeric: review_count, fans, useful</a:t>
            </a:r>
            <a:endParaRPr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226060" lvl="0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1400"/>
              <a:buFont typeface="Anaheim"/>
              <a:buChar char="★"/>
            </a:pPr>
            <a:r>
              <a:rPr b="1"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Missing Data</a:t>
            </a: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: </a:t>
            </a:r>
            <a:r>
              <a:rPr lang="en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NaN encoded as -1 to distinguishes from false</a:t>
            </a:r>
            <a:endParaRPr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226060" lvl="0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1400"/>
              <a:buFont typeface="Anaheim"/>
              <a:buChar char="★"/>
            </a:pPr>
            <a:r>
              <a:rPr b="1"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Scaler</a:t>
            </a: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: MinMaxScaler fit on train; val/test transformed with same parameters</a:t>
            </a:r>
            <a:endParaRPr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226060" lvl="0" marL="27432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990000"/>
              </a:buClr>
              <a:buSzPts val="1400"/>
              <a:buFont typeface="Anaheim"/>
              <a:buChar char="★"/>
            </a:pPr>
            <a:r>
              <a:rPr b="1"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account_age_years</a:t>
            </a: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: derived from yelping_since (years since user joined Yelp)</a:t>
            </a:r>
            <a:endParaRPr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46"/>
          <p:cNvSpPr txBox="1"/>
          <p:nvPr>
            <p:ph type="title"/>
          </p:nvPr>
        </p:nvSpPr>
        <p:spPr>
          <a:xfrm>
            <a:off x="4153325" y="2393700"/>
            <a:ext cx="3856500" cy="13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APPROACHES</a:t>
            </a:r>
            <a:endParaRPr/>
          </a:p>
        </p:txBody>
      </p:sp>
      <p:sp>
        <p:nvSpPr>
          <p:cNvPr id="685" name="Google Shape;685;p46"/>
          <p:cNvSpPr txBox="1"/>
          <p:nvPr>
            <p:ph idx="2" type="title"/>
          </p:nvPr>
        </p:nvSpPr>
        <p:spPr>
          <a:xfrm>
            <a:off x="4153325" y="1551889"/>
            <a:ext cx="3251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05.</a:t>
            </a:r>
            <a:endParaRPr/>
          </a:p>
        </p:txBody>
      </p:sp>
      <p:grpSp>
        <p:nvGrpSpPr>
          <p:cNvPr id="686" name="Google Shape;686;p46"/>
          <p:cNvGrpSpPr/>
          <p:nvPr/>
        </p:nvGrpSpPr>
        <p:grpSpPr>
          <a:xfrm>
            <a:off x="4153325" y="1103551"/>
            <a:ext cx="3889378" cy="2666548"/>
            <a:chOff x="4153325" y="1039015"/>
            <a:chExt cx="3889378" cy="2666548"/>
          </a:xfrm>
        </p:grpSpPr>
        <p:cxnSp>
          <p:nvCxnSpPr>
            <p:cNvPr id="687" name="Google Shape;687;p46"/>
            <p:cNvCxnSpPr/>
            <p:nvPr/>
          </p:nvCxnSpPr>
          <p:spPr>
            <a:xfrm>
              <a:off x="4154099" y="3705563"/>
              <a:ext cx="38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88" name="Google Shape;688;p46"/>
            <p:cNvGrpSpPr/>
            <p:nvPr/>
          </p:nvGrpSpPr>
          <p:grpSpPr>
            <a:xfrm>
              <a:off x="4153325" y="1039015"/>
              <a:ext cx="3889378" cy="283322"/>
              <a:chOff x="4153325" y="1168827"/>
              <a:chExt cx="3889378" cy="283322"/>
            </a:xfrm>
          </p:grpSpPr>
          <p:cxnSp>
            <p:nvCxnSpPr>
              <p:cNvPr id="689" name="Google Shape;689;p46"/>
              <p:cNvCxnSpPr/>
              <p:nvPr/>
            </p:nvCxnSpPr>
            <p:spPr>
              <a:xfrm>
                <a:off x="4154099" y="1452149"/>
                <a:ext cx="38562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690" name="Google Shape;690;p46"/>
              <p:cNvGrpSpPr/>
              <p:nvPr/>
            </p:nvGrpSpPr>
            <p:grpSpPr>
              <a:xfrm>
                <a:off x="4153325" y="1168827"/>
                <a:ext cx="3889378" cy="198997"/>
                <a:chOff x="4534325" y="1013201"/>
                <a:chExt cx="3889378" cy="198997"/>
              </a:xfrm>
            </p:grpSpPr>
            <p:sp>
              <p:nvSpPr>
                <p:cNvPr id="691" name="Google Shape;691;p46"/>
                <p:cNvSpPr/>
                <p:nvPr/>
              </p:nvSpPr>
              <p:spPr>
                <a:xfrm>
                  <a:off x="453432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2" name="Google Shape;692;p46"/>
                <p:cNvSpPr/>
                <p:nvPr/>
              </p:nvSpPr>
              <p:spPr>
                <a:xfrm>
                  <a:off x="486890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3" name="Google Shape;693;p46"/>
                <p:cNvSpPr/>
                <p:nvPr/>
              </p:nvSpPr>
              <p:spPr>
                <a:xfrm>
                  <a:off x="520347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4" name="Google Shape;694;p46"/>
                <p:cNvSpPr/>
                <p:nvPr/>
              </p:nvSpPr>
              <p:spPr>
                <a:xfrm>
                  <a:off x="553805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5" name="Google Shape;695;p46"/>
                <p:cNvSpPr/>
                <p:nvPr/>
              </p:nvSpPr>
              <p:spPr>
                <a:xfrm>
                  <a:off x="587262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6" name="Google Shape;696;p46"/>
                <p:cNvSpPr/>
                <p:nvPr/>
              </p:nvSpPr>
              <p:spPr>
                <a:xfrm>
                  <a:off x="620720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7" name="Google Shape;697;p46"/>
                <p:cNvSpPr/>
                <p:nvPr/>
              </p:nvSpPr>
              <p:spPr>
                <a:xfrm>
                  <a:off x="654177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8" name="Google Shape;698;p46"/>
                <p:cNvSpPr/>
                <p:nvPr/>
              </p:nvSpPr>
              <p:spPr>
                <a:xfrm>
                  <a:off x="687635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9" name="Google Shape;699;p46"/>
                <p:cNvSpPr/>
                <p:nvPr/>
              </p:nvSpPr>
              <p:spPr>
                <a:xfrm>
                  <a:off x="721092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0" name="Google Shape;700;p46"/>
                <p:cNvSpPr/>
                <p:nvPr/>
              </p:nvSpPr>
              <p:spPr>
                <a:xfrm>
                  <a:off x="754550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1" name="Google Shape;701;p46"/>
                <p:cNvSpPr/>
                <p:nvPr/>
              </p:nvSpPr>
              <p:spPr>
                <a:xfrm>
                  <a:off x="788007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2" name="Google Shape;702;p46"/>
                <p:cNvSpPr/>
                <p:nvPr/>
              </p:nvSpPr>
              <p:spPr>
                <a:xfrm>
                  <a:off x="821465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pic>
        <p:nvPicPr>
          <p:cNvPr id="703" name="Google Shape;703;p46" title="Mind map-rafik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950" y="561584"/>
            <a:ext cx="3936375" cy="393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7"/>
          <p:cNvSpPr txBox="1"/>
          <p:nvPr>
            <p:ph type="title"/>
          </p:nvPr>
        </p:nvSpPr>
        <p:spPr>
          <a:xfrm>
            <a:off x="720000" y="542381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 Models</a:t>
            </a:r>
            <a:endParaRPr/>
          </a:p>
        </p:txBody>
      </p:sp>
      <p:grpSp>
        <p:nvGrpSpPr>
          <p:cNvPr id="709" name="Google Shape;709;p47"/>
          <p:cNvGrpSpPr/>
          <p:nvPr/>
        </p:nvGrpSpPr>
        <p:grpSpPr>
          <a:xfrm>
            <a:off x="720072" y="540000"/>
            <a:ext cx="7704093" cy="577207"/>
            <a:chOff x="3667800" y="1583575"/>
            <a:chExt cx="4756200" cy="577207"/>
          </a:xfrm>
        </p:grpSpPr>
        <p:cxnSp>
          <p:nvCxnSpPr>
            <p:cNvPr id="710" name="Google Shape;710;p47"/>
            <p:cNvCxnSpPr/>
            <p:nvPr/>
          </p:nvCxnSpPr>
          <p:spPr>
            <a:xfrm>
              <a:off x="3667800" y="1583575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1" name="Google Shape;711;p47"/>
            <p:cNvCxnSpPr/>
            <p:nvPr/>
          </p:nvCxnSpPr>
          <p:spPr>
            <a:xfrm>
              <a:off x="3667800" y="2160782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12" name="Google Shape;712;p47"/>
          <p:cNvSpPr txBox="1"/>
          <p:nvPr/>
        </p:nvSpPr>
        <p:spPr>
          <a:xfrm>
            <a:off x="721925" y="1720993"/>
            <a:ext cx="3835500" cy="29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606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00"/>
              <a:buFont typeface="Anaheim"/>
              <a:buChar char="★"/>
            </a:pPr>
            <a:r>
              <a:rPr b="1" lang="en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Interaction between users and restaurants</a:t>
            </a:r>
            <a:endParaRPr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232410" lvl="0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1500"/>
              <a:buFont typeface="Anaheim"/>
              <a:buChar char="★"/>
            </a:pP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Recommends restaurants similar to ones a user has already rated highly by </a:t>
            </a:r>
            <a:r>
              <a:rPr b="1"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computing cosine similarities</a:t>
            </a: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of each unrated restaurant to all rated ones. </a:t>
            </a:r>
            <a:endParaRPr sz="1500"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713" name="Google Shape;713;p47"/>
          <p:cNvSpPr txBox="1"/>
          <p:nvPr/>
        </p:nvSpPr>
        <p:spPr>
          <a:xfrm>
            <a:off x="845400" y="3936900"/>
            <a:ext cx="74532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3241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500"/>
              <a:buFont typeface="Anaheim"/>
              <a:buChar char="★"/>
            </a:pPr>
            <a:r>
              <a:rPr lang="en" sz="1500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Interaction matrix is 0.016% dense - </a:t>
            </a:r>
            <a:r>
              <a:rPr b="1" lang="en" sz="1500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CF alone cannot generalize to cold-start users</a:t>
            </a:r>
            <a:endParaRPr b="1" sz="1500"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232410" lvl="0" marL="27432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990000"/>
              </a:buClr>
              <a:buSzPts val="1500"/>
              <a:buFont typeface="Anaheim"/>
              <a:buChar char="★"/>
            </a:pPr>
            <a:r>
              <a:rPr lang="en" sz="1500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Challenging when </a:t>
            </a:r>
            <a:r>
              <a:rPr lang="en" sz="1500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most user pairs share zero or one restaurant in common</a:t>
            </a:r>
            <a:endParaRPr sz="1500"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714" name="Google Shape;714;p47"/>
          <p:cNvSpPr txBox="1"/>
          <p:nvPr/>
        </p:nvSpPr>
        <p:spPr>
          <a:xfrm>
            <a:off x="720075" y="1310652"/>
            <a:ext cx="38355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Item-Item CF</a:t>
            </a:r>
            <a:endParaRPr b="1" sz="2000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715" name="Google Shape;715;p47"/>
          <p:cNvSpPr txBox="1"/>
          <p:nvPr/>
        </p:nvSpPr>
        <p:spPr>
          <a:xfrm>
            <a:off x="4784030" y="1310652"/>
            <a:ext cx="3567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User-User CF</a:t>
            </a:r>
            <a:endParaRPr b="1" sz="2000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716" name="Google Shape;716;p47"/>
          <p:cNvSpPr txBox="1"/>
          <p:nvPr/>
        </p:nvSpPr>
        <p:spPr>
          <a:xfrm>
            <a:off x="4856600" y="1720992"/>
            <a:ext cx="35673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6060" lvl="0" marL="27432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naheim"/>
              <a:buChar char="★"/>
            </a:pPr>
            <a:r>
              <a:rPr b="1"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Similarities among users’ ratings</a:t>
            </a:r>
            <a:endParaRPr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226060" lvl="0" marL="27432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990000"/>
              </a:buClr>
              <a:buSzPts val="1400"/>
              <a:buFont typeface="Anaheim"/>
              <a:buChar char="★"/>
            </a:pP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finds users with similar rating histories and recommends what those neighbors enjoyed using </a:t>
            </a:r>
            <a:r>
              <a:rPr b="1"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K Nearest Neighbor</a:t>
            </a: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endParaRPr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48"/>
          <p:cNvSpPr txBox="1"/>
          <p:nvPr>
            <p:ph type="title"/>
          </p:nvPr>
        </p:nvSpPr>
        <p:spPr>
          <a:xfrm>
            <a:off x="720000" y="542381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Models</a:t>
            </a:r>
            <a:endParaRPr/>
          </a:p>
        </p:txBody>
      </p:sp>
      <p:grpSp>
        <p:nvGrpSpPr>
          <p:cNvPr id="722" name="Google Shape;722;p48"/>
          <p:cNvGrpSpPr/>
          <p:nvPr/>
        </p:nvGrpSpPr>
        <p:grpSpPr>
          <a:xfrm>
            <a:off x="720072" y="540000"/>
            <a:ext cx="7704093" cy="577207"/>
            <a:chOff x="3667800" y="1583575"/>
            <a:chExt cx="4756200" cy="577207"/>
          </a:xfrm>
        </p:grpSpPr>
        <p:cxnSp>
          <p:nvCxnSpPr>
            <p:cNvPr id="723" name="Google Shape;723;p48"/>
            <p:cNvCxnSpPr/>
            <p:nvPr/>
          </p:nvCxnSpPr>
          <p:spPr>
            <a:xfrm>
              <a:off x="3667800" y="1583575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4" name="Google Shape;724;p48"/>
            <p:cNvCxnSpPr/>
            <p:nvPr/>
          </p:nvCxnSpPr>
          <p:spPr>
            <a:xfrm>
              <a:off x="3667800" y="2160782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25" name="Google Shape;725;p48"/>
          <p:cNvSpPr txBox="1"/>
          <p:nvPr/>
        </p:nvSpPr>
        <p:spPr>
          <a:xfrm>
            <a:off x="720075" y="1712250"/>
            <a:ext cx="3835500" cy="12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226060" lvl="0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1400"/>
              <a:buFont typeface="Anaheim"/>
              <a:buChar char="★"/>
            </a:pPr>
            <a:r>
              <a:rPr b="1" lang="en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user–item interaction matrix combined with content features </a:t>
            </a:r>
            <a:r>
              <a:rPr lang="en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(cuisine, price, parking, etc.)</a:t>
            </a:r>
            <a:endParaRPr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726" name="Google Shape;726;p48"/>
          <p:cNvSpPr txBox="1"/>
          <p:nvPr/>
        </p:nvSpPr>
        <p:spPr>
          <a:xfrm>
            <a:off x="660425" y="3563700"/>
            <a:ext cx="79224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Both includes </a:t>
            </a:r>
            <a:r>
              <a:rPr b="1" lang="en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Content Features, </a:t>
            </a:r>
            <a:r>
              <a:rPr lang="en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evaluated based on </a:t>
            </a:r>
            <a:r>
              <a:rPr b="1" lang="en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Bayesian </a:t>
            </a:r>
            <a:r>
              <a:rPr b="1" lang="en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Personalized</a:t>
            </a:r>
            <a:r>
              <a:rPr b="1" lang="en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 ranking</a:t>
            </a:r>
            <a:endParaRPr b="1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727" name="Google Shape;727;p48"/>
          <p:cNvSpPr txBox="1"/>
          <p:nvPr/>
        </p:nvSpPr>
        <p:spPr>
          <a:xfrm>
            <a:off x="720075" y="3985150"/>
            <a:ext cx="79758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6060" lvl="0" marL="27432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990000"/>
              </a:buClr>
              <a:buSzPts val="1400"/>
              <a:buFont typeface="Anaheim"/>
              <a:buChar char="★"/>
            </a:pPr>
            <a:r>
              <a:rPr lang="en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FM/Light GCN use item and user features to bridge the sparsity gap using </a:t>
            </a: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full 308 item + user features</a:t>
            </a:r>
            <a:endParaRPr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728" name="Google Shape;728;p48"/>
          <p:cNvSpPr txBox="1"/>
          <p:nvPr/>
        </p:nvSpPr>
        <p:spPr>
          <a:xfrm>
            <a:off x="4644930" y="1409927"/>
            <a:ext cx="3567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Light Graph Convolution Network</a:t>
            </a:r>
            <a:endParaRPr b="1" sz="2000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729" name="Google Shape;729;p48"/>
          <p:cNvSpPr txBox="1"/>
          <p:nvPr/>
        </p:nvSpPr>
        <p:spPr>
          <a:xfrm>
            <a:off x="4644925" y="1712242"/>
            <a:ext cx="35673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226060" lvl="0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1400"/>
              <a:buFont typeface="Anaheim"/>
              <a:buChar char="★"/>
            </a:pP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Treats</a:t>
            </a:r>
            <a:r>
              <a:rPr b="1"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en" sz="13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the entire dataset as a bipartite graph. </a:t>
            </a:r>
            <a:endParaRPr b="1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226060" lvl="0" marL="27432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990000"/>
              </a:buClr>
              <a:buSzPts val="1400"/>
              <a:buFont typeface="Anaheim"/>
              <a:buChar char="★"/>
            </a:pPr>
            <a:r>
              <a:rPr b="1" lang="en" sz="13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Users and restaurants are nodes, reviews are edges</a:t>
            </a:r>
            <a:r>
              <a:rPr lang="en" sz="13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, and propagates preference signals across the network.</a:t>
            </a:r>
            <a:endParaRPr b="1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730" name="Google Shape;730;p48"/>
          <p:cNvSpPr txBox="1"/>
          <p:nvPr>
            <p:ph idx="4294967295" type="title"/>
          </p:nvPr>
        </p:nvSpPr>
        <p:spPr>
          <a:xfrm>
            <a:off x="660425" y="1380963"/>
            <a:ext cx="38196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Hybrid Factorization Machine</a:t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9"/>
          <p:cNvSpPr txBox="1"/>
          <p:nvPr>
            <p:ph type="title"/>
          </p:nvPr>
        </p:nvSpPr>
        <p:spPr>
          <a:xfrm>
            <a:off x="4153325" y="2393700"/>
            <a:ext cx="3856500" cy="13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SELECTION</a:t>
            </a:r>
            <a:endParaRPr/>
          </a:p>
        </p:txBody>
      </p:sp>
      <p:sp>
        <p:nvSpPr>
          <p:cNvPr id="736" name="Google Shape;736;p49"/>
          <p:cNvSpPr txBox="1"/>
          <p:nvPr>
            <p:ph idx="2" type="title"/>
          </p:nvPr>
        </p:nvSpPr>
        <p:spPr>
          <a:xfrm>
            <a:off x="4153325" y="1551889"/>
            <a:ext cx="3251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06.</a:t>
            </a:r>
            <a:endParaRPr/>
          </a:p>
        </p:txBody>
      </p:sp>
      <p:grpSp>
        <p:nvGrpSpPr>
          <p:cNvPr id="737" name="Google Shape;737;p49"/>
          <p:cNvGrpSpPr/>
          <p:nvPr/>
        </p:nvGrpSpPr>
        <p:grpSpPr>
          <a:xfrm>
            <a:off x="4153325" y="1103551"/>
            <a:ext cx="3889378" cy="2666548"/>
            <a:chOff x="4153325" y="1039015"/>
            <a:chExt cx="3889378" cy="2666548"/>
          </a:xfrm>
        </p:grpSpPr>
        <p:cxnSp>
          <p:nvCxnSpPr>
            <p:cNvPr id="738" name="Google Shape;738;p49"/>
            <p:cNvCxnSpPr/>
            <p:nvPr/>
          </p:nvCxnSpPr>
          <p:spPr>
            <a:xfrm>
              <a:off x="4154099" y="3705563"/>
              <a:ext cx="38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39" name="Google Shape;739;p49"/>
            <p:cNvGrpSpPr/>
            <p:nvPr/>
          </p:nvGrpSpPr>
          <p:grpSpPr>
            <a:xfrm>
              <a:off x="4153325" y="1039015"/>
              <a:ext cx="3889378" cy="283322"/>
              <a:chOff x="4153325" y="1168827"/>
              <a:chExt cx="3889378" cy="283322"/>
            </a:xfrm>
          </p:grpSpPr>
          <p:cxnSp>
            <p:nvCxnSpPr>
              <p:cNvPr id="740" name="Google Shape;740;p49"/>
              <p:cNvCxnSpPr/>
              <p:nvPr/>
            </p:nvCxnSpPr>
            <p:spPr>
              <a:xfrm>
                <a:off x="4154099" y="1452149"/>
                <a:ext cx="38562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41" name="Google Shape;741;p49"/>
              <p:cNvGrpSpPr/>
              <p:nvPr/>
            </p:nvGrpSpPr>
            <p:grpSpPr>
              <a:xfrm>
                <a:off x="4153325" y="1168827"/>
                <a:ext cx="3889378" cy="198997"/>
                <a:chOff x="4534325" y="1013201"/>
                <a:chExt cx="3889378" cy="198997"/>
              </a:xfrm>
            </p:grpSpPr>
            <p:sp>
              <p:nvSpPr>
                <p:cNvPr id="742" name="Google Shape;742;p49"/>
                <p:cNvSpPr/>
                <p:nvPr/>
              </p:nvSpPr>
              <p:spPr>
                <a:xfrm>
                  <a:off x="453432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3" name="Google Shape;743;p49"/>
                <p:cNvSpPr/>
                <p:nvPr/>
              </p:nvSpPr>
              <p:spPr>
                <a:xfrm>
                  <a:off x="486890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4" name="Google Shape;744;p49"/>
                <p:cNvSpPr/>
                <p:nvPr/>
              </p:nvSpPr>
              <p:spPr>
                <a:xfrm>
                  <a:off x="520347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5" name="Google Shape;745;p49"/>
                <p:cNvSpPr/>
                <p:nvPr/>
              </p:nvSpPr>
              <p:spPr>
                <a:xfrm>
                  <a:off x="553805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6" name="Google Shape;746;p49"/>
                <p:cNvSpPr/>
                <p:nvPr/>
              </p:nvSpPr>
              <p:spPr>
                <a:xfrm>
                  <a:off x="587262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7" name="Google Shape;747;p49"/>
                <p:cNvSpPr/>
                <p:nvPr/>
              </p:nvSpPr>
              <p:spPr>
                <a:xfrm>
                  <a:off x="620720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8" name="Google Shape;748;p49"/>
                <p:cNvSpPr/>
                <p:nvPr/>
              </p:nvSpPr>
              <p:spPr>
                <a:xfrm>
                  <a:off x="654177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9" name="Google Shape;749;p49"/>
                <p:cNvSpPr/>
                <p:nvPr/>
              </p:nvSpPr>
              <p:spPr>
                <a:xfrm>
                  <a:off x="687635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0" name="Google Shape;750;p49"/>
                <p:cNvSpPr/>
                <p:nvPr/>
              </p:nvSpPr>
              <p:spPr>
                <a:xfrm>
                  <a:off x="721092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1" name="Google Shape;751;p49"/>
                <p:cNvSpPr/>
                <p:nvPr/>
              </p:nvSpPr>
              <p:spPr>
                <a:xfrm>
                  <a:off x="754550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2" name="Google Shape;752;p49"/>
                <p:cNvSpPr/>
                <p:nvPr/>
              </p:nvSpPr>
              <p:spPr>
                <a:xfrm>
                  <a:off x="788007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3" name="Google Shape;753;p49"/>
                <p:cNvSpPr/>
                <p:nvPr/>
              </p:nvSpPr>
              <p:spPr>
                <a:xfrm>
                  <a:off x="821465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pic>
        <p:nvPicPr>
          <p:cNvPr id="754" name="Google Shape;754;p49" title="Mind map-cua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400" y="668044"/>
            <a:ext cx="3663525" cy="366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50"/>
          <p:cNvSpPr txBox="1"/>
          <p:nvPr>
            <p:ph type="title"/>
          </p:nvPr>
        </p:nvSpPr>
        <p:spPr>
          <a:xfrm>
            <a:off x="720000" y="542381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Metrics</a:t>
            </a:r>
            <a:endParaRPr/>
          </a:p>
        </p:txBody>
      </p:sp>
      <p:graphicFrame>
        <p:nvGraphicFramePr>
          <p:cNvPr id="760" name="Google Shape;760;p50"/>
          <p:cNvGraphicFramePr/>
          <p:nvPr/>
        </p:nvGraphicFramePr>
        <p:xfrm>
          <a:off x="1402200" y="12793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{E35B0E34-53BF-40CA-B9C7-51939CC34792}</a:tableStyleId>
              </a:tblPr>
              <a:tblGrid>
                <a:gridCol w="1200450"/>
                <a:gridCol w="1713050"/>
                <a:gridCol w="1713050"/>
                <a:gridCol w="1713050"/>
              </a:tblGrid>
              <a:tr h="510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Model</a:t>
                      </a:r>
                      <a:endParaRPr b="1" sz="1300">
                        <a:solidFill>
                          <a:schemeClr val="dk1"/>
                        </a:solidFill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Precision@10</a:t>
                      </a:r>
                      <a:endParaRPr b="1">
                        <a:solidFill>
                          <a:schemeClr val="dk1"/>
                        </a:solidFill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Recall@10</a:t>
                      </a:r>
                      <a:endParaRPr b="1">
                        <a:solidFill>
                          <a:schemeClr val="dk1"/>
                        </a:solidFill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NDCG@10</a:t>
                      </a:r>
                      <a:endParaRPr b="1">
                        <a:solidFill>
                          <a:schemeClr val="dk1"/>
                        </a:solidFill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Item-Item CF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91425" marL="0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0.0118</a:t>
                      </a:r>
                      <a:endParaRPr b="1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T="0" marB="0" marR="91425" marL="0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0.0384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0.0259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User-User CF</a:t>
                      </a:r>
                      <a:endParaRPr b="1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T="0" marB="0" marR="91425" marL="0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0.0138</a:t>
                      </a:r>
                      <a:endParaRPr b="1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T="0" marB="0" marR="91425" marL="0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0.0437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0.0299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61" name="Google Shape;761;p50"/>
          <p:cNvGraphicFramePr/>
          <p:nvPr/>
        </p:nvGraphicFramePr>
        <p:xfrm>
          <a:off x="1402200" y="28827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{E35B0E34-53BF-40CA-B9C7-51939CC34792}</a:tableStyleId>
              </a:tblPr>
              <a:tblGrid>
                <a:gridCol w="1200450"/>
                <a:gridCol w="1713050"/>
                <a:gridCol w="1713050"/>
                <a:gridCol w="1713050"/>
              </a:tblGrid>
              <a:tr h="546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Hybrid FM</a:t>
                      </a:r>
                      <a:endParaRPr b="1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T="0" marB="0" marR="91425" marL="0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0.0130</a:t>
                      </a:r>
                      <a:endParaRPr b="1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T="0" marB="0" marR="91425" marL="0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0.0430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0.0282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6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Light GCN</a:t>
                      </a:r>
                      <a:endParaRPr b="1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T="0" marB="0" marR="91425" marL="0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0.0155</a:t>
                      </a:r>
                      <a:endParaRPr b="1">
                        <a:solidFill>
                          <a:schemeClr val="dk1"/>
                        </a:solidFill>
                        <a:latin typeface="Hind"/>
                        <a:ea typeface="Hind"/>
                        <a:cs typeface="Hind"/>
                        <a:sym typeface="Hind"/>
                      </a:endParaRPr>
                    </a:p>
                  </a:txBody>
                  <a:tcPr marT="0" marB="0" marR="91425" marL="0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0.0516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0.0357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762" name="Google Shape;762;p50"/>
          <p:cNvGrpSpPr/>
          <p:nvPr/>
        </p:nvGrpSpPr>
        <p:grpSpPr>
          <a:xfrm>
            <a:off x="939361" y="3577933"/>
            <a:ext cx="370321" cy="311310"/>
            <a:chOff x="6386830" y="2744194"/>
            <a:chExt cx="403180" cy="338933"/>
          </a:xfrm>
        </p:grpSpPr>
        <p:sp>
          <p:nvSpPr>
            <p:cNvPr id="763" name="Google Shape;763;p50"/>
            <p:cNvSpPr/>
            <p:nvPr/>
          </p:nvSpPr>
          <p:spPr>
            <a:xfrm>
              <a:off x="6386830" y="2744194"/>
              <a:ext cx="403180" cy="338933"/>
            </a:xfrm>
            <a:custGeom>
              <a:rect b="b" l="l" r="r" t="t"/>
              <a:pathLst>
                <a:path extrusionOk="0" h="9670" w="11503">
                  <a:moveTo>
                    <a:pt x="6311" y="358"/>
                  </a:moveTo>
                  <a:cubicBezTo>
                    <a:pt x="6478" y="358"/>
                    <a:pt x="6597" y="382"/>
                    <a:pt x="6740" y="382"/>
                  </a:cubicBezTo>
                  <a:cubicBezTo>
                    <a:pt x="7740" y="477"/>
                    <a:pt x="8288" y="882"/>
                    <a:pt x="8526" y="1144"/>
                  </a:cubicBezTo>
                  <a:cubicBezTo>
                    <a:pt x="8621" y="1239"/>
                    <a:pt x="8669" y="1311"/>
                    <a:pt x="8693" y="1334"/>
                  </a:cubicBezTo>
                  <a:cubicBezTo>
                    <a:pt x="8693" y="1358"/>
                    <a:pt x="8693" y="1358"/>
                    <a:pt x="8693" y="1358"/>
                  </a:cubicBezTo>
                  <a:lnTo>
                    <a:pt x="8740" y="1430"/>
                  </a:lnTo>
                  <a:lnTo>
                    <a:pt x="8788" y="1430"/>
                  </a:lnTo>
                  <a:cubicBezTo>
                    <a:pt x="8836" y="1454"/>
                    <a:pt x="8859" y="1477"/>
                    <a:pt x="8907" y="1477"/>
                  </a:cubicBezTo>
                  <a:cubicBezTo>
                    <a:pt x="9050" y="1525"/>
                    <a:pt x="9217" y="1596"/>
                    <a:pt x="9360" y="1668"/>
                  </a:cubicBezTo>
                  <a:cubicBezTo>
                    <a:pt x="9741" y="1906"/>
                    <a:pt x="10074" y="2216"/>
                    <a:pt x="10336" y="2597"/>
                  </a:cubicBezTo>
                  <a:cubicBezTo>
                    <a:pt x="10431" y="2716"/>
                    <a:pt x="10503" y="2859"/>
                    <a:pt x="10574" y="2978"/>
                  </a:cubicBezTo>
                  <a:cubicBezTo>
                    <a:pt x="10598" y="3073"/>
                    <a:pt x="10646" y="3144"/>
                    <a:pt x="10669" y="3216"/>
                  </a:cubicBezTo>
                  <a:cubicBezTo>
                    <a:pt x="10765" y="3406"/>
                    <a:pt x="10812" y="3597"/>
                    <a:pt x="10860" y="3787"/>
                  </a:cubicBezTo>
                  <a:cubicBezTo>
                    <a:pt x="10955" y="4073"/>
                    <a:pt x="11003" y="4359"/>
                    <a:pt x="11027" y="4597"/>
                  </a:cubicBezTo>
                  <a:cubicBezTo>
                    <a:pt x="10503" y="3716"/>
                    <a:pt x="9550" y="3001"/>
                    <a:pt x="9502" y="2954"/>
                  </a:cubicBezTo>
                  <a:lnTo>
                    <a:pt x="9383" y="2859"/>
                  </a:lnTo>
                  <a:lnTo>
                    <a:pt x="9264" y="2978"/>
                  </a:lnTo>
                  <a:cubicBezTo>
                    <a:pt x="8645" y="3573"/>
                    <a:pt x="6526" y="3811"/>
                    <a:pt x="5454" y="3883"/>
                  </a:cubicBezTo>
                  <a:lnTo>
                    <a:pt x="6502" y="1668"/>
                  </a:lnTo>
                  <a:lnTo>
                    <a:pt x="6478" y="1596"/>
                  </a:lnTo>
                  <a:cubicBezTo>
                    <a:pt x="6430" y="1430"/>
                    <a:pt x="6311" y="1073"/>
                    <a:pt x="2811" y="1073"/>
                  </a:cubicBezTo>
                  <a:lnTo>
                    <a:pt x="2406" y="1073"/>
                  </a:lnTo>
                  <a:cubicBezTo>
                    <a:pt x="3263" y="501"/>
                    <a:pt x="4263" y="406"/>
                    <a:pt x="4835" y="406"/>
                  </a:cubicBezTo>
                  <a:cubicBezTo>
                    <a:pt x="5168" y="406"/>
                    <a:pt x="5383" y="430"/>
                    <a:pt x="5383" y="430"/>
                  </a:cubicBezTo>
                  <a:lnTo>
                    <a:pt x="5454" y="430"/>
                  </a:lnTo>
                  <a:cubicBezTo>
                    <a:pt x="5597" y="406"/>
                    <a:pt x="5764" y="382"/>
                    <a:pt x="5906" y="382"/>
                  </a:cubicBezTo>
                  <a:cubicBezTo>
                    <a:pt x="6049" y="382"/>
                    <a:pt x="6168" y="358"/>
                    <a:pt x="6311" y="358"/>
                  </a:cubicBezTo>
                  <a:close/>
                  <a:moveTo>
                    <a:pt x="2781" y="2357"/>
                  </a:moveTo>
                  <a:cubicBezTo>
                    <a:pt x="3098" y="2357"/>
                    <a:pt x="3401" y="2661"/>
                    <a:pt x="3168" y="2978"/>
                  </a:cubicBezTo>
                  <a:cubicBezTo>
                    <a:pt x="2572" y="3811"/>
                    <a:pt x="2430" y="4716"/>
                    <a:pt x="2953" y="5621"/>
                  </a:cubicBezTo>
                  <a:cubicBezTo>
                    <a:pt x="3135" y="5967"/>
                    <a:pt x="2825" y="6291"/>
                    <a:pt x="2530" y="6291"/>
                  </a:cubicBezTo>
                  <a:cubicBezTo>
                    <a:pt x="2400" y="6291"/>
                    <a:pt x="2272" y="6227"/>
                    <a:pt x="2191" y="6074"/>
                  </a:cubicBezTo>
                  <a:cubicBezTo>
                    <a:pt x="1525" y="4907"/>
                    <a:pt x="1644" y="3621"/>
                    <a:pt x="2406" y="2549"/>
                  </a:cubicBezTo>
                  <a:cubicBezTo>
                    <a:pt x="2506" y="2413"/>
                    <a:pt x="2645" y="2357"/>
                    <a:pt x="2781" y="2357"/>
                  </a:cubicBezTo>
                  <a:close/>
                  <a:moveTo>
                    <a:pt x="6311" y="1"/>
                  </a:moveTo>
                  <a:cubicBezTo>
                    <a:pt x="6025" y="1"/>
                    <a:pt x="5740" y="25"/>
                    <a:pt x="5406" y="72"/>
                  </a:cubicBezTo>
                  <a:cubicBezTo>
                    <a:pt x="5335" y="49"/>
                    <a:pt x="5121" y="25"/>
                    <a:pt x="4835" y="25"/>
                  </a:cubicBezTo>
                  <a:cubicBezTo>
                    <a:pt x="4120" y="25"/>
                    <a:pt x="2739" y="168"/>
                    <a:pt x="1739" y="1120"/>
                  </a:cubicBezTo>
                  <a:lnTo>
                    <a:pt x="1382" y="1454"/>
                  </a:lnTo>
                  <a:lnTo>
                    <a:pt x="1953" y="1454"/>
                  </a:lnTo>
                  <a:cubicBezTo>
                    <a:pt x="1620" y="1787"/>
                    <a:pt x="1334" y="2216"/>
                    <a:pt x="1096" y="2763"/>
                  </a:cubicBezTo>
                  <a:cubicBezTo>
                    <a:pt x="0" y="5264"/>
                    <a:pt x="1191" y="7788"/>
                    <a:pt x="4097" y="9074"/>
                  </a:cubicBezTo>
                  <a:cubicBezTo>
                    <a:pt x="4978" y="9455"/>
                    <a:pt x="5883" y="9670"/>
                    <a:pt x="6716" y="9670"/>
                  </a:cubicBezTo>
                  <a:cubicBezTo>
                    <a:pt x="8597" y="9670"/>
                    <a:pt x="10050" y="8717"/>
                    <a:pt x="10788" y="7026"/>
                  </a:cubicBezTo>
                  <a:cubicBezTo>
                    <a:pt x="10931" y="6669"/>
                    <a:pt x="11050" y="6336"/>
                    <a:pt x="11122" y="5978"/>
                  </a:cubicBezTo>
                  <a:cubicBezTo>
                    <a:pt x="11122" y="6002"/>
                    <a:pt x="11146" y="6002"/>
                    <a:pt x="11169" y="6002"/>
                  </a:cubicBezTo>
                  <a:lnTo>
                    <a:pt x="11217" y="6002"/>
                  </a:lnTo>
                  <a:cubicBezTo>
                    <a:pt x="11241" y="5978"/>
                    <a:pt x="11288" y="5954"/>
                    <a:pt x="11312" y="5931"/>
                  </a:cubicBezTo>
                  <a:cubicBezTo>
                    <a:pt x="11360" y="5883"/>
                    <a:pt x="11384" y="5764"/>
                    <a:pt x="11384" y="5716"/>
                  </a:cubicBezTo>
                  <a:cubicBezTo>
                    <a:pt x="11503" y="4954"/>
                    <a:pt x="11455" y="1954"/>
                    <a:pt x="8978" y="1096"/>
                  </a:cubicBezTo>
                  <a:cubicBezTo>
                    <a:pt x="8812" y="858"/>
                    <a:pt x="8074" y="1"/>
                    <a:pt x="6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83975" lIns="83975" spcFirstLastPara="1" rIns="83975" wrap="square" tIns="8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50"/>
            <p:cNvSpPr/>
            <p:nvPr/>
          </p:nvSpPr>
          <p:spPr>
            <a:xfrm>
              <a:off x="6660641" y="2797050"/>
              <a:ext cx="37574" cy="28986"/>
            </a:xfrm>
            <a:custGeom>
              <a:rect b="b" l="l" r="r" t="t"/>
              <a:pathLst>
                <a:path extrusionOk="0" h="827" w="1072">
                  <a:moveTo>
                    <a:pt x="322" y="1"/>
                  </a:moveTo>
                  <a:cubicBezTo>
                    <a:pt x="158" y="1"/>
                    <a:pt x="0" y="137"/>
                    <a:pt x="71" y="350"/>
                  </a:cubicBezTo>
                  <a:cubicBezTo>
                    <a:pt x="166" y="636"/>
                    <a:pt x="404" y="803"/>
                    <a:pt x="714" y="827"/>
                  </a:cubicBezTo>
                  <a:cubicBezTo>
                    <a:pt x="1071" y="827"/>
                    <a:pt x="1071" y="279"/>
                    <a:pt x="714" y="279"/>
                  </a:cubicBezTo>
                  <a:cubicBezTo>
                    <a:pt x="714" y="279"/>
                    <a:pt x="666" y="255"/>
                    <a:pt x="666" y="255"/>
                  </a:cubicBezTo>
                  <a:lnTo>
                    <a:pt x="619" y="255"/>
                  </a:lnTo>
                  <a:cubicBezTo>
                    <a:pt x="595" y="208"/>
                    <a:pt x="595" y="231"/>
                    <a:pt x="595" y="208"/>
                  </a:cubicBezTo>
                  <a:cubicBezTo>
                    <a:pt x="547" y="63"/>
                    <a:pt x="433" y="1"/>
                    <a:pt x="3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83975" lIns="83975" spcFirstLastPara="1" rIns="83975" wrap="square" tIns="8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50"/>
            <p:cNvSpPr/>
            <p:nvPr/>
          </p:nvSpPr>
          <p:spPr>
            <a:xfrm>
              <a:off x="6682302" y="2805988"/>
              <a:ext cx="35" cy="3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lnTo>
                    <a:pt x="1" y="0"/>
                  </a:lnTo>
                  <a:cubicBezTo>
                    <a:pt x="1" y="0"/>
                    <a:pt x="1" y="0"/>
                    <a:pt x="1" y="0"/>
                  </a:cubicBezTo>
                  <a:close/>
                  <a:moveTo>
                    <a:pt x="1" y="0"/>
                  </a:move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83975" lIns="83975" spcFirstLastPara="1" rIns="83975" wrap="square" tIns="8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50"/>
            <p:cNvSpPr/>
            <p:nvPr/>
          </p:nvSpPr>
          <p:spPr>
            <a:xfrm>
              <a:off x="6682302" y="2805742"/>
              <a:ext cx="981" cy="526"/>
            </a:xfrm>
            <a:custGeom>
              <a:rect b="b" l="l" r="r" t="t"/>
              <a:pathLst>
                <a:path extrusionOk="0" h="15" w="28">
                  <a:moveTo>
                    <a:pt x="6" y="0"/>
                  </a:moveTo>
                  <a:cubicBezTo>
                    <a:pt x="3" y="0"/>
                    <a:pt x="1" y="2"/>
                    <a:pt x="1" y="7"/>
                  </a:cubicBezTo>
                  <a:cubicBezTo>
                    <a:pt x="11" y="12"/>
                    <a:pt x="17" y="14"/>
                    <a:pt x="20" y="14"/>
                  </a:cubicBezTo>
                  <a:cubicBezTo>
                    <a:pt x="27" y="14"/>
                    <a:pt x="14" y="0"/>
                    <a:pt x="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83975" lIns="83975" spcFirstLastPara="1" rIns="83975" wrap="square" tIns="8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7" name="Google Shape;767;p50"/>
          <p:cNvSpPr txBox="1"/>
          <p:nvPr/>
        </p:nvSpPr>
        <p:spPr>
          <a:xfrm>
            <a:off x="988525" y="4252625"/>
            <a:ext cx="73311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F1F1F"/>
                </a:solidFill>
                <a:latin typeface="Arvo"/>
                <a:ea typeface="Arvo"/>
                <a:cs typeface="Arvo"/>
                <a:sym typeface="Arvo"/>
              </a:rPr>
              <a:t>* </a:t>
            </a:r>
            <a:r>
              <a:rPr b="1" lang="en" sz="1200">
                <a:solidFill>
                  <a:srgbClr val="1F1F1F"/>
                </a:solidFill>
                <a:latin typeface="Arvo"/>
                <a:ea typeface="Arvo"/>
                <a:cs typeface="Arvo"/>
                <a:sym typeface="Arvo"/>
              </a:rPr>
              <a:t>All models evaluated on test set (</a:t>
            </a:r>
            <a:r>
              <a:rPr b="1" lang="en" sz="1200">
                <a:solidFill>
                  <a:srgbClr val="1F1F1F"/>
                </a:solidFill>
                <a:latin typeface="Arvo"/>
                <a:ea typeface="Arvo"/>
                <a:cs typeface="Arvo"/>
                <a:sym typeface="Arvo"/>
              </a:rPr>
              <a:t>15,744 users and 55,349 interactions</a:t>
            </a:r>
            <a:r>
              <a:rPr b="1" lang="en" sz="1200">
                <a:solidFill>
                  <a:srgbClr val="1F1F1F"/>
                </a:solidFill>
                <a:latin typeface="Arvo"/>
                <a:ea typeface="Arvo"/>
                <a:cs typeface="Arvo"/>
                <a:sym typeface="Arvo"/>
              </a:rPr>
              <a:t>) spanning COVID period. Metrics likely understate performance relative to a normal deployment window.</a:t>
            </a:r>
            <a:endParaRPr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768" name="Google Shape;768;p50"/>
          <p:cNvSpPr txBox="1"/>
          <p:nvPr/>
        </p:nvSpPr>
        <p:spPr>
          <a:xfrm>
            <a:off x="7798600" y="1374575"/>
            <a:ext cx="1155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  <a:latin typeface="Anaheim"/>
                <a:ea typeface="Anaheim"/>
                <a:cs typeface="Anaheim"/>
                <a:sym typeface="Anaheim"/>
              </a:rPr>
              <a:t>Measures top 10 ranked restaurants relevancy</a:t>
            </a:r>
            <a:endParaRPr sz="900">
              <a:solidFill>
                <a:schemeClr val="lt2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cxnSp>
        <p:nvCxnSpPr>
          <p:cNvPr id="769" name="Google Shape;769;p50"/>
          <p:cNvCxnSpPr/>
          <p:nvPr/>
        </p:nvCxnSpPr>
        <p:spPr>
          <a:xfrm>
            <a:off x="7501000" y="1524075"/>
            <a:ext cx="297600" cy="29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4" name="Google Shape;774;p51" title="NDCG@10 By models - Test Se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975" y="593150"/>
            <a:ext cx="5230908" cy="3130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75" name="Google Shape;775;p51"/>
          <p:cNvGraphicFramePr/>
          <p:nvPr/>
        </p:nvGraphicFramePr>
        <p:xfrm>
          <a:off x="5947900" y="26395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{E35B0E34-53BF-40CA-B9C7-51939CC34792}</a:tableStyleId>
              </a:tblPr>
              <a:tblGrid>
                <a:gridCol w="1118525"/>
                <a:gridCol w="1596175"/>
              </a:tblGrid>
              <a:tr h="413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Models</a:t>
                      </a:r>
                      <a:endParaRPr b="1" sz="1200">
                        <a:solidFill>
                          <a:schemeClr val="dk1"/>
                        </a:solidFill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Regularization</a:t>
                      </a:r>
                      <a:endParaRPr b="1" sz="1200">
                        <a:solidFill>
                          <a:schemeClr val="dk1"/>
                        </a:solidFill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All Models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Early Stopping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 Baseline 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  Models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Shrinkage Bias 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   Advanced  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    Models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91425" marL="0" anchor="ctr">
                    <a:lnL cap="flat" cmpd="sng" w="9525">
                      <a:solidFill>
                        <a:schemeClr val="accent3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aheim"/>
                          <a:ea typeface="Anaheim"/>
                          <a:cs typeface="Anaheim"/>
                          <a:sym typeface="Anaheim"/>
                        </a:rPr>
                        <a:t>BPR L2 Regularization</a:t>
                      </a:r>
                      <a:endParaRPr>
                        <a:solidFill>
                          <a:schemeClr val="dk1"/>
                        </a:solidFill>
                        <a:latin typeface="Anaheim"/>
                        <a:ea typeface="Anaheim"/>
                        <a:cs typeface="Anaheim"/>
                        <a:sym typeface="Anaheim"/>
                      </a:endParaRPr>
                    </a:p>
                  </a:txBody>
                  <a:tcPr marT="0" marB="0" marR="91425" marL="0" anchor="ctr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76" name="Google Shape;776;p51"/>
          <p:cNvSpPr txBox="1"/>
          <p:nvPr/>
        </p:nvSpPr>
        <p:spPr>
          <a:xfrm>
            <a:off x="5700700" y="470075"/>
            <a:ext cx="3209100" cy="19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Anaheim"/>
                <a:ea typeface="Anaheim"/>
                <a:cs typeface="Anaheim"/>
                <a:sym typeface="Anaheim"/>
              </a:rPr>
              <a:t>Light GCN &gt; FM</a:t>
            </a:r>
            <a:r>
              <a:rPr b="1"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:</a:t>
            </a: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graph propagation allowed a sparse user’s embedding to be shaped by users they have not interacted with which captures structural similarities from full network</a:t>
            </a:r>
            <a:endParaRPr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Anaheim"/>
                <a:ea typeface="Anaheim"/>
                <a:cs typeface="Anaheim"/>
                <a:sym typeface="Anaheim"/>
              </a:rPr>
              <a:t>User-user CF &gt; FM</a:t>
            </a:r>
            <a:r>
              <a:rPr b="1"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:</a:t>
            </a: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Not all 332 content features carry signal; FM not enough capacity to </a:t>
            </a: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separate</a:t>
            </a:r>
            <a:r>
              <a:rPr lang="en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signal from noise</a:t>
            </a:r>
            <a:endParaRPr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grpSp>
        <p:nvGrpSpPr>
          <p:cNvPr id="777" name="Google Shape;777;p51"/>
          <p:cNvGrpSpPr/>
          <p:nvPr/>
        </p:nvGrpSpPr>
        <p:grpSpPr>
          <a:xfrm>
            <a:off x="687340" y="3898010"/>
            <a:ext cx="4899368" cy="608818"/>
            <a:chOff x="3231899" y="3051045"/>
            <a:chExt cx="4000137" cy="520180"/>
          </a:xfrm>
        </p:grpSpPr>
        <p:sp>
          <p:nvSpPr>
            <p:cNvPr id="778" name="Google Shape;778;p51"/>
            <p:cNvSpPr/>
            <p:nvPr/>
          </p:nvSpPr>
          <p:spPr>
            <a:xfrm>
              <a:off x="3231899" y="3051045"/>
              <a:ext cx="4000137" cy="520180"/>
            </a:xfrm>
            <a:custGeom>
              <a:rect b="b" l="l" r="r" t="t"/>
              <a:pathLst>
                <a:path extrusionOk="0" h="8873" w="99179">
                  <a:moveTo>
                    <a:pt x="0" y="0"/>
                  </a:moveTo>
                  <a:lnTo>
                    <a:pt x="2825" y="4436"/>
                  </a:lnTo>
                  <a:lnTo>
                    <a:pt x="0" y="8872"/>
                  </a:lnTo>
                  <a:lnTo>
                    <a:pt x="99178" y="8872"/>
                  </a:lnTo>
                  <a:lnTo>
                    <a:pt x="95537" y="4436"/>
                  </a:lnTo>
                  <a:lnTo>
                    <a:pt x="99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07000" lIns="107000" spcFirstLastPara="1" rIns="107000" wrap="square" tIns="107000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endParaRPr>
            </a:p>
            <a:p>
              <a:pPr indent="0" lvl="0" marL="457200" rtl="0" algn="l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Anaheim"/>
                  <a:ea typeface="Anaheim"/>
                  <a:cs typeface="Anaheim"/>
                  <a:sym typeface="Anaheim"/>
                </a:rPr>
                <a:t>No Overfitting/underfitting observed across the models</a:t>
              </a:r>
              <a:endPara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51"/>
            <p:cNvSpPr/>
            <p:nvPr/>
          </p:nvSpPr>
          <p:spPr>
            <a:xfrm>
              <a:off x="3447712" y="3234258"/>
              <a:ext cx="161517" cy="153748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07000" lIns="107000" spcFirstLastPara="1" rIns="107000" wrap="square" tIns="107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0" name="Google Shape;780;p51"/>
          <p:cNvSpPr/>
          <p:nvPr/>
        </p:nvSpPr>
        <p:spPr>
          <a:xfrm>
            <a:off x="483200" y="541550"/>
            <a:ext cx="5167800" cy="3130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52"/>
          <p:cNvSpPr txBox="1"/>
          <p:nvPr>
            <p:ph type="title"/>
          </p:nvPr>
        </p:nvSpPr>
        <p:spPr>
          <a:xfrm>
            <a:off x="4153325" y="2393700"/>
            <a:ext cx="3856500" cy="137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AND LEARNING</a:t>
            </a:r>
            <a:endParaRPr/>
          </a:p>
        </p:txBody>
      </p:sp>
      <p:sp>
        <p:nvSpPr>
          <p:cNvPr id="786" name="Google Shape;786;p52"/>
          <p:cNvSpPr txBox="1"/>
          <p:nvPr>
            <p:ph idx="2" type="title"/>
          </p:nvPr>
        </p:nvSpPr>
        <p:spPr>
          <a:xfrm>
            <a:off x="4153325" y="1551889"/>
            <a:ext cx="3251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07.</a:t>
            </a:r>
            <a:endParaRPr/>
          </a:p>
        </p:txBody>
      </p:sp>
      <p:grpSp>
        <p:nvGrpSpPr>
          <p:cNvPr id="787" name="Google Shape;787;p52"/>
          <p:cNvGrpSpPr/>
          <p:nvPr/>
        </p:nvGrpSpPr>
        <p:grpSpPr>
          <a:xfrm>
            <a:off x="4153325" y="1103551"/>
            <a:ext cx="3889378" cy="2666548"/>
            <a:chOff x="4153325" y="1039015"/>
            <a:chExt cx="3889378" cy="2666548"/>
          </a:xfrm>
        </p:grpSpPr>
        <p:cxnSp>
          <p:nvCxnSpPr>
            <p:cNvPr id="788" name="Google Shape;788;p52"/>
            <p:cNvCxnSpPr/>
            <p:nvPr/>
          </p:nvCxnSpPr>
          <p:spPr>
            <a:xfrm>
              <a:off x="4154099" y="3705563"/>
              <a:ext cx="38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89" name="Google Shape;789;p52"/>
            <p:cNvGrpSpPr/>
            <p:nvPr/>
          </p:nvGrpSpPr>
          <p:grpSpPr>
            <a:xfrm>
              <a:off x="4153325" y="1039015"/>
              <a:ext cx="3889378" cy="283322"/>
              <a:chOff x="4153325" y="1168827"/>
              <a:chExt cx="3889378" cy="283322"/>
            </a:xfrm>
          </p:grpSpPr>
          <p:cxnSp>
            <p:nvCxnSpPr>
              <p:cNvPr id="790" name="Google Shape;790;p52"/>
              <p:cNvCxnSpPr/>
              <p:nvPr/>
            </p:nvCxnSpPr>
            <p:spPr>
              <a:xfrm>
                <a:off x="4154099" y="1452149"/>
                <a:ext cx="38562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91" name="Google Shape;791;p52"/>
              <p:cNvGrpSpPr/>
              <p:nvPr/>
            </p:nvGrpSpPr>
            <p:grpSpPr>
              <a:xfrm>
                <a:off x="4153325" y="1168827"/>
                <a:ext cx="3889378" cy="198997"/>
                <a:chOff x="4534325" y="1013201"/>
                <a:chExt cx="3889378" cy="198997"/>
              </a:xfrm>
            </p:grpSpPr>
            <p:sp>
              <p:nvSpPr>
                <p:cNvPr id="792" name="Google Shape;792;p52"/>
                <p:cNvSpPr/>
                <p:nvPr/>
              </p:nvSpPr>
              <p:spPr>
                <a:xfrm>
                  <a:off x="453432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3" name="Google Shape;793;p52"/>
                <p:cNvSpPr/>
                <p:nvPr/>
              </p:nvSpPr>
              <p:spPr>
                <a:xfrm>
                  <a:off x="486890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4" name="Google Shape;794;p52"/>
                <p:cNvSpPr/>
                <p:nvPr/>
              </p:nvSpPr>
              <p:spPr>
                <a:xfrm>
                  <a:off x="520347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5" name="Google Shape;795;p52"/>
                <p:cNvSpPr/>
                <p:nvPr/>
              </p:nvSpPr>
              <p:spPr>
                <a:xfrm>
                  <a:off x="553805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6" name="Google Shape;796;p52"/>
                <p:cNvSpPr/>
                <p:nvPr/>
              </p:nvSpPr>
              <p:spPr>
                <a:xfrm>
                  <a:off x="587262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7" name="Google Shape;797;p52"/>
                <p:cNvSpPr/>
                <p:nvPr/>
              </p:nvSpPr>
              <p:spPr>
                <a:xfrm>
                  <a:off x="620720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8" name="Google Shape;798;p52"/>
                <p:cNvSpPr/>
                <p:nvPr/>
              </p:nvSpPr>
              <p:spPr>
                <a:xfrm>
                  <a:off x="654177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9" name="Google Shape;799;p52"/>
                <p:cNvSpPr/>
                <p:nvPr/>
              </p:nvSpPr>
              <p:spPr>
                <a:xfrm>
                  <a:off x="687635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0" name="Google Shape;800;p52"/>
                <p:cNvSpPr/>
                <p:nvPr/>
              </p:nvSpPr>
              <p:spPr>
                <a:xfrm>
                  <a:off x="721092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1" name="Google Shape;801;p52"/>
                <p:cNvSpPr/>
                <p:nvPr/>
              </p:nvSpPr>
              <p:spPr>
                <a:xfrm>
                  <a:off x="754550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2" name="Google Shape;802;p52"/>
                <p:cNvSpPr/>
                <p:nvPr/>
              </p:nvSpPr>
              <p:spPr>
                <a:xfrm>
                  <a:off x="788007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3" name="Google Shape;803;p52"/>
                <p:cNvSpPr/>
                <p:nvPr/>
              </p:nvSpPr>
              <p:spPr>
                <a:xfrm>
                  <a:off x="821465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pic>
        <p:nvPicPr>
          <p:cNvPr id="804" name="Google Shape;804;p52" title="Analytics-pan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875" y="694425"/>
            <a:ext cx="3706575" cy="370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53"/>
          <p:cNvSpPr txBox="1"/>
          <p:nvPr>
            <p:ph type="title"/>
          </p:nvPr>
        </p:nvSpPr>
        <p:spPr>
          <a:xfrm>
            <a:off x="678600" y="173550"/>
            <a:ext cx="8093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Best Model Results</a:t>
            </a:r>
            <a:endParaRPr sz="3300"/>
          </a:p>
        </p:txBody>
      </p:sp>
      <p:sp>
        <p:nvSpPr>
          <p:cNvPr id="810" name="Google Shape;810;p53"/>
          <p:cNvSpPr txBox="1"/>
          <p:nvPr/>
        </p:nvSpPr>
        <p:spPr>
          <a:xfrm>
            <a:off x="1488275" y="2153050"/>
            <a:ext cx="43260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pic>
        <p:nvPicPr>
          <p:cNvPr id="811" name="Google Shape;81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625" y="915700"/>
            <a:ext cx="5385631" cy="3782949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53"/>
          <p:cNvSpPr txBox="1"/>
          <p:nvPr/>
        </p:nvSpPr>
        <p:spPr>
          <a:xfrm>
            <a:off x="5458425" y="915700"/>
            <a:ext cx="35502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Light GCN</a:t>
            </a:r>
            <a:endParaRPr b="1" sz="1800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813" name="Google Shape;813;p53"/>
          <p:cNvSpPr txBox="1"/>
          <p:nvPr/>
        </p:nvSpPr>
        <p:spPr>
          <a:xfrm>
            <a:off x="5839100" y="1190425"/>
            <a:ext cx="3031800" cy="13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226060" lvl="0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1400"/>
              <a:buFont typeface="Anaheim"/>
              <a:buChar char="★"/>
            </a:pPr>
            <a:r>
              <a:rPr b="1" lang="en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RMSE of 1.156 is the lowest across all four models,</a:t>
            </a:r>
            <a:r>
              <a:rPr lang="en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 confirming that graph-based embedding propagation produces the most accurate preference score predictions</a:t>
            </a:r>
            <a:endParaRPr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226060" lvl="0" marL="27432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1400"/>
              <a:buFont typeface="Anaheim"/>
              <a:buChar char="★"/>
            </a:pPr>
            <a:r>
              <a:rPr lang="en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No overfitting nor underfitting observed</a:t>
            </a:r>
            <a:endParaRPr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-226060" lvl="0" marL="27432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990000"/>
              </a:buClr>
              <a:buSzPts val="1400"/>
              <a:buFont typeface="Anaheim"/>
              <a:buChar char="★"/>
            </a:pPr>
            <a:r>
              <a:rPr lang="en">
                <a:solidFill>
                  <a:srgbClr val="372814"/>
                </a:solidFill>
                <a:latin typeface="Anaheim"/>
                <a:ea typeface="Anaheim"/>
                <a:cs typeface="Anaheim"/>
                <a:sym typeface="Anaheim"/>
              </a:rPr>
              <a:t>NDCG@10 of 0.0357 remains low in absolute terms, suggesting the model's ranked recommendations are only marginally better than random ordering.</a:t>
            </a:r>
            <a:endParaRPr>
              <a:solidFill>
                <a:srgbClr val="372814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54"/>
          <p:cNvSpPr txBox="1"/>
          <p:nvPr>
            <p:ph type="title"/>
          </p:nvPr>
        </p:nvSpPr>
        <p:spPr>
          <a:xfrm>
            <a:off x="725350" y="54225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Hypotheses &amp; </a:t>
            </a:r>
            <a:r>
              <a:rPr lang="en"/>
              <a:t>Key Learnings </a:t>
            </a:r>
            <a:endParaRPr/>
          </a:p>
        </p:txBody>
      </p:sp>
      <p:grpSp>
        <p:nvGrpSpPr>
          <p:cNvPr id="819" name="Google Shape;819;p54"/>
          <p:cNvGrpSpPr/>
          <p:nvPr/>
        </p:nvGrpSpPr>
        <p:grpSpPr>
          <a:xfrm>
            <a:off x="720072" y="540000"/>
            <a:ext cx="7704093" cy="577207"/>
            <a:chOff x="3667800" y="1583575"/>
            <a:chExt cx="4756200" cy="577207"/>
          </a:xfrm>
        </p:grpSpPr>
        <p:cxnSp>
          <p:nvCxnSpPr>
            <p:cNvPr id="820" name="Google Shape;820;p54"/>
            <p:cNvCxnSpPr/>
            <p:nvPr/>
          </p:nvCxnSpPr>
          <p:spPr>
            <a:xfrm>
              <a:off x="3667800" y="1583575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1" name="Google Shape;821;p54"/>
            <p:cNvCxnSpPr/>
            <p:nvPr/>
          </p:nvCxnSpPr>
          <p:spPr>
            <a:xfrm>
              <a:off x="3667800" y="2160782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22" name="Google Shape;822;p54"/>
          <p:cNvSpPr/>
          <p:nvPr/>
        </p:nvSpPr>
        <p:spPr>
          <a:xfrm>
            <a:off x="721375" y="1660075"/>
            <a:ext cx="4021500" cy="1424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823" name="Google Shape;823;p54"/>
          <p:cNvSpPr/>
          <p:nvPr/>
        </p:nvSpPr>
        <p:spPr>
          <a:xfrm>
            <a:off x="721375" y="3224900"/>
            <a:ext cx="4021500" cy="1424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824" name="Google Shape;824;p54"/>
          <p:cNvSpPr/>
          <p:nvPr/>
        </p:nvSpPr>
        <p:spPr>
          <a:xfrm>
            <a:off x="4993825" y="1660075"/>
            <a:ext cx="3499800" cy="961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825" name="Google Shape;825;p54"/>
          <p:cNvSpPr/>
          <p:nvPr/>
        </p:nvSpPr>
        <p:spPr>
          <a:xfrm>
            <a:off x="4993825" y="2720150"/>
            <a:ext cx="3499800" cy="961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826" name="Google Shape;826;p54"/>
          <p:cNvSpPr/>
          <p:nvPr/>
        </p:nvSpPr>
        <p:spPr>
          <a:xfrm>
            <a:off x="4993825" y="3771075"/>
            <a:ext cx="3499800" cy="878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827" name="Google Shape;827;p54"/>
          <p:cNvSpPr txBox="1"/>
          <p:nvPr/>
        </p:nvSpPr>
        <p:spPr>
          <a:xfrm>
            <a:off x="581525" y="1660075"/>
            <a:ext cx="4160100" cy="12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H1: Richer presentation improve ranking</a:t>
            </a:r>
            <a:endParaRPr b="1" sz="12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D3D3A"/>
                </a:solidFill>
                <a:latin typeface="Anaheim"/>
                <a:ea typeface="Anaheim"/>
                <a:cs typeface="Anaheim"/>
                <a:sym typeface="Anaheim"/>
              </a:rPr>
              <a:t>Each architectural step addressed the previous model's bottleneck — content features broke the sparsity ceiling, graph propagation added multi-hop signal.</a:t>
            </a:r>
            <a:endParaRPr sz="12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45720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rPr b="1" lang="en" sz="1200">
                <a:solidFill>
                  <a:schemeClr val="lt2"/>
                </a:solidFill>
                <a:highlight>
                  <a:srgbClr val="F5F4ED"/>
                </a:highlight>
                <a:latin typeface="Anaheim"/>
                <a:ea typeface="Anaheim"/>
                <a:cs typeface="Anaheim"/>
                <a:sym typeface="Anaheim"/>
              </a:rPr>
              <a:t>+38% NDCG@10 from Item-Item CF to LightGCN (0.026 → 0.036)</a:t>
            </a:r>
            <a:endParaRPr sz="12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828" name="Google Shape;828;p54"/>
          <p:cNvSpPr txBox="1"/>
          <p:nvPr/>
        </p:nvSpPr>
        <p:spPr>
          <a:xfrm>
            <a:off x="1039325" y="3318050"/>
            <a:ext cx="3499800" cy="12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41413"/>
                </a:solidFill>
                <a:latin typeface="Anaheim"/>
                <a:ea typeface="Anaheim"/>
                <a:cs typeface="Anaheim"/>
                <a:sym typeface="Anaheim"/>
              </a:rPr>
              <a:t>H2: User activity predicts CF quality</a:t>
            </a:r>
            <a:endParaRPr b="1" sz="1200">
              <a:solidFill>
                <a:srgbClr val="141413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D3D3A"/>
                </a:solidFill>
                <a:latin typeface="Anaheim"/>
                <a:ea typeface="Anaheim"/>
                <a:cs typeface="Anaheim"/>
                <a:sym typeface="Anaheim"/>
              </a:rPr>
              <a:t>True for Item-Item CF and LightGCN. But User-User CF showed a non-monotonic pattern</a:t>
            </a:r>
            <a:endParaRPr sz="1200">
              <a:solidFill>
                <a:srgbClr val="3D3D3A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2"/>
                </a:solidFill>
                <a:latin typeface="Anaheim"/>
                <a:ea typeface="Anaheim"/>
                <a:cs typeface="Anaheim"/>
                <a:sym typeface="Anaheim"/>
              </a:rPr>
              <a:t>NDCG@10 dipped for 6–20 review users vs 1–5 review users</a:t>
            </a:r>
            <a:endParaRPr b="1" sz="1200">
              <a:solidFill>
                <a:schemeClr val="lt2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829" name="Google Shape;829;p54"/>
          <p:cNvSpPr/>
          <p:nvPr/>
        </p:nvSpPr>
        <p:spPr>
          <a:xfrm>
            <a:off x="3900725" y="1787175"/>
            <a:ext cx="638400" cy="166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Confirm</a:t>
            </a:r>
            <a:endParaRPr b="1" sz="7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830" name="Google Shape;830;p54"/>
          <p:cNvSpPr/>
          <p:nvPr/>
        </p:nvSpPr>
        <p:spPr>
          <a:xfrm>
            <a:off x="3672525" y="3441050"/>
            <a:ext cx="951300" cy="1668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Partially </a:t>
            </a:r>
            <a:r>
              <a:rPr b="1" lang="en" sz="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Confirm</a:t>
            </a:r>
            <a:endParaRPr b="1" sz="7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831" name="Google Shape;831;p54"/>
          <p:cNvSpPr txBox="1"/>
          <p:nvPr/>
        </p:nvSpPr>
        <p:spPr>
          <a:xfrm>
            <a:off x="5300375" y="1630075"/>
            <a:ext cx="3323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41413"/>
                </a:solidFill>
                <a:latin typeface="Anaheim"/>
                <a:ea typeface="Anaheim"/>
                <a:cs typeface="Anaheim"/>
                <a:sym typeface="Anaheim"/>
              </a:rPr>
              <a:t>Graph beats features</a:t>
            </a:r>
            <a:endParaRPr b="1" sz="1200">
              <a:solidFill>
                <a:srgbClr val="141413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D3D3A"/>
                </a:solidFill>
                <a:latin typeface="Anaheim"/>
                <a:ea typeface="Anaheim"/>
                <a:cs typeface="Anaheim"/>
                <a:sym typeface="Anaheim"/>
              </a:rPr>
              <a:t>LightGCN's 3-hop propagation surfaces restaurants that share no direct reviewers with the user, something 332 content features can't replicate</a:t>
            </a:r>
            <a:endParaRPr sz="12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832" name="Google Shape;832;p54"/>
          <p:cNvSpPr txBox="1"/>
          <p:nvPr/>
        </p:nvSpPr>
        <p:spPr>
          <a:xfrm>
            <a:off x="5300375" y="2680775"/>
            <a:ext cx="31707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41413"/>
                </a:solidFill>
                <a:latin typeface="Anaheim"/>
                <a:ea typeface="Anaheim"/>
                <a:cs typeface="Anaheim"/>
                <a:sym typeface="Anaheim"/>
              </a:rPr>
              <a:t>Sparsity is the core bottleneck</a:t>
            </a:r>
            <a:r>
              <a:rPr b="1" lang="en" sz="1200">
                <a:solidFill>
                  <a:srgbClr val="3D3D3A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endParaRPr b="1" sz="1200">
              <a:solidFill>
                <a:srgbClr val="3D3D3A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D3D3A"/>
                </a:solidFill>
                <a:latin typeface="Anaheim"/>
                <a:ea typeface="Anaheim"/>
                <a:cs typeface="Anaheim"/>
                <a:sym typeface="Anaheim"/>
              </a:rPr>
              <a:t>At 0.09% density, memory-based models can't find reliable neighbors; graph propagation is the only way around it</a:t>
            </a:r>
            <a:endParaRPr sz="12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833" name="Google Shape;833;p54"/>
          <p:cNvSpPr txBox="1"/>
          <p:nvPr/>
        </p:nvSpPr>
        <p:spPr>
          <a:xfrm>
            <a:off x="5300375" y="3731150"/>
            <a:ext cx="31707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41413"/>
                </a:solidFill>
                <a:latin typeface="Anaheim"/>
                <a:ea typeface="Anaheim"/>
                <a:cs typeface="Anaheim"/>
                <a:sym typeface="Anaheim"/>
              </a:rPr>
              <a:t>Ranking metric over RMSE</a:t>
            </a:r>
            <a:r>
              <a:rPr lang="en" sz="1200">
                <a:solidFill>
                  <a:srgbClr val="3D3D3A"/>
                </a:solidFill>
                <a:latin typeface="Anaheim"/>
                <a:ea typeface="Anaheim"/>
                <a:cs typeface="Anaheim"/>
                <a:sym typeface="Anaheim"/>
              </a:rPr>
              <a:t>  </a:t>
            </a:r>
            <a:endParaRPr sz="1200">
              <a:solidFill>
                <a:srgbClr val="3D3D3A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D3D3A"/>
                </a:solidFill>
                <a:latin typeface="Anaheim"/>
                <a:ea typeface="Anaheim"/>
                <a:cs typeface="Anaheim"/>
                <a:sym typeface="Anaheim"/>
              </a:rPr>
              <a:t>NDCG@10 reflects what users actually see; RMSE alone would have obscured FM's strong ranking despite uncalibrated scores</a:t>
            </a:r>
            <a:endParaRPr b="1" sz="1200">
              <a:solidFill>
                <a:srgbClr val="141413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834" name="Google Shape;834;p54"/>
          <p:cNvSpPr/>
          <p:nvPr/>
        </p:nvSpPr>
        <p:spPr>
          <a:xfrm>
            <a:off x="797969" y="1733837"/>
            <a:ext cx="241345" cy="273465"/>
          </a:xfrm>
          <a:custGeom>
            <a:rect b="b" l="l" r="r" t="t"/>
            <a:pathLst>
              <a:path extrusionOk="0" h="10337" w="9122">
                <a:moveTo>
                  <a:pt x="5359" y="1"/>
                </a:moveTo>
                <a:cubicBezTo>
                  <a:pt x="5359" y="1"/>
                  <a:pt x="2191" y="1525"/>
                  <a:pt x="1239" y="5645"/>
                </a:cubicBezTo>
                <a:cubicBezTo>
                  <a:pt x="904" y="5142"/>
                  <a:pt x="587" y="4842"/>
                  <a:pt x="548" y="4842"/>
                </a:cubicBezTo>
                <a:cubicBezTo>
                  <a:pt x="543" y="4842"/>
                  <a:pt x="543" y="4847"/>
                  <a:pt x="548" y="4859"/>
                </a:cubicBezTo>
                <a:cubicBezTo>
                  <a:pt x="977" y="5954"/>
                  <a:pt x="1" y="6454"/>
                  <a:pt x="24" y="7621"/>
                </a:cubicBezTo>
                <a:cubicBezTo>
                  <a:pt x="24" y="8764"/>
                  <a:pt x="2025" y="10098"/>
                  <a:pt x="2025" y="10098"/>
                </a:cubicBezTo>
                <a:cubicBezTo>
                  <a:pt x="2120" y="10169"/>
                  <a:pt x="2192" y="10217"/>
                  <a:pt x="2287" y="10265"/>
                </a:cubicBezTo>
                <a:cubicBezTo>
                  <a:pt x="2215" y="10169"/>
                  <a:pt x="2144" y="10098"/>
                  <a:pt x="2072" y="10003"/>
                </a:cubicBezTo>
                <a:cubicBezTo>
                  <a:pt x="1858" y="9693"/>
                  <a:pt x="1715" y="9360"/>
                  <a:pt x="1691" y="9050"/>
                </a:cubicBezTo>
                <a:cubicBezTo>
                  <a:pt x="1691" y="8431"/>
                  <a:pt x="1977" y="8002"/>
                  <a:pt x="2168" y="7550"/>
                </a:cubicBezTo>
                <a:cubicBezTo>
                  <a:pt x="2311" y="7193"/>
                  <a:pt x="2430" y="6812"/>
                  <a:pt x="2215" y="6288"/>
                </a:cubicBezTo>
                <a:cubicBezTo>
                  <a:pt x="2212" y="6277"/>
                  <a:pt x="2214" y="6271"/>
                  <a:pt x="2220" y="6271"/>
                </a:cubicBezTo>
                <a:cubicBezTo>
                  <a:pt x="2258" y="6271"/>
                  <a:pt x="2449" y="6437"/>
                  <a:pt x="2692" y="6740"/>
                </a:cubicBezTo>
                <a:cubicBezTo>
                  <a:pt x="3239" y="5240"/>
                  <a:pt x="3787" y="3954"/>
                  <a:pt x="3787" y="3954"/>
                </a:cubicBezTo>
                <a:cubicBezTo>
                  <a:pt x="3787" y="3954"/>
                  <a:pt x="3787" y="5978"/>
                  <a:pt x="4478" y="7288"/>
                </a:cubicBezTo>
                <a:cubicBezTo>
                  <a:pt x="5145" y="8526"/>
                  <a:pt x="5097" y="9145"/>
                  <a:pt x="5097" y="9145"/>
                </a:cubicBezTo>
                <a:cubicBezTo>
                  <a:pt x="6288" y="8026"/>
                  <a:pt x="6669" y="6240"/>
                  <a:pt x="6669" y="6240"/>
                </a:cubicBezTo>
                <a:cubicBezTo>
                  <a:pt x="7097" y="6621"/>
                  <a:pt x="7359" y="7097"/>
                  <a:pt x="7502" y="7574"/>
                </a:cubicBezTo>
                <a:cubicBezTo>
                  <a:pt x="7788" y="8598"/>
                  <a:pt x="7169" y="9622"/>
                  <a:pt x="7169" y="9717"/>
                </a:cubicBezTo>
                <a:cubicBezTo>
                  <a:pt x="7169" y="9765"/>
                  <a:pt x="7145" y="9788"/>
                  <a:pt x="7145" y="9836"/>
                </a:cubicBezTo>
                <a:cubicBezTo>
                  <a:pt x="7097" y="10027"/>
                  <a:pt x="7026" y="10193"/>
                  <a:pt x="6931" y="10336"/>
                </a:cubicBezTo>
                <a:cubicBezTo>
                  <a:pt x="7026" y="10265"/>
                  <a:pt x="7145" y="10193"/>
                  <a:pt x="7240" y="10098"/>
                </a:cubicBezTo>
                <a:cubicBezTo>
                  <a:pt x="7240" y="10098"/>
                  <a:pt x="9074" y="8764"/>
                  <a:pt x="9098" y="7621"/>
                </a:cubicBezTo>
                <a:cubicBezTo>
                  <a:pt x="9122" y="6454"/>
                  <a:pt x="8145" y="5954"/>
                  <a:pt x="8574" y="4859"/>
                </a:cubicBezTo>
                <a:cubicBezTo>
                  <a:pt x="8580" y="4846"/>
                  <a:pt x="8581" y="4840"/>
                  <a:pt x="8575" y="4840"/>
                </a:cubicBezTo>
                <a:cubicBezTo>
                  <a:pt x="8543" y="4840"/>
                  <a:pt x="8290" y="5094"/>
                  <a:pt x="8002" y="5526"/>
                </a:cubicBezTo>
                <a:cubicBezTo>
                  <a:pt x="7669" y="4502"/>
                  <a:pt x="7455" y="3668"/>
                  <a:pt x="6335" y="2692"/>
                </a:cubicBezTo>
                <a:lnTo>
                  <a:pt x="6335" y="2692"/>
                </a:lnTo>
                <a:cubicBezTo>
                  <a:pt x="6335" y="2692"/>
                  <a:pt x="6526" y="4930"/>
                  <a:pt x="5335" y="6550"/>
                </a:cubicBezTo>
                <a:cubicBezTo>
                  <a:pt x="5335" y="6550"/>
                  <a:pt x="5764" y="5288"/>
                  <a:pt x="5073" y="3168"/>
                </a:cubicBezTo>
                <a:cubicBezTo>
                  <a:pt x="4382" y="1049"/>
                  <a:pt x="5359" y="1"/>
                  <a:pt x="53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54"/>
          <p:cNvSpPr/>
          <p:nvPr/>
        </p:nvSpPr>
        <p:spPr>
          <a:xfrm>
            <a:off x="797969" y="3387725"/>
            <a:ext cx="241345" cy="273465"/>
          </a:xfrm>
          <a:custGeom>
            <a:rect b="b" l="l" r="r" t="t"/>
            <a:pathLst>
              <a:path extrusionOk="0" h="10337" w="9122">
                <a:moveTo>
                  <a:pt x="5359" y="1"/>
                </a:moveTo>
                <a:cubicBezTo>
                  <a:pt x="5359" y="1"/>
                  <a:pt x="2191" y="1525"/>
                  <a:pt x="1239" y="5645"/>
                </a:cubicBezTo>
                <a:cubicBezTo>
                  <a:pt x="904" y="5142"/>
                  <a:pt x="587" y="4842"/>
                  <a:pt x="548" y="4842"/>
                </a:cubicBezTo>
                <a:cubicBezTo>
                  <a:pt x="543" y="4842"/>
                  <a:pt x="543" y="4847"/>
                  <a:pt x="548" y="4859"/>
                </a:cubicBezTo>
                <a:cubicBezTo>
                  <a:pt x="977" y="5954"/>
                  <a:pt x="1" y="6454"/>
                  <a:pt x="24" y="7621"/>
                </a:cubicBezTo>
                <a:cubicBezTo>
                  <a:pt x="24" y="8764"/>
                  <a:pt x="2025" y="10098"/>
                  <a:pt x="2025" y="10098"/>
                </a:cubicBezTo>
                <a:cubicBezTo>
                  <a:pt x="2120" y="10169"/>
                  <a:pt x="2192" y="10217"/>
                  <a:pt x="2287" y="10265"/>
                </a:cubicBezTo>
                <a:cubicBezTo>
                  <a:pt x="2215" y="10169"/>
                  <a:pt x="2144" y="10098"/>
                  <a:pt x="2072" y="10003"/>
                </a:cubicBezTo>
                <a:cubicBezTo>
                  <a:pt x="1858" y="9693"/>
                  <a:pt x="1715" y="9360"/>
                  <a:pt x="1691" y="9050"/>
                </a:cubicBezTo>
                <a:cubicBezTo>
                  <a:pt x="1691" y="8431"/>
                  <a:pt x="1977" y="8002"/>
                  <a:pt x="2168" y="7550"/>
                </a:cubicBezTo>
                <a:cubicBezTo>
                  <a:pt x="2311" y="7193"/>
                  <a:pt x="2430" y="6812"/>
                  <a:pt x="2215" y="6288"/>
                </a:cubicBezTo>
                <a:cubicBezTo>
                  <a:pt x="2212" y="6277"/>
                  <a:pt x="2214" y="6271"/>
                  <a:pt x="2220" y="6271"/>
                </a:cubicBezTo>
                <a:cubicBezTo>
                  <a:pt x="2258" y="6271"/>
                  <a:pt x="2449" y="6437"/>
                  <a:pt x="2692" y="6740"/>
                </a:cubicBezTo>
                <a:cubicBezTo>
                  <a:pt x="3239" y="5240"/>
                  <a:pt x="3787" y="3954"/>
                  <a:pt x="3787" y="3954"/>
                </a:cubicBezTo>
                <a:cubicBezTo>
                  <a:pt x="3787" y="3954"/>
                  <a:pt x="3787" y="5978"/>
                  <a:pt x="4478" y="7288"/>
                </a:cubicBezTo>
                <a:cubicBezTo>
                  <a:pt x="5145" y="8526"/>
                  <a:pt x="5097" y="9145"/>
                  <a:pt x="5097" y="9145"/>
                </a:cubicBezTo>
                <a:cubicBezTo>
                  <a:pt x="6288" y="8026"/>
                  <a:pt x="6669" y="6240"/>
                  <a:pt x="6669" y="6240"/>
                </a:cubicBezTo>
                <a:cubicBezTo>
                  <a:pt x="7097" y="6621"/>
                  <a:pt x="7359" y="7097"/>
                  <a:pt x="7502" y="7574"/>
                </a:cubicBezTo>
                <a:cubicBezTo>
                  <a:pt x="7788" y="8598"/>
                  <a:pt x="7169" y="9622"/>
                  <a:pt x="7169" y="9717"/>
                </a:cubicBezTo>
                <a:cubicBezTo>
                  <a:pt x="7169" y="9765"/>
                  <a:pt x="7145" y="9788"/>
                  <a:pt x="7145" y="9836"/>
                </a:cubicBezTo>
                <a:cubicBezTo>
                  <a:pt x="7097" y="10027"/>
                  <a:pt x="7026" y="10193"/>
                  <a:pt x="6931" y="10336"/>
                </a:cubicBezTo>
                <a:cubicBezTo>
                  <a:pt x="7026" y="10265"/>
                  <a:pt x="7145" y="10193"/>
                  <a:pt x="7240" y="10098"/>
                </a:cubicBezTo>
                <a:cubicBezTo>
                  <a:pt x="7240" y="10098"/>
                  <a:pt x="9074" y="8764"/>
                  <a:pt x="9098" y="7621"/>
                </a:cubicBezTo>
                <a:cubicBezTo>
                  <a:pt x="9122" y="6454"/>
                  <a:pt x="8145" y="5954"/>
                  <a:pt x="8574" y="4859"/>
                </a:cubicBezTo>
                <a:cubicBezTo>
                  <a:pt x="8580" y="4846"/>
                  <a:pt x="8581" y="4840"/>
                  <a:pt x="8575" y="4840"/>
                </a:cubicBezTo>
                <a:cubicBezTo>
                  <a:pt x="8543" y="4840"/>
                  <a:pt x="8290" y="5094"/>
                  <a:pt x="8002" y="5526"/>
                </a:cubicBezTo>
                <a:cubicBezTo>
                  <a:pt x="7669" y="4502"/>
                  <a:pt x="7455" y="3668"/>
                  <a:pt x="6335" y="2692"/>
                </a:cubicBezTo>
                <a:lnTo>
                  <a:pt x="6335" y="2692"/>
                </a:lnTo>
                <a:cubicBezTo>
                  <a:pt x="6335" y="2692"/>
                  <a:pt x="6526" y="4930"/>
                  <a:pt x="5335" y="6550"/>
                </a:cubicBezTo>
                <a:cubicBezTo>
                  <a:pt x="5335" y="6550"/>
                  <a:pt x="5764" y="5288"/>
                  <a:pt x="5073" y="3168"/>
                </a:cubicBezTo>
                <a:cubicBezTo>
                  <a:pt x="4382" y="1049"/>
                  <a:pt x="5359" y="1"/>
                  <a:pt x="53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6" name="Google Shape;836;p54"/>
          <p:cNvGrpSpPr/>
          <p:nvPr/>
        </p:nvGrpSpPr>
        <p:grpSpPr>
          <a:xfrm>
            <a:off x="5059030" y="3875355"/>
            <a:ext cx="241351" cy="241351"/>
            <a:chOff x="-61783350" y="2297100"/>
            <a:chExt cx="316650" cy="316650"/>
          </a:xfrm>
        </p:grpSpPr>
        <p:sp>
          <p:nvSpPr>
            <p:cNvPr id="837" name="Google Shape;837;p54"/>
            <p:cNvSpPr/>
            <p:nvPr/>
          </p:nvSpPr>
          <p:spPr>
            <a:xfrm>
              <a:off x="-61783350" y="2297100"/>
              <a:ext cx="316650" cy="316650"/>
            </a:xfrm>
            <a:custGeom>
              <a:rect b="b" l="l" r="r" t="t"/>
              <a:pathLst>
                <a:path extrusionOk="0" h="12666" w="12666">
                  <a:moveTo>
                    <a:pt x="379" y="0"/>
                  </a:moveTo>
                  <a:cubicBezTo>
                    <a:pt x="158" y="0"/>
                    <a:pt x="1" y="189"/>
                    <a:pt x="1" y="441"/>
                  </a:cubicBezTo>
                  <a:lnTo>
                    <a:pt x="1" y="12287"/>
                  </a:lnTo>
                  <a:cubicBezTo>
                    <a:pt x="1" y="12508"/>
                    <a:pt x="190" y="12665"/>
                    <a:pt x="379" y="12665"/>
                  </a:cubicBezTo>
                  <a:lnTo>
                    <a:pt x="12256" y="12665"/>
                  </a:lnTo>
                  <a:cubicBezTo>
                    <a:pt x="12477" y="12665"/>
                    <a:pt x="12666" y="12476"/>
                    <a:pt x="12666" y="12287"/>
                  </a:cubicBezTo>
                  <a:cubicBezTo>
                    <a:pt x="12634" y="12098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41"/>
                  </a:lnTo>
                  <a:cubicBezTo>
                    <a:pt x="820" y="189"/>
                    <a:pt x="631" y="0"/>
                    <a:pt x="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60250" lIns="60250" spcFirstLastPara="1" rIns="60250" wrap="square" tIns="60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3"/>
                <a:buFont typeface="Arial"/>
                <a:buNone/>
              </a:pPr>
              <a:r>
                <a:t/>
              </a:r>
              <a:endParaRPr b="0" i="0" sz="9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54"/>
            <p:cNvSpPr/>
            <p:nvPr/>
          </p:nvSpPr>
          <p:spPr>
            <a:xfrm>
              <a:off x="-61742375" y="2387675"/>
              <a:ext cx="275675" cy="151250"/>
            </a:xfrm>
            <a:custGeom>
              <a:rect b="b" l="l" r="r" t="t"/>
              <a:pathLst>
                <a:path extrusionOk="0" h="6050" w="11027">
                  <a:moveTo>
                    <a:pt x="9767" y="788"/>
                  </a:moveTo>
                  <a:cubicBezTo>
                    <a:pt x="10019" y="788"/>
                    <a:pt x="10208" y="977"/>
                    <a:pt x="10208" y="1229"/>
                  </a:cubicBezTo>
                  <a:cubicBezTo>
                    <a:pt x="10176" y="1450"/>
                    <a:pt x="10019" y="1639"/>
                    <a:pt x="9767" y="1639"/>
                  </a:cubicBezTo>
                  <a:cubicBezTo>
                    <a:pt x="9546" y="1639"/>
                    <a:pt x="9389" y="1450"/>
                    <a:pt x="9389" y="1229"/>
                  </a:cubicBezTo>
                  <a:cubicBezTo>
                    <a:pt x="9389" y="977"/>
                    <a:pt x="9578" y="788"/>
                    <a:pt x="9767" y="788"/>
                  </a:cubicBezTo>
                  <a:close/>
                  <a:moveTo>
                    <a:pt x="4001" y="1607"/>
                  </a:moveTo>
                  <a:cubicBezTo>
                    <a:pt x="4222" y="1607"/>
                    <a:pt x="4379" y="1796"/>
                    <a:pt x="4379" y="2048"/>
                  </a:cubicBezTo>
                  <a:cubicBezTo>
                    <a:pt x="4379" y="2269"/>
                    <a:pt x="4222" y="2489"/>
                    <a:pt x="4001" y="2489"/>
                  </a:cubicBezTo>
                  <a:cubicBezTo>
                    <a:pt x="3749" y="2489"/>
                    <a:pt x="3560" y="2269"/>
                    <a:pt x="3560" y="2048"/>
                  </a:cubicBezTo>
                  <a:cubicBezTo>
                    <a:pt x="3560" y="1796"/>
                    <a:pt x="3749" y="1607"/>
                    <a:pt x="4001" y="1607"/>
                  </a:cubicBezTo>
                  <a:close/>
                  <a:moveTo>
                    <a:pt x="6459" y="4128"/>
                  </a:moveTo>
                  <a:cubicBezTo>
                    <a:pt x="6679" y="4128"/>
                    <a:pt x="6900" y="4317"/>
                    <a:pt x="6900" y="4569"/>
                  </a:cubicBezTo>
                  <a:cubicBezTo>
                    <a:pt x="6868" y="4758"/>
                    <a:pt x="6711" y="4947"/>
                    <a:pt x="6459" y="4947"/>
                  </a:cubicBezTo>
                  <a:cubicBezTo>
                    <a:pt x="6238" y="4947"/>
                    <a:pt x="6081" y="4758"/>
                    <a:pt x="6081" y="4569"/>
                  </a:cubicBezTo>
                  <a:cubicBezTo>
                    <a:pt x="6081" y="4317"/>
                    <a:pt x="6270" y="4128"/>
                    <a:pt x="6459" y="4128"/>
                  </a:cubicBezTo>
                  <a:close/>
                  <a:moveTo>
                    <a:pt x="1229" y="4380"/>
                  </a:moveTo>
                  <a:cubicBezTo>
                    <a:pt x="1481" y="4380"/>
                    <a:pt x="1638" y="4569"/>
                    <a:pt x="1638" y="4789"/>
                  </a:cubicBezTo>
                  <a:cubicBezTo>
                    <a:pt x="1638" y="5041"/>
                    <a:pt x="1481" y="5230"/>
                    <a:pt x="1229" y="5230"/>
                  </a:cubicBezTo>
                  <a:cubicBezTo>
                    <a:pt x="1008" y="5230"/>
                    <a:pt x="788" y="5041"/>
                    <a:pt x="788" y="4789"/>
                  </a:cubicBezTo>
                  <a:cubicBezTo>
                    <a:pt x="788" y="4569"/>
                    <a:pt x="1008" y="4380"/>
                    <a:pt x="1229" y="4380"/>
                  </a:cubicBezTo>
                  <a:close/>
                  <a:moveTo>
                    <a:pt x="9767" y="0"/>
                  </a:moveTo>
                  <a:cubicBezTo>
                    <a:pt x="9105" y="0"/>
                    <a:pt x="8570" y="536"/>
                    <a:pt x="8570" y="1229"/>
                  </a:cubicBezTo>
                  <a:cubicBezTo>
                    <a:pt x="8570" y="1418"/>
                    <a:pt x="8601" y="1576"/>
                    <a:pt x="8664" y="1765"/>
                  </a:cubicBezTo>
                  <a:lnTo>
                    <a:pt x="7026" y="3434"/>
                  </a:lnTo>
                  <a:cubicBezTo>
                    <a:pt x="6868" y="3340"/>
                    <a:pt x="6679" y="3308"/>
                    <a:pt x="6459" y="3308"/>
                  </a:cubicBezTo>
                  <a:cubicBezTo>
                    <a:pt x="6270" y="3308"/>
                    <a:pt x="6112" y="3340"/>
                    <a:pt x="5923" y="3434"/>
                  </a:cubicBezTo>
                  <a:lnTo>
                    <a:pt x="5104" y="2584"/>
                  </a:lnTo>
                  <a:cubicBezTo>
                    <a:pt x="5167" y="2426"/>
                    <a:pt x="5199" y="2237"/>
                    <a:pt x="5199" y="2048"/>
                  </a:cubicBezTo>
                  <a:cubicBezTo>
                    <a:pt x="5199" y="1387"/>
                    <a:pt x="4663" y="788"/>
                    <a:pt x="4001" y="788"/>
                  </a:cubicBezTo>
                  <a:cubicBezTo>
                    <a:pt x="3308" y="788"/>
                    <a:pt x="2773" y="1324"/>
                    <a:pt x="2773" y="2048"/>
                  </a:cubicBezTo>
                  <a:cubicBezTo>
                    <a:pt x="2773" y="2237"/>
                    <a:pt x="2804" y="2395"/>
                    <a:pt x="2899" y="2584"/>
                  </a:cubicBezTo>
                  <a:lnTo>
                    <a:pt x="1796" y="3686"/>
                  </a:lnTo>
                  <a:cubicBezTo>
                    <a:pt x="1638" y="3623"/>
                    <a:pt x="1418" y="3592"/>
                    <a:pt x="1229" y="3592"/>
                  </a:cubicBezTo>
                  <a:cubicBezTo>
                    <a:pt x="567" y="3592"/>
                    <a:pt x="0" y="4128"/>
                    <a:pt x="0" y="4852"/>
                  </a:cubicBezTo>
                  <a:cubicBezTo>
                    <a:pt x="0" y="5514"/>
                    <a:pt x="567" y="6049"/>
                    <a:pt x="1229" y="6049"/>
                  </a:cubicBezTo>
                  <a:cubicBezTo>
                    <a:pt x="1890" y="6049"/>
                    <a:pt x="2458" y="5514"/>
                    <a:pt x="2458" y="4852"/>
                  </a:cubicBezTo>
                  <a:cubicBezTo>
                    <a:pt x="2458" y="4632"/>
                    <a:pt x="2426" y="4474"/>
                    <a:pt x="2332" y="4285"/>
                  </a:cubicBezTo>
                  <a:lnTo>
                    <a:pt x="3434" y="3182"/>
                  </a:lnTo>
                  <a:cubicBezTo>
                    <a:pt x="3592" y="3245"/>
                    <a:pt x="3781" y="3308"/>
                    <a:pt x="4001" y="3308"/>
                  </a:cubicBezTo>
                  <a:cubicBezTo>
                    <a:pt x="4190" y="3308"/>
                    <a:pt x="4348" y="3277"/>
                    <a:pt x="4537" y="3182"/>
                  </a:cubicBezTo>
                  <a:lnTo>
                    <a:pt x="5356" y="4001"/>
                  </a:lnTo>
                  <a:cubicBezTo>
                    <a:pt x="5293" y="4159"/>
                    <a:pt x="5262" y="4348"/>
                    <a:pt x="5262" y="4569"/>
                  </a:cubicBezTo>
                  <a:cubicBezTo>
                    <a:pt x="5262" y="5230"/>
                    <a:pt x="5797" y="5766"/>
                    <a:pt x="6459" y="5766"/>
                  </a:cubicBezTo>
                  <a:cubicBezTo>
                    <a:pt x="7152" y="5766"/>
                    <a:pt x="7687" y="5230"/>
                    <a:pt x="7687" y="4569"/>
                  </a:cubicBezTo>
                  <a:cubicBezTo>
                    <a:pt x="7687" y="4348"/>
                    <a:pt x="7656" y="4191"/>
                    <a:pt x="7561" y="4001"/>
                  </a:cubicBezTo>
                  <a:lnTo>
                    <a:pt x="9231" y="2363"/>
                  </a:lnTo>
                  <a:cubicBezTo>
                    <a:pt x="9389" y="2426"/>
                    <a:pt x="9578" y="2489"/>
                    <a:pt x="9767" y="2489"/>
                  </a:cubicBezTo>
                  <a:cubicBezTo>
                    <a:pt x="10460" y="2489"/>
                    <a:pt x="11027" y="1922"/>
                    <a:pt x="11027" y="1229"/>
                  </a:cubicBezTo>
                  <a:cubicBezTo>
                    <a:pt x="10995" y="536"/>
                    <a:pt x="10460" y="0"/>
                    <a:pt x="97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60250" lIns="60250" spcFirstLastPara="1" rIns="60250" wrap="square" tIns="60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3"/>
                <a:buFont typeface="Arial"/>
                <a:buNone/>
              </a:pPr>
              <a:r>
                <a:t/>
              </a:r>
              <a:endParaRPr b="0" i="0" sz="9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9" name="Google Shape;839;p54"/>
          <p:cNvGrpSpPr/>
          <p:nvPr/>
        </p:nvGrpSpPr>
        <p:grpSpPr>
          <a:xfrm>
            <a:off x="5059037" y="2851044"/>
            <a:ext cx="241340" cy="236320"/>
            <a:chOff x="-22881800" y="1971800"/>
            <a:chExt cx="301675" cy="295400"/>
          </a:xfrm>
        </p:grpSpPr>
        <p:sp>
          <p:nvSpPr>
            <p:cNvPr id="840" name="Google Shape;840;p54"/>
            <p:cNvSpPr/>
            <p:nvPr/>
          </p:nvSpPr>
          <p:spPr>
            <a:xfrm>
              <a:off x="-22773100" y="2041900"/>
              <a:ext cx="86650" cy="86675"/>
            </a:xfrm>
            <a:custGeom>
              <a:rect b="b" l="l" r="r" t="t"/>
              <a:pathLst>
                <a:path extrusionOk="0" h="3467" w="3466">
                  <a:moveTo>
                    <a:pt x="1733" y="725"/>
                  </a:moveTo>
                  <a:cubicBezTo>
                    <a:pt x="2268" y="725"/>
                    <a:pt x="2741" y="1198"/>
                    <a:pt x="2741" y="1734"/>
                  </a:cubicBezTo>
                  <a:cubicBezTo>
                    <a:pt x="2741" y="2269"/>
                    <a:pt x="2300" y="2742"/>
                    <a:pt x="1733" y="2742"/>
                  </a:cubicBezTo>
                  <a:cubicBezTo>
                    <a:pt x="1134" y="2742"/>
                    <a:pt x="693" y="2269"/>
                    <a:pt x="693" y="1734"/>
                  </a:cubicBezTo>
                  <a:cubicBezTo>
                    <a:pt x="693" y="1198"/>
                    <a:pt x="1166" y="725"/>
                    <a:pt x="1733" y="725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8"/>
                    <a:pt x="0" y="1734"/>
                  </a:cubicBezTo>
                  <a:cubicBezTo>
                    <a:pt x="0" y="2679"/>
                    <a:pt x="788" y="3466"/>
                    <a:pt x="1733" y="3466"/>
                  </a:cubicBezTo>
                  <a:cubicBezTo>
                    <a:pt x="2678" y="3466"/>
                    <a:pt x="3466" y="2679"/>
                    <a:pt x="3466" y="1734"/>
                  </a:cubicBezTo>
                  <a:cubicBezTo>
                    <a:pt x="3466" y="757"/>
                    <a:pt x="2678" y="1"/>
                    <a:pt x="17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61175" lIns="61175" spcFirstLastPara="1" rIns="61175" wrap="square" tIns="61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7"/>
                <a:buFont typeface="Arial"/>
                <a:buNone/>
              </a:pPr>
              <a:r>
                <a:t/>
              </a:r>
              <a:endParaRPr b="0" i="0" sz="93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54"/>
            <p:cNvSpPr/>
            <p:nvPr/>
          </p:nvSpPr>
          <p:spPr>
            <a:xfrm>
              <a:off x="-22737675" y="2145075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009" y="726"/>
                  </a:moveTo>
                  <a:cubicBezTo>
                    <a:pt x="1198" y="726"/>
                    <a:pt x="1387" y="883"/>
                    <a:pt x="1387" y="1072"/>
                  </a:cubicBezTo>
                  <a:cubicBezTo>
                    <a:pt x="1387" y="1261"/>
                    <a:pt x="1198" y="1419"/>
                    <a:pt x="1009" y="1419"/>
                  </a:cubicBezTo>
                  <a:cubicBezTo>
                    <a:pt x="820" y="1419"/>
                    <a:pt x="662" y="1261"/>
                    <a:pt x="662" y="1072"/>
                  </a:cubicBezTo>
                  <a:cubicBezTo>
                    <a:pt x="662" y="883"/>
                    <a:pt x="820" y="726"/>
                    <a:pt x="1009" y="726"/>
                  </a:cubicBezTo>
                  <a:close/>
                  <a:moveTo>
                    <a:pt x="1009" y="1"/>
                  </a:moveTo>
                  <a:cubicBezTo>
                    <a:pt x="410" y="1"/>
                    <a:pt x="1" y="473"/>
                    <a:pt x="1" y="1041"/>
                  </a:cubicBezTo>
                  <a:cubicBezTo>
                    <a:pt x="1" y="1608"/>
                    <a:pt x="473" y="2049"/>
                    <a:pt x="1009" y="2049"/>
                  </a:cubicBezTo>
                  <a:cubicBezTo>
                    <a:pt x="1576" y="2049"/>
                    <a:pt x="2049" y="1576"/>
                    <a:pt x="2049" y="1041"/>
                  </a:cubicBezTo>
                  <a:cubicBezTo>
                    <a:pt x="2049" y="473"/>
                    <a:pt x="1576" y="1"/>
                    <a:pt x="10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61175" lIns="61175" spcFirstLastPara="1" rIns="61175" wrap="square" tIns="61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7"/>
                <a:buFont typeface="Arial"/>
                <a:buNone/>
              </a:pPr>
              <a:r>
                <a:t/>
              </a:r>
              <a:endParaRPr b="0" i="0" sz="93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54"/>
            <p:cNvSpPr/>
            <p:nvPr/>
          </p:nvSpPr>
          <p:spPr>
            <a:xfrm>
              <a:off x="-22807775" y="2110425"/>
              <a:ext cx="17350" cy="18150"/>
            </a:xfrm>
            <a:custGeom>
              <a:rect b="b" l="l" r="r" t="t"/>
              <a:pathLst>
                <a:path extrusionOk="0" h="726" w="694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79"/>
                  </a:cubicBezTo>
                  <a:cubicBezTo>
                    <a:pt x="694" y="190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61175" lIns="61175" spcFirstLastPara="1" rIns="61175" wrap="square" tIns="61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7"/>
                <a:buFont typeface="Arial"/>
                <a:buNone/>
              </a:pPr>
              <a:r>
                <a:t/>
              </a:r>
              <a:endParaRPr b="0" i="0" sz="93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54"/>
            <p:cNvSpPr/>
            <p:nvPr/>
          </p:nvSpPr>
          <p:spPr>
            <a:xfrm>
              <a:off x="-22773100" y="216320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61175" lIns="61175" spcFirstLastPara="1" rIns="61175" wrap="square" tIns="61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7"/>
                <a:buFont typeface="Arial"/>
                <a:buNone/>
              </a:pPr>
              <a:r>
                <a:t/>
              </a:r>
              <a:endParaRPr b="0" i="0" sz="93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54"/>
            <p:cNvSpPr/>
            <p:nvPr/>
          </p:nvSpPr>
          <p:spPr>
            <a:xfrm>
              <a:off x="-22669150" y="2110425"/>
              <a:ext cx="18150" cy="18150"/>
            </a:xfrm>
            <a:custGeom>
              <a:rect b="b" l="l" r="r" t="t"/>
              <a:pathLst>
                <a:path extrusionOk="0" h="726" w="726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68" y="725"/>
                    <a:pt x="725" y="568"/>
                    <a:pt x="725" y="379"/>
                  </a:cubicBezTo>
                  <a:cubicBezTo>
                    <a:pt x="662" y="190"/>
                    <a:pt x="568" y="1"/>
                    <a:pt x="3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61175" lIns="61175" spcFirstLastPara="1" rIns="61175" wrap="square" tIns="61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7"/>
                <a:buFont typeface="Arial"/>
                <a:buNone/>
              </a:pPr>
              <a:r>
                <a:t/>
              </a:r>
              <a:endParaRPr b="0" i="0" sz="93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54"/>
            <p:cNvSpPr/>
            <p:nvPr/>
          </p:nvSpPr>
          <p:spPr>
            <a:xfrm>
              <a:off x="-22881800" y="1971800"/>
              <a:ext cx="301675" cy="295400"/>
            </a:xfrm>
            <a:custGeom>
              <a:rect b="b" l="l" r="r" t="t"/>
              <a:pathLst>
                <a:path extrusionOk="0" h="11816" w="12067">
                  <a:moveTo>
                    <a:pt x="6081" y="2112"/>
                  </a:moveTo>
                  <a:cubicBezTo>
                    <a:pt x="6553" y="2112"/>
                    <a:pt x="6963" y="2175"/>
                    <a:pt x="7373" y="2332"/>
                  </a:cubicBezTo>
                  <a:cubicBezTo>
                    <a:pt x="8633" y="2805"/>
                    <a:pt x="9578" y="3907"/>
                    <a:pt x="9798" y="5262"/>
                  </a:cubicBezTo>
                  <a:cubicBezTo>
                    <a:pt x="9861" y="5451"/>
                    <a:pt x="9861" y="5672"/>
                    <a:pt x="9861" y="5924"/>
                  </a:cubicBezTo>
                  <a:cubicBezTo>
                    <a:pt x="9861" y="6144"/>
                    <a:pt x="9861" y="6333"/>
                    <a:pt x="9798" y="6585"/>
                  </a:cubicBezTo>
                  <a:cubicBezTo>
                    <a:pt x="9609" y="7909"/>
                    <a:pt x="8633" y="9043"/>
                    <a:pt x="7373" y="9484"/>
                  </a:cubicBezTo>
                  <a:cubicBezTo>
                    <a:pt x="6963" y="9673"/>
                    <a:pt x="6522" y="9736"/>
                    <a:pt x="6081" y="9736"/>
                  </a:cubicBezTo>
                  <a:cubicBezTo>
                    <a:pt x="5640" y="9736"/>
                    <a:pt x="5167" y="9673"/>
                    <a:pt x="4758" y="9484"/>
                  </a:cubicBezTo>
                  <a:cubicBezTo>
                    <a:pt x="3497" y="9043"/>
                    <a:pt x="2552" y="7909"/>
                    <a:pt x="2332" y="6585"/>
                  </a:cubicBezTo>
                  <a:cubicBezTo>
                    <a:pt x="2300" y="6396"/>
                    <a:pt x="2300" y="6144"/>
                    <a:pt x="2300" y="5924"/>
                  </a:cubicBezTo>
                  <a:cubicBezTo>
                    <a:pt x="2300" y="5672"/>
                    <a:pt x="2300" y="5483"/>
                    <a:pt x="2332" y="5262"/>
                  </a:cubicBezTo>
                  <a:cubicBezTo>
                    <a:pt x="2552" y="3907"/>
                    <a:pt x="3497" y="2805"/>
                    <a:pt x="4758" y="2332"/>
                  </a:cubicBezTo>
                  <a:cubicBezTo>
                    <a:pt x="5167" y="2175"/>
                    <a:pt x="5608" y="2112"/>
                    <a:pt x="6081" y="2112"/>
                  </a:cubicBezTo>
                  <a:close/>
                  <a:moveTo>
                    <a:pt x="5329" y="1"/>
                  </a:moveTo>
                  <a:cubicBezTo>
                    <a:pt x="5238" y="1"/>
                    <a:pt x="5151" y="32"/>
                    <a:pt x="5104" y="95"/>
                  </a:cubicBezTo>
                  <a:cubicBezTo>
                    <a:pt x="4978" y="221"/>
                    <a:pt x="4978" y="442"/>
                    <a:pt x="5104" y="568"/>
                  </a:cubicBezTo>
                  <a:cubicBezTo>
                    <a:pt x="5356" y="851"/>
                    <a:pt x="5577" y="1072"/>
                    <a:pt x="5640" y="1387"/>
                  </a:cubicBezTo>
                  <a:cubicBezTo>
                    <a:pt x="5356" y="1419"/>
                    <a:pt x="5041" y="1482"/>
                    <a:pt x="4789" y="1545"/>
                  </a:cubicBezTo>
                  <a:cubicBezTo>
                    <a:pt x="4506" y="1041"/>
                    <a:pt x="4096" y="851"/>
                    <a:pt x="3592" y="599"/>
                  </a:cubicBezTo>
                  <a:cubicBezTo>
                    <a:pt x="3551" y="583"/>
                    <a:pt x="3506" y="575"/>
                    <a:pt x="3461" y="575"/>
                  </a:cubicBezTo>
                  <a:cubicBezTo>
                    <a:pt x="3329" y="575"/>
                    <a:pt x="3189" y="640"/>
                    <a:pt x="3119" y="757"/>
                  </a:cubicBezTo>
                  <a:cubicBezTo>
                    <a:pt x="3056" y="914"/>
                    <a:pt x="3119" y="1167"/>
                    <a:pt x="3277" y="1230"/>
                  </a:cubicBezTo>
                  <a:cubicBezTo>
                    <a:pt x="3623" y="1387"/>
                    <a:pt x="3907" y="1545"/>
                    <a:pt x="4065" y="1828"/>
                  </a:cubicBezTo>
                  <a:cubicBezTo>
                    <a:pt x="3781" y="1954"/>
                    <a:pt x="3560" y="2112"/>
                    <a:pt x="3308" y="2269"/>
                  </a:cubicBezTo>
                  <a:cubicBezTo>
                    <a:pt x="2899" y="1860"/>
                    <a:pt x="2426" y="1828"/>
                    <a:pt x="1891" y="1734"/>
                  </a:cubicBezTo>
                  <a:cubicBezTo>
                    <a:pt x="1702" y="1734"/>
                    <a:pt x="1544" y="1860"/>
                    <a:pt x="1513" y="2049"/>
                  </a:cubicBezTo>
                  <a:cubicBezTo>
                    <a:pt x="1513" y="2269"/>
                    <a:pt x="1639" y="2427"/>
                    <a:pt x="1828" y="2458"/>
                  </a:cubicBezTo>
                  <a:cubicBezTo>
                    <a:pt x="2206" y="2490"/>
                    <a:pt x="2489" y="2521"/>
                    <a:pt x="2773" y="2742"/>
                  </a:cubicBezTo>
                  <a:cubicBezTo>
                    <a:pt x="2584" y="2931"/>
                    <a:pt x="2363" y="3151"/>
                    <a:pt x="2206" y="3403"/>
                  </a:cubicBezTo>
                  <a:cubicBezTo>
                    <a:pt x="1964" y="3318"/>
                    <a:pt x="1741" y="3284"/>
                    <a:pt x="1524" y="3284"/>
                  </a:cubicBezTo>
                  <a:cubicBezTo>
                    <a:pt x="1259" y="3284"/>
                    <a:pt x="1002" y="3334"/>
                    <a:pt x="725" y="3403"/>
                  </a:cubicBezTo>
                  <a:cubicBezTo>
                    <a:pt x="536" y="3435"/>
                    <a:pt x="441" y="3624"/>
                    <a:pt x="473" y="3844"/>
                  </a:cubicBezTo>
                  <a:cubicBezTo>
                    <a:pt x="526" y="4003"/>
                    <a:pt x="667" y="4073"/>
                    <a:pt x="823" y="4073"/>
                  </a:cubicBezTo>
                  <a:cubicBezTo>
                    <a:pt x="853" y="4073"/>
                    <a:pt x="883" y="4070"/>
                    <a:pt x="914" y="4065"/>
                  </a:cubicBezTo>
                  <a:cubicBezTo>
                    <a:pt x="1162" y="3989"/>
                    <a:pt x="1352" y="3947"/>
                    <a:pt x="1534" y="3947"/>
                  </a:cubicBezTo>
                  <a:cubicBezTo>
                    <a:pt x="1652" y="3947"/>
                    <a:pt x="1766" y="3965"/>
                    <a:pt x="1891" y="4002"/>
                  </a:cubicBezTo>
                  <a:cubicBezTo>
                    <a:pt x="1796" y="4254"/>
                    <a:pt x="1670" y="4538"/>
                    <a:pt x="1639" y="4821"/>
                  </a:cubicBezTo>
                  <a:cubicBezTo>
                    <a:pt x="1040" y="4821"/>
                    <a:pt x="630" y="5042"/>
                    <a:pt x="221" y="5357"/>
                  </a:cubicBezTo>
                  <a:cubicBezTo>
                    <a:pt x="63" y="5483"/>
                    <a:pt x="0" y="5672"/>
                    <a:pt x="126" y="5829"/>
                  </a:cubicBezTo>
                  <a:cubicBezTo>
                    <a:pt x="221" y="5924"/>
                    <a:pt x="284" y="5987"/>
                    <a:pt x="410" y="5987"/>
                  </a:cubicBezTo>
                  <a:cubicBezTo>
                    <a:pt x="473" y="5987"/>
                    <a:pt x="567" y="5955"/>
                    <a:pt x="599" y="5924"/>
                  </a:cubicBezTo>
                  <a:cubicBezTo>
                    <a:pt x="914" y="5672"/>
                    <a:pt x="1198" y="5514"/>
                    <a:pt x="1513" y="5514"/>
                  </a:cubicBezTo>
                  <a:lnTo>
                    <a:pt x="1513" y="5924"/>
                  </a:lnTo>
                  <a:cubicBezTo>
                    <a:pt x="1513" y="6081"/>
                    <a:pt x="1513" y="6239"/>
                    <a:pt x="1544" y="6396"/>
                  </a:cubicBezTo>
                  <a:cubicBezTo>
                    <a:pt x="1009" y="6585"/>
                    <a:pt x="725" y="6932"/>
                    <a:pt x="410" y="7373"/>
                  </a:cubicBezTo>
                  <a:cubicBezTo>
                    <a:pt x="284" y="7531"/>
                    <a:pt x="315" y="7720"/>
                    <a:pt x="473" y="7846"/>
                  </a:cubicBezTo>
                  <a:cubicBezTo>
                    <a:pt x="567" y="7877"/>
                    <a:pt x="599" y="7940"/>
                    <a:pt x="694" y="7940"/>
                  </a:cubicBezTo>
                  <a:cubicBezTo>
                    <a:pt x="788" y="7940"/>
                    <a:pt x="914" y="7877"/>
                    <a:pt x="946" y="7783"/>
                  </a:cubicBezTo>
                  <a:cubicBezTo>
                    <a:pt x="1198" y="7467"/>
                    <a:pt x="1355" y="7215"/>
                    <a:pt x="1670" y="7089"/>
                  </a:cubicBezTo>
                  <a:cubicBezTo>
                    <a:pt x="1733" y="7373"/>
                    <a:pt x="1828" y="7657"/>
                    <a:pt x="1985" y="7940"/>
                  </a:cubicBezTo>
                  <a:cubicBezTo>
                    <a:pt x="1544" y="8287"/>
                    <a:pt x="1387" y="8728"/>
                    <a:pt x="1229" y="9232"/>
                  </a:cubicBezTo>
                  <a:cubicBezTo>
                    <a:pt x="1198" y="9421"/>
                    <a:pt x="1324" y="9610"/>
                    <a:pt x="1481" y="9673"/>
                  </a:cubicBezTo>
                  <a:lnTo>
                    <a:pt x="1544" y="9673"/>
                  </a:lnTo>
                  <a:cubicBezTo>
                    <a:pt x="1702" y="9673"/>
                    <a:pt x="1828" y="9547"/>
                    <a:pt x="1891" y="9389"/>
                  </a:cubicBezTo>
                  <a:cubicBezTo>
                    <a:pt x="2017" y="8980"/>
                    <a:pt x="2111" y="8728"/>
                    <a:pt x="2332" y="8476"/>
                  </a:cubicBezTo>
                  <a:cubicBezTo>
                    <a:pt x="2489" y="8728"/>
                    <a:pt x="2678" y="8948"/>
                    <a:pt x="2899" y="9137"/>
                  </a:cubicBezTo>
                  <a:cubicBezTo>
                    <a:pt x="2584" y="9610"/>
                    <a:pt x="2615" y="10082"/>
                    <a:pt x="2647" y="10649"/>
                  </a:cubicBezTo>
                  <a:cubicBezTo>
                    <a:pt x="2647" y="10839"/>
                    <a:pt x="2804" y="10965"/>
                    <a:pt x="2993" y="10965"/>
                  </a:cubicBezTo>
                  <a:lnTo>
                    <a:pt x="3056" y="10965"/>
                  </a:lnTo>
                  <a:cubicBezTo>
                    <a:pt x="3245" y="10965"/>
                    <a:pt x="3371" y="10775"/>
                    <a:pt x="3371" y="10555"/>
                  </a:cubicBezTo>
                  <a:cubicBezTo>
                    <a:pt x="3308" y="10177"/>
                    <a:pt x="3308" y="9862"/>
                    <a:pt x="3434" y="9578"/>
                  </a:cubicBezTo>
                  <a:cubicBezTo>
                    <a:pt x="3686" y="9736"/>
                    <a:pt x="3907" y="9893"/>
                    <a:pt x="4191" y="10019"/>
                  </a:cubicBezTo>
                  <a:cubicBezTo>
                    <a:pt x="4065" y="10555"/>
                    <a:pt x="4222" y="10996"/>
                    <a:pt x="4474" y="11500"/>
                  </a:cubicBezTo>
                  <a:cubicBezTo>
                    <a:pt x="4506" y="11626"/>
                    <a:pt x="4663" y="11721"/>
                    <a:pt x="4789" y="11721"/>
                  </a:cubicBezTo>
                  <a:cubicBezTo>
                    <a:pt x="4821" y="11721"/>
                    <a:pt x="4884" y="11721"/>
                    <a:pt x="4947" y="11658"/>
                  </a:cubicBezTo>
                  <a:cubicBezTo>
                    <a:pt x="5104" y="11595"/>
                    <a:pt x="5167" y="11406"/>
                    <a:pt x="5104" y="11185"/>
                  </a:cubicBezTo>
                  <a:cubicBezTo>
                    <a:pt x="4947" y="10839"/>
                    <a:pt x="4821" y="10555"/>
                    <a:pt x="4852" y="10240"/>
                  </a:cubicBezTo>
                  <a:lnTo>
                    <a:pt x="4852" y="10240"/>
                  </a:lnTo>
                  <a:cubicBezTo>
                    <a:pt x="5136" y="10334"/>
                    <a:pt x="5419" y="10366"/>
                    <a:pt x="5734" y="10397"/>
                  </a:cubicBezTo>
                  <a:cubicBezTo>
                    <a:pt x="5797" y="10965"/>
                    <a:pt x="6112" y="11311"/>
                    <a:pt x="6522" y="11721"/>
                  </a:cubicBezTo>
                  <a:cubicBezTo>
                    <a:pt x="6585" y="11784"/>
                    <a:pt x="6679" y="11815"/>
                    <a:pt x="6742" y="11815"/>
                  </a:cubicBezTo>
                  <a:cubicBezTo>
                    <a:pt x="6837" y="11815"/>
                    <a:pt x="6931" y="11784"/>
                    <a:pt x="6994" y="11721"/>
                  </a:cubicBezTo>
                  <a:cubicBezTo>
                    <a:pt x="7089" y="11595"/>
                    <a:pt x="7089" y="11343"/>
                    <a:pt x="6994" y="11248"/>
                  </a:cubicBezTo>
                  <a:cubicBezTo>
                    <a:pt x="6711" y="10965"/>
                    <a:pt x="6522" y="10712"/>
                    <a:pt x="6427" y="10397"/>
                  </a:cubicBezTo>
                  <a:cubicBezTo>
                    <a:pt x="6711" y="10366"/>
                    <a:pt x="7026" y="10334"/>
                    <a:pt x="7310" y="10240"/>
                  </a:cubicBezTo>
                  <a:cubicBezTo>
                    <a:pt x="7562" y="10775"/>
                    <a:pt x="7971" y="10965"/>
                    <a:pt x="8475" y="11185"/>
                  </a:cubicBezTo>
                  <a:cubicBezTo>
                    <a:pt x="8507" y="11248"/>
                    <a:pt x="8570" y="11248"/>
                    <a:pt x="8633" y="11248"/>
                  </a:cubicBezTo>
                  <a:cubicBezTo>
                    <a:pt x="8759" y="11248"/>
                    <a:pt x="8885" y="11154"/>
                    <a:pt x="8948" y="11028"/>
                  </a:cubicBezTo>
                  <a:cubicBezTo>
                    <a:pt x="9042" y="10870"/>
                    <a:pt x="8948" y="10649"/>
                    <a:pt x="8790" y="10555"/>
                  </a:cubicBezTo>
                  <a:cubicBezTo>
                    <a:pt x="8444" y="10397"/>
                    <a:pt x="8160" y="10240"/>
                    <a:pt x="8003" y="9988"/>
                  </a:cubicBezTo>
                  <a:cubicBezTo>
                    <a:pt x="8286" y="9862"/>
                    <a:pt x="8507" y="9704"/>
                    <a:pt x="8759" y="9547"/>
                  </a:cubicBezTo>
                  <a:cubicBezTo>
                    <a:pt x="9200" y="9925"/>
                    <a:pt x="9672" y="9988"/>
                    <a:pt x="10176" y="10051"/>
                  </a:cubicBezTo>
                  <a:lnTo>
                    <a:pt x="10208" y="10051"/>
                  </a:lnTo>
                  <a:cubicBezTo>
                    <a:pt x="10397" y="10051"/>
                    <a:pt x="10523" y="9925"/>
                    <a:pt x="10555" y="9736"/>
                  </a:cubicBezTo>
                  <a:cubicBezTo>
                    <a:pt x="10555" y="9547"/>
                    <a:pt x="10460" y="9389"/>
                    <a:pt x="10240" y="9358"/>
                  </a:cubicBezTo>
                  <a:cubicBezTo>
                    <a:pt x="9861" y="9295"/>
                    <a:pt x="9578" y="9263"/>
                    <a:pt x="9294" y="9074"/>
                  </a:cubicBezTo>
                  <a:cubicBezTo>
                    <a:pt x="9515" y="8885"/>
                    <a:pt x="9704" y="8633"/>
                    <a:pt x="9861" y="8413"/>
                  </a:cubicBezTo>
                  <a:cubicBezTo>
                    <a:pt x="10082" y="8476"/>
                    <a:pt x="10303" y="8507"/>
                    <a:pt x="10523" y="8507"/>
                  </a:cubicBezTo>
                  <a:cubicBezTo>
                    <a:pt x="10807" y="8507"/>
                    <a:pt x="11090" y="8444"/>
                    <a:pt x="11405" y="8350"/>
                  </a:cubicBezTo>
                  <a:cubicBezTo>
                    <a:pt x="11594" y="8318"/>
                    <a:pt x="11657" y="8129"/>
                    <a:pt x="11626" y="7940"/>
                  </a:cubicBezTo>
                  <a:cubicBezTo>
                    <a:pt x="11599" y="7754"/>
                    <a:pt x="11461" y="7680"/>
                    <a:pt x="11287" y="7680"/>
                  </a:cubicBezTo>
                  <a:cubicBezTo>
                    <a:pt x="11254" y="7680"/>
                    <a:pt x="11220" y="7683"/>
                    <a:pt x="11185" y="7688"/>
                  </a:cubicBezTo>
                  <a:cubicBezTo>
                    <a:pt x="10933" y="7772"/>
                    <a:pt x="10723" y="7814"/>
                    <a:pt x="10517" y="7814"/>
                  </a:cubicBezTo>
                  <a:cubicBezTo>
                    <a:pt x="10415" y="7814"/>
                    <a:pt x="10313" y="7804"/>
                    <a:pt x="10208" y="7783"/>
                  </a:cubicBezTo>
                  <a:cubicBezTo>
                    <a:pt x="10334" y="7499"/>
                    <a:pt x="10460" y="7215"/>
                    <a:pt x="10492" y="6932"/>
                  </a:cubicBezTo>
                  <a:lnTo>
                    <a:pt x="10523" y="6932"/>
                  </a:lnTo>
                  <a:cubicBezTo>
                    <a:pt x="11090" y="6932"/>
                    <a:pt x="11468" y="6711"/>
                    <a:pt x="11909" y="6396"/>
                  </a:cubicBezTo>
                  <a:cubicBezTo>
                    <a:pt x="12004" y="6333"/>
                    <a:pt x="12067" y="6144"/>
                    <a:pt x="11941" y="5987"/>
                  </a:cubicBezTo>
                  <a:cubicBezTo>
                    <a:pt x="11867" y="5895"/>
                    <a:pt x="11773" y="5846"/>
                    <a:pt x="11675" y="5846"/>
                  </a:cubicBezTo>
                  <a:cubicBezTo>
                    <a:pt x="11605" y="5846"/>
                    <a:pt x="11534" y="5871"/>
                    <a:pt x="11468" y="5924"/>
                  </a:cubicBezTo>
                  <a:cubicBezTo>
                    <a:pt x="11153" y="6144"/>
                    <a:pt x="10870" y="6302"/>
                    <a:pt x="10555" y="6302"/>
                  </a:cubicBezTo>
                  <a:lnTo>
                    <a:pt x="10555" y="5924"/>
                  </a:lnTo>
                  <a:cubicBezTo>
                    <a:pt x="10555" y="5766"/>
                    <a:pt x="10555" y="5609"/>
                    <a:pt x="10523" y="5451"/>
                  </a:cubicBezTo>
                  <a:cubicBezTo>
                    <a:pt x="11090" y="5262"/>
                    <a:pt x="11342" y="4884"/>
                    <a:pt x="11657" y="4475"/>
                  </a:cubicBezTo>
                  <a:cubicBezTo>
                    <a:pt x="11783" y="4317"/>
                    <a:pt x="11752" y="4096"/>
                    <a:pt x="11594" y="4002"/>
                  </a:cubicBezTo>
                  <a:cubicBezTo>
                    <a:pt x="11528" y="3949"/>
                    <a:pt x="11457" y="3924"/>
                    <a:pt x="11387" y="3924"/>
                  </a:cubicBezTo>
                  <a:cubicBezTo>
                    <a:pt x="11290" y="3924"/>
                    <a:pt x="11195" y="3973"/>
                    <a:pt x="11122" y="4065"/>
                  </a:cubicBezTo>
                  <a:cubicBezTo>
                    <a:pt x="10870" y="4380"/>
                    <a:pt x="10712" y="4632"/>
                    <a:pt x="10397" y="4727"/>
                  </a:cubicBezTo>
                  <a:cubicBezTo>
                    <a:pt x="10334" y="4475"/>
                    <a:pt x="10240" y="4191"/>
                    <a:pt x="10082" y="3907"/>
                  </a:cubicBezTo>
                  <a:cubicBezTo>
                    <a:pt x="10523" y="3561"/>
                    <a:pt x="10681" y="3120"/>
                    <a:pt x="10838" y="2616"/>
                  </a:cubicBezTo>
                  <a:cubicBezTo>
                    <a:pt x="10870" y="2427"/>
                    <a:pt x="10775" y="2206"/>
                    <a:pt x="10618" y="2175"/>
                  </a:cubicBezTo>
                  <a:cubicBezTo>
                    <a:pt x="10595" y="2171"/>
                    <a:pt x="10572" y="2170"/>
                    <a:pt x="10550" y="2170"/>
                  </a:cubicBezTo>
                  <a:cubicBezTo>
                    <a:pt x="10359" y="2170"/>
                    <a:pt x="10205" y="2286"/>
                    <a:pt x="10176" y="2427"/>
                  </a:cubicBezTo>
                  <a:cubicBezTo>
                    <a:pt x="10050" y="2805"/>
                    <a:pt x="9987" y="3088"/>
                    <a:pt x="9735" y="3309"/>
                  </a:cubicBezTo>
                  <a:cubicBezTo>
                    <a:pt x="9578" y="3088"/>
                    <a:pt x="9389" y="2836"/>
                    <a:pt x="9200" y="2647"/>
                  </a:cubicBezTo>
                  <a:cubicBezTo>
                    <a:pt x="9515" y="2175"/>
                    <a:pt x="9452" y="1702"/>
                    <a:pt x="9420" y="1167"/>
                  </a:cubicBezTo>
                  <a:cubicBezTo>
                    <a:pt x="9420" y="946"/>
                    <a:pt x="9231" y="851"/>
                    <a:pt x="9042" y="851"/>
                  </a:cubicBezTo>
                  <a:cubicBezTo>
                    <a:pt x="8822" y="851"/>
                    <a:pt x="8727" y="1041"/>
                    <a:pt x="8727" y="1230"/>
                  </a:cubicBezTo>
                  <a:cubicBezTo>
                    <a:pt x="8759" y="1639"/>
                    <a:pt x="8759" y="1954"/>
                    <a:pt x="8633" y="2206"/>
                  </a:cubicBezTo>
                  <a:cubicBezTo>
                    <a:pt x="8412" y="2049"/>
                    <a:pt x="8160" y="1891"/>
                    <a:pt x="7877" y="1797"/>
                  </a:cubicBezTo>
                  <a:cubicBezTo>
                    <a:pt x="8003" y="1230"/>
                    <a:pt x="7845" y="788"/>
                    <a:pt x="7625" y="284"/>
                  </a:cubicBezTo>
                  <a:cubicBezTo>
                    <a:pt x="7554" y="168"/>
                    <a:pt x="7432" y="103"/>
                    <a:pt x="7297" y="103"/>
                  </a:cubicBezTo>
                  <a:cubicBezTo>
                    <a:pt x="7250" y="103"/>
                    <a:pt x="7201" y="111"/>
                    <a:pt x="7152" y="127"/>
                  </a:cubicBezTo>
                  <a:cubicBezTo>
                    <a:pt x="6994" y="221"/>
                    <a:pt x="6900" y="410"/>
                    <a:pt x="6994" y="599"/>
                  </a:cubicBezTo>
                  <a:cubicBezTo>
                    <a:pt x="7152" y="946"/>
                    <a:pt x="7247" y="1230"/>
                    <a:pt x="7215" y="1545"/>
                  </a:cubicBezTo>
                  <a:cubicBezTo>
                    <a:pt x="6931" y="1482"/>
                    <a:pt x="6679" y="1419"/>
                    <a:pt x="6364" y="1387"/>
                  </a:cubicBezTo>
                  <a:cubicBezTo>
                    <a:pt x="6270" y="851"/>
                    <a:pt x="5955" y="473"/>
                    <a:pt x="5577" y="95"/>
                  </a:cubicBezTo>
                  <a:cubicBezTo>
                    <a:pt x="5514" y="32"/>
                    <a:pt x="5419" y="1"/>
                    <a:pt x="53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61175" lIns="61175" spcFirstLastPara="1" rIns="61175" wrap="square" tIns="61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7"/>
                <a:buFont typeface="Arial"/>
                <a:buNone/>
              </a:pPr>
              <a:r>
                <a:t/>
              </a:r>
              <a:endParaRPr b="0" i="0" sz="93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6" name="Google Shape;846;p54"/>
          <p:cNvSpPr/>
          <p:nvPr/>
        </p:nvSpPr>
        <p:spPr>
          <a:xfrm>
            <a:off x="5059029" y="1762238"/>
            <a:ext cx="241348" cy="273477"/>
          </a:xfrm>
          <a:custGeom>
            <a:rect b="b" l="l" r="r" t="t"/>
            <a:pathLst>
              <a:path extrusionOk="0" h="19327" w="19401">
                <a:moveTo>
                  <a:pt x="14796" y="1700"/>
                </a:moveTo>
                <a:lnTo>
                  <a:pt x="17815" y="3965"/>
                </a:lnTo>
                <a:lnTo>
                  <a:pt x="14796" y="6229"/>
                </a:lnTo>
                <a:lnTo>
                  <a:pt x="14796" y="5097"/>
                </a:lnTo>
                <a:cubicBezTo>
                  <a:pt x="14796" y="4783"/>
                  <a:pt x="14542" y="4529"/>
                  <a:pt x="14231" y="4529"/>
                </a:cubicBezTo>
                <a:lnTo>
                  <a:pt x="10795" y="4529"/>
                </a:lnTo>
                <a:cubicBezTo>
                  <a:pt x="9807" y="4529"/>
                  <a:pt x="8893" y="5046"/>
                  <a:pt x="8379" y="5888"/>
                </a:cubicBezTo>
                <a:cubicBezTo>
                  <a:pt x="8177" y="5547"/>
                  <a:pt x="7932" y="5230"/>
                  <a:pt x="7658" y="4946"/>
                </a:cubicBezTo>
                <a:cubicBezTo>
                  <a:pt x="8409" y="3974"/>
                  <a:pt x="9566" y="3403"/>
                  <a:pt x="10795" y="3397"/>
                </a:cubicBezTo>
                <a:lnTo>
                  <a:pt x="14231" y="3397"/>
                </a:lnTo>
                <a:cubicBezTo>
                  <a:pt x="14542" y="3397"/>
                  <a:pt x="14796" y="3143"/>
                  <a:pt x="14796" y="2832"/>
                </a:cubicBezTo>
                <a:lnTo>
                  <a:pt x="14796" y="1700"/>
                </a:lnTo>
                <a:close/>
                <a:moveTo>
                  <a:pt x="5807" y="13011"/>
                </a:moveTo>
                <a:cubicBezTo>
                  <a:pt x="5888" y="13398"/>
                  <a:pt x="6015" y="13778"/>
                  <a:pt x="6184" y="14137"/>
                </a:cubicBezTo>
                <a:cubicBezTo>
                  <a:pt x="5538" y="14566"/>
                  <a:pt x="4777" y="14796"/>
                  <a:pt x="4001" y="14796"/>
                </a:cubicBezTo>
                <a:lnTo>
                  <a:pt x="1700" y="14796"/>
                </a:lnTo>
                <a:cubicBezTo>
                  <a:pt x="1386" y="14796"/>
                  <a:pt x="1133" y="14542"/>
                  <a:pt x="1133" y="14231"/>
                </a:cubicBezTo>
                <a:cubicBezTo>
                  <a:pt x="1133" y="13917"/>
                  <a:pt x="1386" y="13663"/>
                  <a:pt x="1700" y="13663"/>
                </a:cubicBezTo>
                <a:lnTo>
                  <a:pt x="4001" y="13663"/>
                </a:lnTo>
                <a:cubicBezTo>
                  <a:pt x="4662" y="13663"/>
                  <a:pt x="5299" y="13434"/>
                  <a:pt x="5807" y="13011"/>
                </a:cubicBezTo>
                <a:close/>
                <a:moveTo>
                  <a:pt x="4001" y="4529"/>
                </a:moveTo>
                <a:cubicBezTo>
                  <a:pt x="6190" y="4532"/>
                  <a:pt x="7963" y="6305"/>
                  <a:pt x="7966" y="8494"/>
                </a:cubicBezTo>
                <a:lnTo>
                  <a:pt x="7966" y="11966"/>
                </a:lnTo>
                <a:cubicBezTo>
                  <a:pt x="7966" y="13527"/>
                  <a:pt x="9231" y="14792"/>
                  <a:pt x="10795" y="14796"/>
                </a:cubicBezTo>
                <a:lnTo>
                  <a:pt x="14231" y="14796"/>
                </a:lnTo>
                <a:cubicBezTo>
                  <a:pt x="14542" y="14796"/>
                  <a:pt x="14796" y="14542"/>
                  <a:pt x="14796" y="14231"/>
                </a:cubicBezTo>
                <a:lnTo>
                  <a:pt x="14796" y="13099"/>
                </a:lnTo>
                <a:lnTo>
                  <a:pt x="17815" y="15363"/>
                </a:lnTo>
                <a:lnTo>
                  <a:pt x="14796" y="17628"/>
                </a:lnTo>
                <a:lnTo>
                  <a:pt x="14796" y="16495"/>
                </a:lnTo>
                <a:cubicBezTo>
                  <a:pt x="14796" y="16181"/>
                  <a:pt x="14542" y="15928"/>
                  <a:pt x="14231" y="15928"/>
                </a:cubicBezTo>
                <a:lnTo>
                  <a:pt x="10795" y="15928"/>
                </a:lnTo>
                <a:cubicBezTo>
                  <a:pt x="8606" y="15925"/>
                  <a:pt x="6833" y="14152"/>
                  <a:pt x="6833" y="11966"/>
                </a:cubicBezTo>
                <a:lnTo>
                  <a:pt x="6833" y="8494"/>
                </a:lnTo>
                <a:cubicBezTo>
                  <a:pt x="6830" y="6930"/>
                  <a:pt x="5565" y="5665"/>
                  <a:pt x="4001" y="5662"/>
                </a:cubicBezTo>
                <a:lnTo>
                  <a:pt x="1700" y="5662"/>
                </a:lnTo>
                <a:cubicBezTo>
                  <a:pt x="1386" y="5662"/>
                  <a:pt x="1133" y="5408"/>
                  <a:pt x="1133" y="5097"/>
                </a:cubicBezTo>
                <a:cubicBezTo>
                  <a:pt x="1133" y="4783"/>
                  <a:pt x="1386" y="4529"/>
                  <a:pt x="1700" y="4529"/>
                </a:cubicBezTo>
                <a:close/>
                <a:moveTo>
                  <a:pt x="14230" y="0"/>
                </a:moveTo>
                <a:cubicBezTo>
                  <a:pt x="13937" y="0"/>
                  <a:pt x="13663" y="232"/>
                  <a:pt x="13663" y="568"/>
                </a:cubicBezTo>
                <a:lnTo>
                  <a:pt x="13663" y="2265"/>
                </a:lnTo>
                <a:lnTo>
                  <a:pt x="10795" y="2265"/>
                </a:lnTo>
                <a:cubicBezTo>
                  <a:pt x="9228" y="2265"/>
                  <a:pt x="7745" y="2989"/>
                  <a:pt x="6782" y="4224"/>
                </a:cubicBezTo>
                <a:cubicBezTo>
                  <a:pt x="5955" y="3684"/>
                  <a:pt x="4988" y="3397"/>
                  <a:pt x="4001" y="3397"/>
                </a:cubicBezTo>
                <a:lnTo>
                  <a:pt x="1700" y="3397"/>
                </a:lnTo>
                <a:cubicBezTo>
                  <a:pt x="761" y="3397"/>
                  <a:pt x="0" y="4158"/>
                  <a:pt x="0" y="5097"/>
                </a:cubicBezTo>
                <a:cubicBezTo>
                  <a:pt x="0" y="6033"/>
                  <a:pt x="761" y="6794"/>
                  <a:pt x="1700" y="6794"/>
                </a:cubicBezTo>
                <a:lnTo>
                  <a:pt x="4001" y="6794"/>
                </a:lnTo>
                <a:cubicBezTo>
                  <a:pt x="4940" y="6794"/>
                  <a:pt x="5698" y="7555"/>
                  <a:pt x="5701" y="8494"/>
                </a:cubicBezTo>
                <a:lnTo>
                  <a:pt x="5701" y="10834"/>
                </a:lnTo>
                <a:cubicBezTo>
                  <a:pt x="5698" y="11770"/>
                  <a:pt x="4940" y="12531"/>
                  <a:pt x="4001" y="12531"/>
                </a:cubicBezTo>
                <a:lnTo>
                  <a:pt x="1700" y="12531"/>
                </a:lnTo>
                <a:cubicBezTo>
                  <a:pt x="761" y="12531"/>
                  <a:pt x="0" y="13292"/>
                  <a:pt x="0" y="14231"/>
                </a:cubicBezTo>
                <a:cubicBezTo>
                  <a:pt x="0" y="15167"/>
                  <a:pt x="761" y="15928"/>
                  <a:pt x="1700" y="15928"/>
                </a:cubicBezTo>
                <a:lnTo>
                  <a:pt x="4001" y="15928"/>
                </a:lnTo>
                <a:cubicBezTo>
                  <a:pt x="4988" y="15928"/>
                  <a:pt x="5955" y="15641"/>
                  <a:pt x="6782" y="15100"/>
                </a:cubicBezTo>
                <a:cubicBezTo>
                  <a:pt x="7745" y="16338"/>
                  <a:pt x="9228" y="17060"/>
                  <a:pt x="10795" y="17060"/>
                </a:cubicBezTo>
                <a:lnTo>
                  <a:pt x="13663" y="17060"/>
                </a:lnTo>
                <a:lnTo>
                  <a:pt x="13663" y="18760"/>
                </a:lnTo>
                <a:cubicBezTo>
                  <a:pt x="13663" y="19095"/>
                  <a:pt x="13938" y="19326"/>
                  <a:pt x="14232" y="19326"/>
                </a:cubicBezTo>
                <a:cubicBezTo>
                  <a:pt x="14347" y="19326"/>
                  <a:pt x="14464" y="19291"/>
                  <a:pt x="14569" y="19213"/>
                </a:cubicBezTo>
                <a:lnTo>
                  <a:pt x="19098" y="15816"/>
                </a:lnTo>
                <a:cubicBezTo>
                  <a:pt x="19400" y="15590"/>
                  <a:pt x="19400" y="15134"/>
                  <a:pt x="19098" y="14910"/>
                </a:cubicBezTo>
                <a:lnTo>
                  <a:pt x="14569" y="11513"/>
                </a:lnTo>
                <a:cubicBezTo>
                  <a:pt x="14464" y="11434"/>
                  <a:pt x="14345" y="11398"/>
                  <a:pt x="14230" y="11398"/>
                </a:cubicBezTo>
                <a:cubicBezTo>
                  <a:pt x="13937" y="11398"/>
                  <a:pt x="13663" y="11630"/>
                  <a:pt x="13663" y="11966"/>
                </a:cubicBezTo>
                <a:lnTo>
                  <a:pt x="13663" y="13663"/>
                </a:lnTo>
                <a:lnTo>
                  <a:pt x="10795" y="13663"/>
                </a:lnTo>
                <a:cubicBezTo>
                  <a:pt x="9856" y="13663"/>
                  <a:pt x="9098" y="12902"/>
                  <a:pt x="9098" y="11966"/>
                </a:cubicBezTo>
                <a:lnTo>
                  <a:pt x="9098" y="7362"/>
                </a:lnTo>
                <a:cubicBezTo>
                  <a:pt x="9098" y="6423"/>
                  <a:pt x="9856" y="5662"/>
                  <a:pt x="10795" y="5662"/>
                </a:cubicBezTo>
                <a:lnTo>
                  <a:pt x="13663" y="5662"/>
                </a:lnTo>
                <a:lnTo>
                  <a:pt x="13663" y="7362"/>
                </a:lnTo>
                <a:cubicBezTo>
                  <a:pt x="13663" y="7576"/>
                  <a:pt x="13784" y="7769"/>
                  <a:pt x="13977" y="7866"/>
                </a:cubicBezTo>
                <a:cubicBezTo>
                  <a:pt x="14057" y="7906"/>
                  <a:pt x="14144" y="7926"/>
                  <a:pt x="14230" y="7926"/>
                </a:cubicBezTo>
                <a:cubicBezTo>
                  <a:pt x="14350" y="7926"/>
                  <a:pt x="14469" y="7888"/>
                  <a:pt x="14569" y="7815"/>
                </a:cubicBezTo>
                <a:lnTo>
                  <a:pt x="19098" y="4418"/>
                </a:lnTo>
                <a:cubicBezTo>
                  <a:pt x="19400" y="4191"/>
                  <a:pt x="19400" y="3735"/>
                  <a:pt x="19098" y="3512"/>
                </a:cubicBezTo>
                <a:lnTo>
                  <a:pt x="14569" y="115"/>
                </a:lnTo>
                <a:cubicBezTo>
                  <a:pt x="14464" y="36"/>
                  <a:pt x="14345" y="0"/>
                  <a:pt x="1423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54"/>
          <p:cNvSpPr txBox="1"/>
          <p:nvPr/>
        </p:nvSpPr>
        <p:spPr>
          <a:xfrm>
            <a:off x="725350" y="1199480"/>
            <a:ext cx="18573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66666"/>
                </a:solidFill>
                <a:latin typeface="Anaheim"/>
                <a:ea typeface="Anaheim"/>
                <a:cs typeface="Anaheim"/>
                <a:sym typeface="Anaheim"/>
              </a:rPr>
              <a:t>HYPOTHESE</a:t>
            </a:r>
            <a:endParaRPr b="1">
              <a:solidFill>
                <a:srgbClr val="666666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848" name="Google Shape;848;p54"/>
          <p:cNvSpPr txBox="1"/>
          <p:nvPr/>
        </p:nvSpPr>
        <p:spPr>
          <a:xfrm>
            <a:off x="4993825" y="1199480"/>
            <a:ext cx="18573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66666"/>
                </a:solidFill>
                <a:latin typeface="Anaheim"/>
                <a:ea typeface="Anaheim"/>
                <a:cs typeface="Anaheim"/>
                <a:sym typeface="Anaheim"/>
              </a:rPr>
              <a:t>KEY LEARNINGS</a:t>
            </a:r>
            <a:endParaRPr b="1">
              <a:solidFill>
                <a:srgbClr val="666666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55"/>
          <p:cNvSpPr txBox="1"/>
          <p:nvPr>
            <p:ph type="title"/>
          </p:nvPr>
        </p:nvSpPr>
        <p:spPr>
          <a:xfrm>
            <a:off x="4153325" y="2393689"/>
            <a:ext cx="38565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854" name="Google Shape;854;p55"/>
          <p:cNvSpPr txBox="1"/>
          <p:nvPr>
            <p:ph idx="2" type="title"/>
          </p:nvPr>
        </p:nvSpPr>
        <p:spPr>
          <a:xfrm>
            <a:off x="4153325" y="1551889"/>
            <a:ext cx="3251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08.</a:t>
            </a:r>
            <a:endParaRPr/>
          </a:p>
        </p:txBody>
      </p:sp>
      <p:grpSp>
        <p:nvGrpSpPr>
          <p:cNvPr id="855" name="Google Shape;855;p55"/>
          <p:cNvGrpSpPr/>
          <p:nvPr/>
        </p:nvGrpSpPr>
        <p:grpSpPr>
          <a:xfrm>
            <a:off x="4153325" y="1103551"/>
            <a:ext cx="3889378" cy="2115223"/>
            <a:chOff x="4153325" y="1039015"/>
            <a:chExt cx="3889378" cy="2115223"/>
          </a:xfrm>
        </p:grpSpPr>
        <p:cxnSp>
          <p:nvCxnSpPr>
            <p:cNvPr id="856" name="Google Shape;856;p55"/>
            <p:cNvCxnSpPr/>
            <p:nvPr/>
          </p:nvCxnSpPr>
          <p:spPr>
            <a:xfrm>
              <a:off x="4154099" y="3154238"/>
              <a:ext cx="38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857" name="Google Shape;857;p55"/>
            <p:cNvGrpSpPr/>
            <p:nvPr/>
          </p:nvGrpSpPr>
          <p:grpSpPr>
            <a:xfrm>
              <a:off x="4153325" y="1039015"/>
              <a:ext cx="3889378" cy="283322"/>
              <a:chOff x="4153325" y="1168827"/>
              <a:chExt cx="3889378" cy="283322"/>
            </a:xfrm>
          </p:grpSpPr>
          <p:cxnSp>
            <p:nvCxnSpPr>
              <p:cNvPr id="858" name="Google Shape;858;p55"/>
              <p:cNvCxnSpPr/>
              <p:nvPr/>
            </p:nvCxnSpPr>
            <p:spPr>
              <a:xfrm>
                <a:off x="4154099" y="1452149"/>
                <a:ext cx="38562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859" name="Google Shape;859;p55"/>
              <p:cNvGrpSpPr/>
              <p:nvPr/>
            </p:nvGrpSpPr>
            <p:grpSpPr>
              <a:xfrm>
                <a:off x="4153325" y="1168827"/>
                <a:ext cx="3889378" cy="198997"/>
                <a:chOff x="4534325" y="1013201"/>
                <a:chExt cx="3889378" cy="198997"/>
              </a:xfrm>
            </p:grpSpPr>
            <p:sp>
              <p:nvSpPr>
                <p:cNvPr id="860" name="Google Shape;860;p55"/>
                <p:cNvSpPr/>
                <p:nvPr/>
              </p:nvSpPr>
              <p:spPr>
                <a:xfrm>
                  <a:off x="453432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1" name="Google Shape;861;p55"/>
                <p:cNvSpPr/>
                <p:nvPr/>
              </p:nvSpPr>
              <p:spPr>
                <a:xfrm>
                  <a:off x="486890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2" name="Google Shape;862;p55"/>
                <p:cNvSpPr/>
                <p:nvPr/>
              </p:nvSpPr>
              <p:spPr>
                <a:xfrm>
                  <a:off x="520347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3" name="Google Shape;863;p55"/>
                <p:cNvSpPr/>
                <p:nvPr/>
              </p:nvSpPr>
              <p:spPr>
                <a:xfrm>
                  <a:off x="553805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4" name="Google Shape;864;p55"/>
                <p:cNvSpPr/>
                <p:nvPr/>
              </p:nvSpPr>
              <p:spPr>
                <a:xfrm>
                  <a:off x="587262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5" name="Google Shape;865;p55"/>
                <p:cNvSpPr/>
                <p:nvPr/>
              </p:nvSpPr>
              <p:spPr>
                <a:xfrm>
                  <a:off x="620720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6" name="Google Shape;866;p55"/>
                <p:cNvSpPr/>
                <p:nvPr/>
              </p:nvSpPr>
              <p:spPr>
                <a:xfrm>
                  <a:off x="654177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7" name="Google Shape;867;p55"/>
                <p:cNvSpPr/>
                <p:nvPr/>
              </p:nvSpPr>
              <p:spPr>
                <a:xfrm>
                  <a:off x="687635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8" name="Google Shape;868;p55"/>
                <p:cNvSpPr/>
                <p:nvPr/>
              </p:nvSpPr>
              <p:spPr>
                <a:xfrm>
                  <a:off x="721092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9" name="Google Shape;869;p55"/>
                <p:cNvSpPr/>
                <p:nvPr/>
              </p:nvSpPr>
              <p:spPr>
                <a:xfrm>
                  <a:off x="754550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0" name="Google Shape;870;p55"/>
                <p:cNvSpPr/>
                <p:nvPr/>
              </p:nvSpPr>
              <p:spPr>
                <a:xfrm>
                  <a:off x="7880075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1" name="Google Shape;871;p55"/>
                <p:cNvSpPr/>
                <p:nvPr/>
              </p:nvSpPr>
              <p:spPr>
                <a:xfrm>
                  <a:off x="8214650" y="1013201"/>
                  <a:ext cx="209053" cy="198997"/>
                </a:xfrm>
                <a:custGeom>
                  <a:rect b="b" l="l" r="r" t="t"/>
                  <a:pathLst>
                    <a:path extrusionOk="0" h="2909" w="3056">
                      <a:moveTo>
                        <a:pt x="1528" y="0"/>
                      </a:moveTo>
                      <a:lnTo>
                        <a:pt x="1067" y="963"/>
                      </a:lnTo>
                      <a:lnTo>
                        <a:pt x="0" y="1109"/>
                      </a:lnTo>
                      <a:lnTo>
                        <a:pt x="774" y="1841"/>
                      </a:lnTo>
                      <a:lnTo>
                        <a:pt x="586" y="2908"/>
                      </a:lnTo>
                      <a:lnTo>
                        <a:pt x="1528" y="2406"/>
                      </a:lnTo>
                      <a:lnTo>
                        <a:pt x="2469" y="2908"/>
                      </a:lnTo>
                      <a:lnTo>
                        <a:pt x="2281" y="1841"/>
                      </a:lnTo>
                      <a:lnTo>
                        <a:pt x="3055" y="1109"/>
                      </a:lnTo>
                      <a:lnTo>
                        <a:pt x="2009" y="963"/>
                      </a:lnTo>
                      <a:lnTo>
                        <a:pt x="152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pic>
        <p:nvPicPr>
          <p:cNvPr id="872" name="Google Shape;872;p55" title="Moving forward-ami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275" y="946937"/>
            <a:ext cx="2976750" cy="297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type="title"/>
          </p:nvPr>
        </p:nvSpPr>
        <p:spPr>
          <a:xfrm>
            <a:off x="725350" y="54225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grpSp>
        <p:nvGrpSpPr>
          <p:cNvPr id="878" name="Google Shape;878;p56"/>
          <p:cNvGrpSpPr/>
          <p:nvPr/>
        </p:nvGrpSpPr>
        <p:grpSpPr>
          <a:xfrm>
            <a:off x="720072" y="540000"/>
            <a:ext cx="7704093" cy="577207"/>
            <a:chOff x="3667800" y="1583575"/>
            <a:chExt cx="4756200" cy="577207"/>
          </a:xfrm>
        </p:grpSpPr>
        <p:cxnSp>
          <p:nvCxnSpPr>
            <p:cNvPr id="879" name="Google Shape;879;p56"/>
            <p:cNvCxnSpPr/>
            <p:nvPr/>
          </p:nvCxnSpPr>
          <p:spPr>
            <a:xfrm>
              <a:off x="3667800" y="1583575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0" name="Google Shape;880;p56"/>
            <p:cNvCxnSpPr/>
            <p:nvPr/>
          </p:nvCxnSpPr>
          <p:spPr>
            <a:xfrm>
              <a:off x="3667800" y="2160782"/>
              <a:ext cx="4756200" cy="0"/>
            </a:xfrm>
            <a:prstGeom prst="straightConnector1">
              <a:avLst/>
            </a:prstGeom>
            <a:noFill/>
            <a:ln cap="flat" cmpd="sng" w="3810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81" name="Google Shape;881;p56"/>
          <p:cNvSpPr/>
          <p:nvPr/>
        </p:nvSpPr>
        <p:spPr>
          <a:xfrm>
            <a:off x="716825" y="1433650"/>
            <a:ext cx="2356800" cy="2906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882" name="Google Shape;882;p56"/>
          <p:cNvSpPr/>
          <p:nvPr/>
        </p:nvSpPr>
        <p:spPr>
          <a:xfrm>
            <a:off x="6067375" y="1433650"/>
            <a:ext cx="2356800" cy="2906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883" name="Google Shape;883;p56"/>
          <p:cNvSpPr/>
          <p:nvPr/>
        </p:nvSpPr>
        <p:spPr>
          <a:xfrm>
            <a:off x="3392100" y="1433650"/>
            <a:ext cx="2356800" cy="2906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884" name="Google Shape;884;p56"/>
          <p:cNvSpPr txBox="1"/>
          <p:nvPr/>
        </p:nvSpPr>
        <p:spPr>
          <a:xfrm>
            <a:off x="766025" y="1698800"/>
            <a:ext cx="2307600" cy="21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41413"/>
                </a:solidFill>
                <a:latin typeface="Anaheim"/>
                <a:ea typeface="Anaheim"/>
                <a:cs typeface="Anaheim"/>
                <a:sym typeface="Anaheim"/>
              </a:rPr>
              <a:t>Cold-start fallback</a:t>
            </a:r>
            <a:endParaRPr b="1" sz="1200">
              <a:solidFill>
                <a:srgbClr val="141413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D3D3A"/>
                </a:solidFill>
                <a:latin typeface="Anaheim"/>
                <a:ea typeface="Anaheim"/>
                <a:cs typeface="Anaheim"/>
                <a:sym typeface="Anaheim"/>
              </a:rPr>
              <a:t>New users have no interaction history. A content-based fallback using categories, location, and price range fills the gap until collaborative signal accumulates.</a:t>
            </a:r>
            <a:endParaRPr sz="1200">
              <a:solidFill>
                <a:srgbClr val="3D3D3A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885" name="Google Shape;885;p56"/>
          <p:cNvSpPr txBox="1"/>
          <p:nvPr/>
        </p:nvSpPr>
        <p:spPr>
          <a:xfrm>
            <a:off x="3416700" y="1698800"/>
            <a:ext cx="2307600" cy="21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41413"/>
                </a:solidFill>
                <a:latin typeface="Anaheim"/>
                <a:ea typeface="Anaheim"/>
                <a:cs typeface="Anaheim"/>
                <a:sym typeface="Anaheim"/>
              </a:rPr>
              <a:t>FAISS for real-time serving</a:t>
            </a:r>
            <a:endParaRPr b="1" sz="1200">
              <a:solidFill>
                <a:srgbClr val="141413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D3D3A"/>
                </a:solidFill>
                <a:latin typeface="Anaheim"/>
                <a:ea typeface="Anaheim"/>
                <a:cs typeface="Anaheim"/>
                <a:sym typeface="Anaheim"/>
              </a:rPr>
              <a:t>Pre-computing user and item embeddings and indexing with FAISS enables sub-millisecond retrieval — making LightGCN viable at production scale.</a:t>
            </a:r>
            <a:endParaRPr sz="1200">
              <a:solidFill>
                <a:srgbClr val="3D3D3A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886" name="Google Shape;886;p56"/>
          <p:cNvSpPr txBox="1"/>
          <p:nvPr/>
        </p:nvSpPr>
        <p:spPr>
          <a:xfrm>
            <a:off x="6067375" y="1698800"/>
            <a:ext cx="2356800" cy="21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41413"/>
                </a:solidFill>
                <a:latin typeface="Anaheim"/>
                <a:ea typeface="Anaheim"/>
                <a:cs typeface="Anaheim"/>
                <a:sym typeface="Anaheim"/>
              </a:rPr>
              <a:t>Re-evaluate on post-COVID data</a:t>
            </a:r>
            <a:endParaRPr b="1" sz="1200">
              <a:solidFill>
                <a:srgbClr val="141413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D3D3A"/>
                </a:solidFill>
                <a:latin typeface="Anaheim"/>
                <a:ea typeface="Anaheim"/>
                <a:cs typeface="Anaheim"/>
                <a:sym typeface="Anaheim"/>
              </a:rPr>
              <a:t>Our test set's 47% cold-start removal rate was driven by pandemic closures. Re-running on 2023–2024 data would give a cleaner baseline for true model performance.</a:t>
            </a:r>
            <a:endParaRPr sz="1200">
              <a:solidFill>
                <a:srgbClr val="3D3D3A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grpSp>
        <p:nvGrpSpPr>
          <p:cNvPr id="887" name="Google Shape;887;p56"/>
          <p:cNvGrpSpPr/>
          <p:nvPr/>
        </p:nvGrpSpPr>
        <p:grpSpPr>
          <a:xfrm>
            <a:off x="7076121" y="1624897"/>
            <a:ext cx="339306" cy="298186"/>
            <a:chOff x="2085450" y="2057100"/>
            <a:chExt cx="481900" cy="423500"/>
          </a:xfrm>
        </p:grpSpPr>
        <p:sp>
          <p:nvSpPr>
            <p:cNvPr id="888" name="Google Shape;888;p56"/>
            <p:cNvSpPr/>
            <p:nvPr/>
          </p:nvSpPr>
          <p:spPr>
            <a:xfrm>
              <a:off x="2085450" y="2061650"/>
              <a:ext cx="141250" cy="418950"/>
            </a:xfrm>
            <a:custGeom>
              <a:rect b="b" l="l" r="r" t="t"/>
              <a:pathLst>
                <a:path extrusionOk="0" h="16758" w="5650">
                  <a:moveTo>
                    <a:pt x="4305" y="6452"/>
                  </a:moveTo>
                  <a:cubicBezTo>
                    <a:pt x="4736" y="6452"/>
                    <a:pt x="5115" y="6999"/>
                    <a:pt x="4728" y="7411"/>
                  </a:cubicBezTo>
                  <a:cubicBezTo>
                    <a:pt x="4520" y="7631"/>
                    <a:pt x="4352" y="7887"/>
                    <a:pt x="4228" y="8164"/>
                  </a:cubicBezTo>
                  <a:cubicBezTo>
                    <a:pt x="4120" y="8402"/>
                    <a:pt x="3927" y="8502"/>
                    <a:pt x="3732" y="8502"/>
                  </a:cubicBezTo>
                  <a:cubicBezTo>
                    <a:pt x="3367" y="8502"/>
                    <a:pt x="2999" y="8150"/>
                    <a:pt x="3195" y="7703"/>
                  </a:cubicBezTo>
                  <a:cubicBezTo>
                    <a:pt x="3373" y="7312"/>
                    <a:pt x="3611" y="6951"/>
                    <a:pt x="3903" y="6637"/>
                  </a:cubicBezTo>
                  <a:cubicBezTo>
                    <a:pt x="4027" y="6506"/>
                    <a:pt x="4169" y="6452"/>
                    <a:pt x="4305" y="6452"/>
                  </a:cubicBezTo>
                  <a:close/>
                  <a:moveTo>
                    <a:pt x="2983" y="9449"/>
                  </a:moveTo>
                  <a:cubicBezTo>
                    <a:pt x="3331" y="9449"/>
                    <a:pt x="3684" y="9752"/>
                    <a:pt x="3539" y="10191"/>
                  </a:cubicBezTo>
                  <a:lnTo>
                    <a:pt x="3361" y="10727"/>
                  </a:lnTo>
                  <a:cubicBezTo>
                    <a:pt x="3270" y="10997"/>
                    <a:pt x="3059" y="11113"/>
                    <a:pt x="2845" y="11113"/>
                  </a:cubicBezTo>
                  <a:cubicBezTo>
                    <a:pt x="2498" y="11113"/>
                    <a:pt x="2143" y="10808"/>
                    <a:pt x="2289" y="10368"/>
                  </a:cubicBezTo>
                  <a:lnTo>
                    <a:pt x="2467" y="9832"/>
                  </a:lnTo>
                  <a:cubicBezTo>
                    <a:pt x="2558" y="9564"/>
                    <a:pt x="2770" y="9449"/>
                    <a:pt x="2983" y="9449"/>
                  </a:cubicBezTo>
                  <a:close/>
                  <a:moveTo>
                    <a:pt x="5649" y="1"/>
                  </a:moveTo>
                  <a:lnTo>
                    <a:pt x="356" y="2117"/>
                  </a:lnTo>
                  <a:cubicBezTo>
                    <a:pt x="142" y="2202"/>
                    <a:pt x="3" y="2410"/>
                    <a:pt x="3" y="2641"/>
                  </a:cubicBezTo>
                  <a:lnTo>
                    <a:pt x="3" y="16192"/>
                  </a:lnTo>
                  <a:cubicBezTo>
                    <a:pt x="1" y="16516"/>
                    <a:pt x="265" y="16758"/>
                    <a:pt x="564" y="16758"/>
                  </a:cubicBezTo>
                  <a:cubicBezTo>
                    <a:pt x="634" y="16758"/>
                    <a:pt x="706" y="16745"/>
                    <a:pt x="777" y="16716"/>
                  </a:cubicBezTo>
                  <a:lnTo>
                    <a:pt x="5649" y="14768"/>
                  </a:lnTo>
                  <a:lnTo>
                    <a:pt x="56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9" name="Google Shape;889;p56"/>
            <p:cNvSpPr/>
            <p:nvPr/>
          </p:nvSpPr>
          <p:spPr>
            <a:xfrm>
              <a:off x="2254900" y="2061050"/>
              <a:ext cx="143050" cy="415650"/>
            </a:xfrm>
            <a:custGeom>
              <a:rect b="b" l="l" r="r" t="t"/>
              <a:pathLst>
                <a:path extrusionOk="0" h="16626" w="5722">
                  <a:moveTo>
                    <a:pt x="2504" y="6585"/>
                  </a:moveTo>
                  <a:cubicBezTo>
                    <a:pt x="2647" y="6585"/>
                    <a:pt x="2794" y="6645"/>
                    <a:pt x="2916" y="6788"/>
                  </a:cubicBezTo>
                  <a:cubicBezTo>
                    <a:pt x="3153" y="7068"/>
                    <a:pt x="3349" y="7378"/>
                    <a:pt x="3500" y="7709"/>
                  </a:cubicBezTo>
                  <a:cubicBezTo>
                    <a:pt x="3766" y="8258"/>
                    <a:pt x="3464" y="8654"/>
                    <a:pt x="3096" y="8654"/>
                  </a:cubicBezTo>
                  <a:cubicBezTo>
                    <a:pt x="2878" y="8654"/>
                    <a:pt x="2636" y="8515"/>
                    <a:pt x="2476" y="8185"/>
                  </a:cubicBezTo>
                  <a:cubicBezTo>
                    <a:pt x="2367" y="7947"/>
                    <a:pt x="2226" y="7724"/>
                    <a:pt x="2057" y="7523"/>
                  </a:cubicBezTo>
                  <a:cubicBezTo>
                    <a:pt x="1694" y="7098"/>
                    <a:pt x="2083" y="6585"/>
                    <a:pt x="2504" y="6585"/>
                  </a:cubicBezTo>
                  <a:close/>
                  <a:moveTo>
                    <a:pt x="1" y="0"/>
                  </a:moveTo>
                  <a:lnTo>
                    <a:pt x="1" y="5475"/>
                  </a:lnTo>
                  <a:cubicBezTo>
                    <a:pt x="217" y="5475"/>
                    <a:pt x="434" y="5496"/>
                    <a:pt x="648" y="5532"/>
                  </a:cubicBezTo>
                  <a:cubicBezTo>
                    <a:pt x="1334" y="5657"/>
                    <a:pt x="1201" y="6655"/>
                    <a:pt x="564" y="6655"/>
                  </a:cubicBezTo>
                  <a:cubicBezTo>
                    <a:pt x="525" y="6655"/>
                    <a:pt x="483" y="6651"/>
                    <a:pt x="440" y="6643"/>
                  </a:cubicBezTo>
                  <a:cubicBezTo>
                    <a:pt x="296" y="6622"/>
                    <a:pt x="148" y="6610"/>
                    <a:pt x="1" y="6604"/>
                  </a:cubicBezTo>
                  <a:lnTo>
                    <a:pt x="1" y="14744"/>
                  </a:lnTo>
                  <a:lnTo>
                    <a:pt x="5722" y="16626"/>
                  </a:lnTo>
                  <a:lnTo>
                    <a:pt x="5722" y="10395"/>
                  </a:lnTo>
                  <a:cubicBezTo>
                    <a:pt x="5704" y="10397"/>
                    <a:pt x="5684" y="10397"/>
                    <a:pt x="5661" y="10397"/>
                  </a:cubicBezTo>
                  <a:cubicBezTo>
                    <a:pt x="5400" y="10397"/>
                    <a:pt x="4871" y="10299"/>
                    <a:pt x="4388" y="10085"/>
                  </a:cubicBezTo>
                  <a:cubicBezTo>
                    <a:pt x="3793" y="9819"/>
                    <a:pt x="4068" y="8997"/>
                    <a:pt x="4603" y="8997"/>
                  </a:cubicBezTo>
                  <a:cubicBezTo>
                    <a:pt x="4680" y="8997"/>
                    <a:pt x="4763" y="9014"/>
                    <a:pt x="4849" y="9052"/>
                  </a:cubicBezTo>
                  <a:cubicBezTo>
                    <a:pt x="5123" y="9176"/>
                    <a:pt x="5418" y="9251"/>
                    <a:pt x="5722" y="9275"/>
                  </a:cubicBezTo>
                  <a:lnTo>
                    <a:pt x="5722" y="1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0" name="Google Shape;890;p56"/>
            <p:cNvSpPr/>
            <p:nvPr/>
          </p:nvSpPr>
          <p:spPr>
            <a:xfrm>
              <a:off x="2426175" y="2057100"/>
              <a:ext cx="141175" cy="418925"/>
            </a:xfrm>
            <a:custGeom>
              <a:rect b="b" l="l" r="r" t="t"/>
              <a:pathLst>
                <a:path extrusionOk="0" h="16757" w="5647">
                  <a:moveTo>
                    <a:pt x="2800" y="5647"/>
                  </a:moveTo>
                  <a:cubicBezTo>
                    <a:pt x="3154" y="5647"/>
                    <a:pt x="3516" y="5968"/>
                    <a:pt x="3349" y="6410"/>
                  </a:cubicBezTo>
                  <a:lnTo>
                    <a:pt x="3153" y="6937"/>
                  </a:lnTo>
                  <a:cubicBezTo>
                    <a:pt x="3055" y="7196"/>
                    <a:pt x="2850" y="7305"/>
                    <a:pt x="2643" y="7305"/>
                  </a:cubicBezTo>
                  <a:cubicBezTo>
                    <a:pt x="2288" y="7305"/>
                    <a:pt x="1929" y="6984"/>
                    <a:pt x="2096" y="6539"/>
                  </a:cubicBezTo>
                  <a:lnTo>
                    <a:pt x="2295" y="6012"/>
                  </a:lnTo>
                  <a:cubicBezTo>
                    <a:pt x="2390" y="5755"/>
                    <a:pt x="2594" y="5647"/>
                    <a:pt x="2800" y="5647"/>
                  </a:cubicBezTo>
                  <a:close/>
                  <a:moveTo>
                    <a:pt x="1700" y="8178"/>
                  </a:moveTo>
                  <a:cubicBezTo>
                    <a:pt x="2108" y="8178"/>
                    <a:pt x="2500" y="8655"/>
                    <a:pt x="2168" y="9090"/>
                  </a:cubicBezTo>
                  <a:cubicBezTo>
                    <a:pt x="1906" y="9433"/>
                    <a:pt x="1587" y="9725"/>
                    <a:pt x="1226" y="9960"/>
                  </a:cubicBezTo>
                  <a:cubicBezTo>
                    <a:pt x="1118" y="10030"/>
                    <a:pt x="1011" y="10060"/>
                    <a:pt x="911" y="10060"/>
                  </a:cubicBezTo>
                  <a:cubicBezTo>
                    <a:pt x="424" y="10060"/>
                    <a:pt x="97" y="9344"/>
                    <a:pt x="612" y="9012"/>
                  </a:cubicBezTo>
                  <a:cubicBezTo>
                    <a:pt x="867" y="8849"/>
                    <a:pt x="1090" y="8641"/>
                    <a:pt x="1274" y="8403"/>
                  </a:cubicBezTo>
                  <a:cubicBezTo>
                    <a:pt x="1394" y="8244"/>
                    <a:pt x="1548" y="8178"/>
                    <a:pt x="1700" y="8178"/>
                  </a:cubicBezTo>
                  <a:close/>
                  <a:moveTo>
                    <a:pt x="5080" y="0"/>
                  </a:moveTo>
                  <a:cubicBezTo>
                    <a:pt x="5010" y="0"/>
                    <a:pt x="4939" y="13"/>
                    <a:pt x="4869" y="41"/>
                  </a:cubicBezTo>
                  <a:lnTo>
                    <a:pt x="0" y="1989"/>
                  </a:lnTo>
                  <a:lnTo>
                    <a:pt x="0" y="16756"/>
                  </a:lnTo>
                  <a:lnTo>
                    <a:pt x="5291" y="14640"/>
                  </a:lnTo>
                  <a:cubicBezTo>
                    <a:pt x="5505" y="14555"/>
                    <a:pt x="5646" y="14347"/>
                    <a:pt x="5646" y="14116"/>
                  </a:cubicBezTo>
                  <a:lnTo>
                    <a:pt x="5646" y="565"/>
                  </a:lnTo>
                  <a:cubicBezTo>
                    <a:pt x="5644" y="240"/>
                    <a:pt x="5378" y="0"/>
                    <a:pt x="50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91" name="Google Shape;891;p56"/>
          <p:cNvSpPr/>
          <p:nvPr/>
        </p:nvSpPr>
        <p:spPr>
          <a:xfrm>
            <a:off x="1616703" y="1548737"/>
            <a:ext cx="448180" cy="450507"/>
          </a:xfrm>
          <a:custGeom>
            <a:rect b="b" l="l" r="r" t="t"/>
            <a:pathLst>
              <a:path extrusionOk="0" h="12194" w="12131">
                <a:moveTo>
                  <a:pt x="5798" y="1639"/>
                </a:moveTo>
                <a:lnTo>
                  <a:pt x="5798" y="2395"/>
                </a:lnTo>
                <a:lnTo>
                  <a:pt x="3782" y="3214"/>
                </a:lnTo>
                <a:lnTo>
                  <a:pt x="3214" y="2679"/>
                </a:lnTo>
                <a:lnTo>
                  <a:pt x="5798" y="1639"/>
                </a:lnTo>
                <a:close/>
                <a:moveTo>
                  <a:pt x="6491" y="1639"/>
                </a:moveTo>
                <a:lnTo>
                  <a:pt x="9043" y="2679"/>
                </a:lnTo>
                <a:lnTo>
                  <a:pt x="8507" y="3214"/>
                </a:lnTo>
                <a:lnTo>
                  <a:pt x="6491" y="2395"/>
                </a:lnTo>
                <a:lnTo>
                  <a:pt x="6491" y="1639"/>
                </a:lnTo>
                <a:close/>
                <a:moveTo>
                  <a:pt x="5798" y="3151"/>
                </a:moveTo>
                <a:lnTo>
                  <a:pt x="5798" y="3939"/>
                </a:lnTo>
                <a:lnTo>
                  <a:pt x="4853" y="4285"/>
                </a:lnTo>
                <a:lnTo>
                  <a:pt x="4286" y="3718"/>
                </a:lnTo>
                <a:lnTo>
                  <a:pt x="5798" y="3151"/>
                </a:lnTo>
                <a:close/>
                <a:moveTo>
                  <a:pt x="6491" y="3183"/>
                </a:moveTo>
                <a:lnTo>
                  <a:pt x="8003" y="3781"/>
                </a:lnTo>
                <a:lnTo>
                  <a:pt x="7436" y="4317"/>
                </a:lnTo>
                <a:lnTo>
                  <a:pt x="6491" y="3970"/>
                </a:lnTo>
                <a:lnTo>
                  <a:pt x="6491" y="3183"/>
                </a:lnTo>
                <a:close/>
                <a:moveTo>
                  <a:pt x="5798" y="4695"/>
                </a:moveTo>
                <a:lnTo>
                  <a:pt x="5798" y="5231"/>
                </a:lnTo>
                <a:lnTo>
                  <a:pt x="5388" y="4853"/>
                </a:lnTo>
                <a:lnTo>
                  <a:pt x="5798" y="4695"/>
                </a:lnTo>
                <a:close/>
                <a:moveTo>
                  <a:pt x="6491" y="4727"/>
                </a:moveTo>
                <a:lnTo>
                  <a:pt x="6901" y="4884"/>
                </a:lnTo>
                <a:lnTo>
                  <a:pt x="6491" y="5262"/>
                </a:lnTo>
                <a:lnTo>
                  <a:pt x="6491" y="4727"/>
                </a:lnTo>
                <a:close/>
                <a:moveTo>
                  <a:pt x="2679" y="3183"/>
                </a:moveTo>
                <a:lnTo>
                  <a:pt x="3214" y="3718"/>
                </a:lnTo>
                <a:lnTo>
                  <a:pt x="2395" y="5735"/>
                </a:lnTo>
                <a:lnTo>
                  <a:pt x="1608" y="5735"/>
                </a:lnTo>
                <a:lnTo>
                  <a:pt x="2679" y="3183"/>
                </a:lnTo>
                <a:close/>
                <a:moveTo>
                  <a:pt x="3782" y="4254"/>
                </a:moveTo>
                <a:lnTo>
                  <a:pt x="4317" y="4790"/>
                </a:lnTo>
                <a:lnTo>
                  <a:pt x="3971" y="5735"/>
                </a:lnTo>
                <a:lnTo>
                  <a:pt x="3183" y="5735"/>
                </a:lnTo>
                <a:lnTo>
                  <a:pt x="3782" y="4254"/>
                </a:lnTo>
                <a:close/>
                <a:moveTo>
                  <a:pt x="4884" y="5357"/>
                </a:moveTo>
                <a:lnTo>
                  <a:pt x="5262" y="5735"/>
                </a:lnTo>
                <a:lnTo>
                  <a:pt x="4727" y="5735"/>
                </a:lnTo>
                <a:lnTo>
                  <a:pt x="4884" y="5357"/>
                </a:lnTo>
                <a:close/>
                <a:moveTo>
                  <a:pt x="7405" y="5357"/>
                </a:moveTo>
                <a:lnTo>
                  <a:pt x="7562" y="5735"/>
                </a:lnTo>
                <a:lnTo>
                  <a:pt x="6995" y="5735"/>
                </a:lnTo>
                <a:lnTo>
                  <a:pt x="7405" y="5357"/>
                </a:lnTo>
                <a:close/>
                <a:moveTo>
                  <a:pt x="8507" y="4254"/>
                </a:moveTo>
                <a:lnTo>
                  <a:pt x="9106" y="5735"/>
                </a:lnTo>
                <a:lnTo>
                  <a:pt x="8318" y="5735"/>
                </a:lnTo>
                <a:lnTo>
                  <a:pt x="7940" y="4790"/>
                </a:lnTo>
                <a:lnTo>
                  <a:pt x="8507" y="4254"/>
                </a:lnTo>
                <a:close/>
                <a:moveTo>
                  <a:pt x="9578" y="3183"/>
                </a:moveTo>
                <a:lnTo>
                  <a:pt x="10587" y="5735"/>
                </a:lnTo>
                <a:lnTo>
                  <a:pt x="9831" y="5735"/>
                </a:lnTo>
                <a:lnTo>
                  <a:pt x="9011" y="3718"/>
                </a:lnTo>
                <a:lnTo>
                  <a:pt x="9578" y="3183"/>
                </a:lnTo>
                <a:close/>
                <a:moveTo>
                  <a:pt x="5262" y="6459"/>
                </a:moveTo>
                <a:lnTo>
                  <a:pt x="4884" y="6837"/>
                </a:lnTo>
                <a:lnTo>
                  <a:pt x="4727" y="6459"/>
                </a:lnTo>
                <a:close/>
                <a:moveTo>
                  <a:pt x="7531" y="6459"/>
                </a:moveTo>
                <a:lnTo>
                  <a:pt x="7373" y="6837"/>
                </a:lnTo>
                <a:lnTo>
                  <a:pt x="6964" y="6459"/>
                </a:lnTo>
                <a:close/>
                <a:moveTo>
                  <a:pt x="5798" y="6932"/>
                </a:moveTo>
                <a:lnTo>
                  <a:pt x="5798" y="7467"/>
                </a:lnTo>
                <a:lnTo>
                  <a:pt x="5388" y="7310"/>
                </a:lnTo>
                <a:lnTo>
                  <a:pt x="5798" y="6932"/>
                </a:lnTo>
                <a:close/>
                <a:moveTo>
                  <a:pt x="6491" y="6963"/>
                </a:moveTo>
                <a:lnTo>
                  <a:pt x="6901" y="7373"/>
                </a:lnTo>
                <a:lnTo>
                  <a:pt x="6491" y="7530"/>
                </a:lnTo>
                <a:lnTo>
                  <a:pt x="6491" y="6963"/>
                </a:lnTo>
                <a:close/>
                <a:moveTo>
                  <a:pt x="3971" y="6459"/>
                </a:moveTo>
                <a:lnTo>
                  <a:pt x="4317" y="7404"/>
                </a:lnTo>
                <a:lnTo>
                  <a:pt x="3782" y="7940"/>
                </a:lnTo>
                <a:lnTo>
                  <a:pt x="3183" y="6459"/>
                </a:lnTo>
                <a:close/>
                <a:moveTo>
                  <a:pt x="9043" y="6459"/>
                </a:moveTo>
                <a:lnTo>
                  <a:pt x="8476" y="7940"/>
                </a:lnTo>
                <a:lnTo>
                  <a:pt x="7909" y="7404"/>
                </a:lnTo>
                <a:lnTo>
                  <a:pt x="8255" y="6459"/>
                </a:lnTo>
                <a:close/>
                <a:moveTo>
                  <a:pt x="2427" y="6459"/>
                </a:moveTo>
                <a:lnTo>
                  <a:pt x="3277" y="8476"/>
                </a:lnTo>
                <a:lnTo>
                  <a:pt x="2710" y="9011"/>
                </a:lnTo>
                <a:lnTo>
                  <a:pt x="1639" y="6459"/>
                </a:lnTo>
                <a:close/>
                <a:moveTo>
                  <a:pt x="4853" y="7877"/>
                </a:moveTo>
                <a:lnTo>
                  <a:pt x="5798" y="8224"/>
                </a:lnTo>
                <a:lnTo>
                  <a:pt x="5798" y="9011"/>
                </a:lnTo>
                <a:lnTo>
                  <a:pt x="4286" y="8413"/>
                </a:lnTo>
                <a:lnTo>
                  <a:pt x="4853" y="7877"/>
                </a:lnTo>
                <a:close/>
                <a:moveTo>
                  <a:pt x="7436" y="7908"/>
                </a:moveTo>
                <a:lnTo>
                  <a:pt x="8003" y="8444"/>
                </a:lnTo>
                <a:lnTo>
                  <a:pt x="6491" y="9043"/>
                </a:lnTo>
                <a:lnTo>
                  <a:pt x="6491" y="8255"/>
                </a:lnTo>
                <a:lnTo>
                  <a:pt x="7436" y="7908"/>
                </a:lnTo>
                <a:close/>
                <a:moveTo>
                  <a:pt x="10618" y="6491"/>
                </a:moveTo>
                <a:lnTo>
                  <a:pt x="9578" y="9043"/>
                </a:lnTo>
                <a:lnTo>
                  <a:pt x="9011" y="8507"/>
                </a:lnTo>
                <a:lnTo>
                  <a:pt x="9831" y="6491"/>
                </a:lnTo>
                <a:close/>
                <a:moveTo>
                  <a:pt x="3782" y="8980"/>
                </a:moveTo>
                <a:lnTo>
                  <a:pt x="5798" y="9799"/>
                </a:lnTo>
                <a:lnTo>
                  <a:pt x="5798" y="10555"/>
                </a:lnTo>
                <a:lnTo>
                  <a:pt x="3214" y="9515"/>
                </a:lnTo>
                <a:lnTo>
                  <a:pt x="3782" y="8980"/>
                </a:lnTo>
                <a:close/>
                <a:moveTo>
                  <a:pt x="8507" y="8917"/>
                </a:moveTo>
                <a:lnTo>
                  <a:pt x="9043" y="9484"/>
                </a:lnTo>
                <a:lnTo>
                  <a:pt x="6491" y="10555"/>
                </a:lnTo>
                <a:lnTo>
                  <a:pt x="6491" y="9767"/>
                </a:lnTo>
                <a:lnTo>
                  <a:pt x="8507" y="8917"/>
                </a:lnTo>
                <a:close/>
                <a:moveTo>
                  <a:pt x="6113" y="1"/>
                </a:moveTo>
                <a:cubicBezTo>
                  <a:pt x="5892" y="1"/>
                  <a:pt x="5735" y="158"/>
                  <a:pt x="5735" y="347"/>
                </a:cubicBezTo>
                <a:lnTo>
                  <a:pt x="5735" y="851"/>
                </a:lnTo>
                <a:lnTo>
                  <a:pt x="2647" y="2112"/>
                </a:lnTo>
                <a:lnTo>
                  <a:pt x="2332" y="1797"/>
                </a:lnTo>
                <a:cubicBezTo>
                  <a:pt x="2254" y="1718"/>
                  <a:pt x="2159" y="1678"/>
                  <a:pt x="2065" y="1678"/>
                </a:cubicBezTo>
                <a:cubicBezTo>
                  <a:pt x="1970" y="1678"/>
                  <a:pt x="1875" y="1718"/>
                  <a:pt x="1797" y="1797"/>
                </a:cubicBezTo>
                <a:cubicBezTo>
                  <a:pt x="1639" y="1954"/>
                  <a:pt x="1639" y="2143"/>
                  <a:pt x="1797" y="2332"/>
                </a:cubicBezTo>
                <a:lnTo>
                  <a:pt x="2112" y="2647"/>
                </a:lnTo>
                <a:lnTo>
                  <a:pt x="852" y="5735"/>
                </a:lnTo>
                <a:lnTo>
                  <a:pt x="348" y="5735"/>
                </a:lnTo>
                <a:cubicBezTo>
                  <a:pt x="158" y="5735"/>
                  <a:pt x="1" y="5892"/>
                  <a:pt x="1" y="6081"/>
                </a:cubicBezTo>
                <a:cubicBezTo>
                  <a:pt x="1" y="6302"/>
                  <a:pt x="158" y="6459"/>
                  <a:pt x="348" y="6459"/>
                </a:cubicBezTo>
                <a:lnTo>
                  <a:pt x="852" y="6459"/>
                </a:lnTo>
                <a:lnTo>
                  <a:pt x="2112" y="9547"/>
                </a:lnTo>
                <a:lnTo>
                  <a:pt x="1797" y="9862"/>
                </a:lnTo>
                <a:cubicBezTo>
                  <a:pt x="1639" y="10019"/>
                  <a:pt x="1639" y="10240"/>
                  <a:pt x="1797" y="10397"/>
                </a:cubicBezTo>
                <a:cubicBezTo>
                  <a:pt x="1891" y="10460"/>
                  <a:pt x="1954" y="10492"/>
                  <a:pt x="2049" y="10492"/>
                </a:cubicBezTo>
                <a:cubicBezTo>
                  <a:pt x="2112" y="10492"/>
                  <a:pt x="2238" y="10460"/>
                  <a:pt x="2269" y="10397"/>
                </a:cubicBezTo>
                <a:lnTo>
                  <a:pt x="2584" y="10082"/>
                </a:lnTo>
                <a:lnTo>
                  <a:pt x="5703" y="11343"/>
                </a:lnTo>
                <a:lnTo>
                  <a:pt x="5703" y="11847"/>
                </a:lnTo>
                <a:cubicBezTo>
                  <a:pt x="5703" y="12036"/>
                  <a:pt x="5861" y="12193"/>
                  <a:pt x="6050" y="12193"/>
                </a:cubicBezTo>
                <a:cubicBezTo>
                  <a:pt x="6270" y="12193"/>
                  <a:pt x="6428" y="12036"/>
                  <a:pt x="6428" y="11847"/>
                </a:cubicBezTo>
                <a:lnTo>
                  <a:pt x="6428" y="11343"/>
                </a:lnTo>
                <a:lnTo>
                  <a:pt x="9515" y="10082"/>
                </a:lnTo>
                <a:lnTo>
                  <a:pt x="9831" y="10397"/>
                </a:lnTo>
                <a:cubicBezTo>
                  <a:pt x="9925" y="10460"/>
                  <a:pt x="9988" y="10492"/>
                  <a:pt x="10083" y="10492"/>
                </a:cubicBezTo>
                <a:cubicBezTo>
                  <a:pt x="10146" y="10492"/>
                  <a:pt x="10272" y="10460"/>
                  <a:pt x="10303" y="10397"/>
                </a:cubicBezTo>
                <a:cubicBezTo>
                  <a:pt x="10461" y="10240"/>
                  <a:pt x="10461" y="10019"/>
                  <a:pt x="10303" y="9862"/>
                </a:cubicBezTo>
                <a:lnTo>
                  <a:pt x="9988" y="9547"/>
                </a:lnTo>
                <a:lnTo>
                  <a:pt x="11248" y="6459"/>
                </a:lnTo>
                <a:lnTo>
                  <a:pt x="11784" y="6459"/>
                </a:lnTo>
                <a:cubicBezTo>
                  <a:pt x="11973" y="6459"/>
                  <a:pt x="12130" y="6302"/>
                  <a:pt x="12130" y="6081"/>
                </a:cubicBezTo>
                <a:cubicBezTo>
                  <a:pt x="12130" y="5892"/>
                  <a:pt x="12036" y="5735"/>
                  <a:pt x="11847" y="5735"/>
                </a:cubicBezTo>
                <a:lnTo>
                  <a:pt x="11343" y="5735"/>
                </a:lnTo>
                <a:lnTo>
                  <a:pt x="10083" y="2647"/>
                </a:lnTo>
                <a:lnTo>
                  <a:pt x="10398" y="2332"/>
                </a:lnTo>
                <a:cubicBezTo>
                  <a:pt x="10555" y="2175"/>
                  <a:pt x="10555" y="1954"/>
                  <a:pt x="10398" y="1797"/>
                </a:cubicBezTo>
                <a:cubicBezTo>
                  <a:pt x="10319" y="1718"/>
                  <a:pt x="10232" y="1678"/>
                  <a:pt x="10146" y="1678"/>
                </a:cubicBezTo>
                <a:cubicBezTo>
                  <a:pt x="10059" y="1678"/>
                  <a:pt x="9972" y="1718"/>
                  <a:pt x="9894" y="1797"/>
                </a:cubicBezTo>
                <a:lnTo>
                  <a:pt x="9578" y="2112"/>
                </a:lnTo>
                <a:lnTo>
                  <a:pt x="6459" y="851"/>
                </a:lnTo>
                <a:lnTo>
                  <a:pt x="6459" y="347"/>
                </a:lnTo>
                <a:cubicBezTo>
                  <a:pt x="6459" y="158"/>
                  <a:pt x="6302" y="1"/>
                  <a:pt x="611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2" name="Google Shape;892;p56"/>
          <p:cNvGrpSpPr/>
          <p:nvPr/>
        </p:nvGrpSpPr>
        <p:grpSpPr>
          <a:xfrm>
            <a:off x="4393341" y="1596034"/>
            <a:ext cx="354311" cy="355909"/>
            <a:chOff x="-49764975" y="3551225"/>
            <a:chExt cx="299300" cy="300650"/>
          </a:xfrm>
        </p:grpSpPr>
        <p:sp>
          <p:nvSpPr>
            <p:cNvPr id="893" name="Google Shape;893;p56"/>
            <p:cNvSpPr/>
            <p:nvPr/>
          </p:nvSpPr>
          <p:spPr>
            <a:xfrm>
              <a:off x="-49764975" y="3657325"/>
              <a:ext cx="35450" cy="18125"/>
            </a:xfrm>
            <a:custGeom>
              <a:rect b="b" l="l" r="r" t="t"/>
              <a:pathLst>
                <a:path extrusionOk="0" h="725" w="1418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56"/>
            <p:cNvSpPr/>
            <p:nvPr/>
          </p:nvSpPr>
          <p:spPr>
            <a:xfrm>
              <a:off x="-49763400" y="3598250"/>
              <a:ext cx="31525" cy="29950"/>
            </a:xfrm>
            <a:custGeom>
              <a:rect b="b" l="l" r="r" t="t"/>
              <a:pathLst>
                <a:path extrusionOk="0" h="1198" w="1261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56"/>
            <p:cNvSpPr/>
            <p:nvPr/>
          </p:nvSpPr>
          <p:spPr>
            <a:xfrm>
              <a:off x="-49763400" y="3703975"/>
              <a:ext cx="31525" cy="30550"/>
            </a:xfrm>
            <a:custGeom>
              <a:rect b="b" l="l" r="r" t="t"/>
              <a:pathLst>
                <a:path extrusionOk="0" h="1222" w="1261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56"/>
            <p:cNvSpPr/>
            <p:nvPr/>
          </p:nvSpPr>
          <p:spPr>
            <a:xfrm>
              <a:off x="-49501125" y="3657325"/>
              <a:ext cx="35450" cy="18125"/>
            </a:xfrm>
            <a:custGeom>
              <a:rect b="b" l="l" r="r" t="t"/>
              <a:pathLst>
                <a:path extrusionOk="0" h="725" w="1418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56"/>
            <p:cNvSpPr/>
            <p:nvPr/>
          </p:nvSpPr>
          <p:spPr>
            <a:xfrm>
              <a:off x="-49499550" y="3598250"/>
              <a:ext cx="31525" cy="30550"/>
            </a:xfrm>
            <a:custGeom>
              <a:rect b="b" l="l" r="r" t="t"/>
              <a:pathLst>
                <a:path extrusionOk="0" h="1222" w="1261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56"/>
            <p:cNvSpPr/>
            <p:nvPr/>
          </p:nvSpPr>
          <p:spPr>
            <a:xfrm>
              <a:off x="-49499550" y="3704575"/>
              <a:ext cx="31525" cy="29950"/>
            </a:xfrm>
            <a:custGeom>
              <a:rect b="b" l="l" r="r" t="t"/>
              <a:pathLst>
                <a:path extrusionOk="0" h="1198" w="1261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56"/>
            <p:cNvSpPr/>
            <p:nvPr/>
          </p:nvSpPr>
          <p:spPr>
            <a:xfrm>
              <a:off x="-49725600" y="3551225"/>
              <a:ext cx="215050" cy="210875"/>
            </a:xfrm>
            <a:custGeom>
              <a:rect b="b" l="l" r="r" t="t"/>
              <a:pathLst>
                <a:path extrusionOk="0" h="8435" w="8602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56"/>
            <p:cNvSpPr/>
            <p:nvPr/>
          </p:nvSpPr>
          <p:spPr>
            <a:xfrm>
              <a:off x="-49633450" y="3697475"/>
              <a:ext cx="35475" cy="65400"/>
            </a:xfrm>
            <a:custGeom>
              <a:rect b="b" l="l" r="r" t="t"/>
              <a:pathLst>
                <a:path extrusionOk="0" h="2616" w="1419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56"/>
            <p:cNvSpPr/>
            <p:nvPr/>
          </p:nvSpPr>
          <p:spPr>
            <a:xfrm>
              <a:off x="-49676775" y="3780975"/>
              <a:ext cx="123675" cy="34675"/>
            </a:xfrm>
            <a:custGeom>
              <a:rect b="b" l="l" r="r" t="t"/>
              <a:pathLst>
                <a:path extrusionOk="0" h="1387" w="4947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56"/>
            <p:cNvSpPr/>
            <p:nvPr/>
          </p:nvSpPr>
          <p:spPr>
            <a:xfrm>
              <a:off x="-49630300" y="3651800"/>
              <a:ext cx="29150" cy="31325"/>
            </a:xfrm>
            <a:custGeom>
              <a:rect b="b" l="l" r="r" t="t"/>
              <a:pathLst>
                <a:path extrusionOk="0" h="1253" w="1166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56"/>
            <p:cNvSpPr/>
            <p:nvPr/>
          </p:nvSpPr>
          <p:spPr>
            <a:xfrm>
              <a:off x="-49657875" y="3833750"/>
              <a:ext cx="85100" cy="18125"/>
            </a:xfrm>
            <a:custGeom>
              <a:rect b="b" l="l" r="r" t="t"/>
              <a:pathLst>
                <a:path extrusionOk="0" h="725" w="3404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8" name="Google Shape;908;p57"/>
          <p:cNvGrpSpPr/>
          <p:nvPr/>
        </p:nvGrpSpPr>
        <p:grpSpPr>
          <a:xfrm>
            <a:off x="1101000" y="2794492"/>
            <a:ext cx="3232492" cy="429010"/>
            <a:chOff x="3628700" y="3051037"/>
            <a:chExt cx="3232492" cy="429010"/>
          </a:xfrm>
        </p:grpSpPr>
        <p:sp>
          <p:nvSpPr>
            <p:cNvPr id="909" name="Google Shape;909;p57"/>
            <p:cNvSpPr/>
            <p:nvPr/>
          </p:nvSpPr>
          <p:spPr>
            <a:xfrm>
              <a:off x="3628700" y="3051037"/>
              <a:ext cx="3232492" cy="429010"/>
            </a:xfrm>
            <a:custGeom>
              <a:rect b="b" l="l" r="r" t="t"/>
              <a:pathLst>
                <a:path extrusionOk="0" h="8873" w="99179">
                  <a:moveTo>
                    <a:pt x="0" y="0"/>
                  </a:moveTo>
                  <a:lnTo>
                    <a:pt x="2825" y="4436"/>
                  </a:lnTo>
                  <a:lnTo>
                    <a:pt x="0" y="8872"/>
                  </a:lnTo>
                  <a:lnTo>
                    <a:pt x="99178" y="8872"/>
                  </a:lnTo>
                  <a:lnTo>
                    <a:pt x="95537" y="4436"/>
                  </a:lnTo>
                  <a:lnTo>
                    <a:pt x="991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57"/>
            <p:cNvSpPr/>
            <p:nvPr/>
          </p:nvSpPr>
          <p:spPr>
            <a:xfrm>
              <a:off x="3914775" y="3188675"/>
              <a:ext cx="161517" cy="153748"/>
            </a:xfrm>
            <a:custGeom>
              <a:rect b="b" l="l" r="r" t="t"/>
              <a:pathLst>
                <a:path extrusionOk="0" h="2909" w="3056">
                  <a:moveTo>
                    <a:pt x="1528" y="0"/>
                  </a:moveTo>
                  <a:lnTo>
                    <a:pt x="1067" y="963"/>
                  </a:lnTo>
                  <a:lnTo>
                    <a:pt x="0" y="1109"/>
                  </a:lnTo>
                  <a:lnTo>
                    <a:pt x="774" y="1841"/>
                  </a:lnTo>
                  <a:lnTo>
                    <a:pt x="586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55" y="1109"/>
                  </a:lnTo>
                  <a:lnTo>
                    <a:pt x="2009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57"/>
            <p:cNvSpPr/>
            <p:nvPr/>
          </p:nvSpPr>
          <p:spPr>
            <a:xfrm>
              <a:off x="6439565" y="3188675"/>
              <a:ext cx="160407" cy="153748"/>
            </a:xfrm>
            <a:custGeom>
              <a:rect b="b" l="l" r="r" t="t"/>
              <a:pathLst>
                <a:path extrusionOk="0" h="2909" w="3035">
                  <a:moveTo>
                    <a:pt x="1528" y="0"/>
                  </a:moveTo>
                  <a:lnTo>
                    <a:pt x="1047" y="963"/>
                  </a:lnTo>
                  <a:lnTo>
                    <a:pt x="0" y="1109"/>
                  </a:lnTo>
                  <a:lnTo>
                    <a:pt x="754" y="1841"/>
                  </a:lnTo>
                  <a:lnTo>
                    <a:pt x="565" y="2908"/>
                  </a:lnTo>
                  <a:lnTo>
                    <a:pt x="1528" y="2406"/>
                  </a:lnTo>
                  <a:lnTo>
                    <a:pt x="2469" y="2908"/>
                  </a:lnTo>
                  <a:lnTo>
                    <a:pt x="2281" y="1841"/>
                  </a:lnTo>
                  <a:lnTo>
                    <a:pt x="3034" y="1109"/>
                  </a:lnTo>
                  <a:lnTo>
                    <a:pt x="1988" y="963"/>
                  </a:lnTo>
                  <a:lnTo>
                    <a:pt x="15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2" name="Google Shape;912;p57"/>
          <p:cNvGrpSpPr/>
          <p:nvPr/>
        </p:nvGrpSpPr>
        <p:grpSpPr>
          <a:xfrm>
            <a:off x="1095123" y="1344033"/>
            <a:ext cx="3232393" cy="1206894"/>
            <a:chOff x="714123" y="441456"/>
            <a:chExt cx="3232393" cy="1206894"/>
          </a:xfrm>
        </p:grpSpPr>
        <p:grpSp>
          <p:nvGrpSpPr>
            <p:cNvPr id="913" name="Google Shape;913;p57"/>
            <p:cNvGrpSpPr/>
            <p:nvPr/>
          </p:nvGrpSpPr>
          <p:grpSpPr>
            <a:xfrm>
              <a:off x="714123" y="725425"/>
              <a:ext cx="3227400" cy="922925"/>
              <a:chOff x="3667805" y="1583576"/>
              <a:chExt cx="3227400" cy="922925"/>
            </a:xfrm>
          </p:grpSpPr>
          <p:cxnSp>
            <p:nvCxnSpPr>
              <p:cNvPr id="914" name="Google Shape;914;p57"/>
              <p:cNvCxnSpPr/>
              <p:nvPr/>
            </p:nvCxnSpPr>
            <p:spPr>
              <a:xfrm>
                <a:off x="3667805" y="1583576"/>
                <a:ext cx="32274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5" name="Google Shape;915;p57"/>
              <p:cNvCxnSpPr/>
              <p:nvPr/>
            </p:nvCxnSpPr>
            <p:spPr>
              <a:xfrm>
                <a:off x="3667805" y="2506501"/>
                <a:ext cx="32274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16" name="Google Shape;916;p57"/>
            <p:cNvGrpSpPr/>
            <p:nvPr/>
          </p:nvGrpSpPr>
          <p:grpSpPr>
            <a:xfrm>
              <a:off x="726287" y="441456"/>
              <a:ext cx="3220228" cy="198997"/>
              <a:chOff x="3679970" y="1299607"/>
              <a:chExt cx="3220228" cy="198997"/>
            </a:xfrm>
          </p:grpSpPr>
          <p:sp>
            <p:nvSpPr>
              <p:cNvPr id="917" name="Google Shape;917;p57"/>
              <p:cNvSpPr/>
              <p:nvPr/>
            </p:nvSpPr>
            <p:spPr>
              <a:xfrm>
                <a:off x="3679970" y="1299607"/>
                <a:ext cx="209053" cy="198997"/>
              </a:xfrm>
              <a:custGeom>
                <a:rect b="b" l="l" r="r" t="t"/>
                <a:pathLst>
                  <a:path extrusionOk="0" h="2909" w="3056">
                    <a:moveTo>
                      <a:pt x="1528" y="0"/>
                    </a:moveTo>
                    <a:lnTo>
                      <a:pt x="1067" y="963"/>
                    </a:lnTo>
                    <a:lnTo>
                      <a:pt x="0" y="1109"/>
                    </a:lnTo>
                    <a:lnTo>
                      <a:pt x="774" y="1841"/>
                    </a:lnTo>
                    <a:lnTo>
                      <a:pt x="586" y="2908"/>
                    </a:lnTo>
                    <a:lnTo>
                      <a:pt x="1528" y="2406"/>
                    </a:lnTo>
                    <a:lnTo>
                      <a:pt x="2469" y="2908"/>
                    </a:lnTo>
                    <a:lnTo>
                      <a:pt x="2281" y="1841"/>
                    </a:lnTo>
                    <a:lnTo>
                      <a:pt x="3055" y="1109"/>
                    </a:lnTo>
                    <a:lnTo>
                      <a:pt x="2009" y="963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57"/>
              <p:cNvSpPr/>
              <p:nvPr/>
            </p:nvSpPr>
            <p:spPr>
              <a:xfrm>
                <a:off x="4014545" y="1299607"/>
                <a:ext cx="209053" cy="198997"/>
              </a:xfrm>
              <a:custGeom>
                <a:rect b="b" l="l" r="r" t="t"/>
                <a:pathLst>
                  <a:path extrusionOk="0" h="2909" w="3056">
                    <a:moveTo>
                      <a:pt x="1528" y="0"/>
                    </a:moveTo>
                    <a:lnTo>
                      <a:pt x="1067" y="963"/>
                    </a:lnTo>
                    <a:lnTo>
                      <a:pt x="0" y="1109"/>
                    </a:lnTo>
                    <a:lnTo>
                      <a:pt x="774" y="1841"/>
                    </a:lnTo>
                    <a:lnTo>
                      <a:pt x="586" y="2908"/>
                    </a:lnTo>
                    <a:lnTo>
                      <a:pt x="1528" y="2406"/>
                    </a:lnTo>
                    <a:lnTo>
                      <a:pt x="2469" y="2908"/>
                    </a:lnTo>
                    <a:lnTo>
                      <a:pt x="2281" y="1841"/>
                    </a:lnTo>
                    <a:lnTo>
                      <a:pt x="3055" y="1109"/>
                    </a:lnTo>
                    <a:lnTo>
                      <a:pt x="2009" y="963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57"/>
              <p:cNvSpPr/>
              <p:nvPr/>
            </p:nvSpPr>
            <p:spPr>
              <a:xfrm>
                <a:off x="4349120" y="1299607"/>
                <a:ext cx="209053" cy="198997"/>
              </a:xfrm>
              <a:custGeom>
                <a:rect b="b" l="l" r="r" t="t"/>
                <a:pathLst>
                  <a:path extrusionOk="0" h="2909" w="3056">
                    <a:moveTo>
                      <a:pt x="1528" y="0"/>
                    </a:moveTo>
                    <a:lnTo>
                      <a:pt x="1067" y="963"/>
                    </a:lnTo>
                    <a:lnTo>
                      <a:pt x="0" y="1109"/>
                    </a:lnTo>
                    <a:lnTo>
                      <a:pt x="774" y="1841"/>
                    </a:lnTo>
                    <a:lnTo>
                      <a:pt x="586" y="2908"/>
                    </a:lnTo>
                    <a:lnTo>
                      <a:pt x="1528" y="2406"/>
                    </a:lnTo>
                    <a:lnTo>
                      <a:pt x="2469" y="2908"/>
                    </a:lnTo>
                    <a:lnTo>
                      <a:pt x="2281" y="1841"/>
                    </a:lnTo>
                    <a:lnTo>
                      <a:pt x="3055" y="1109"/>
                    </a:lnTo>
                    <a:lnTo>
                      <a:pt x="2009" y="963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57"/>
              <p:cNvSpPr/>
              <p:nvPr/>
            </p:nvSpPr>
            <p:spPr>
              <a:xfrm>
                <a:off x="4683695" y="1299607"/>
                <a:ext cx="209053" cy="198997"/>
              </a:xfrm>
              <a:custGeom>
                <a:rect b="b" l="l" r="r" t="t"/>
                <a:pathLst>
                  <a:path extrusionOk="0" h="2909" w="3056">
                    <a:moveTo>
                      <a:pt x="1528" y="0"/>
                    </a:moveTo>
                    <a:lnTo>
                      <a:pt x="1067" y="963"/>
                    </a:lnTo>
                    <a:lnTo>
                      <a:pt x="0" y="1109"/>
                    </a:lnTo>
                    <a:lnTo>
                      <a:pt x="774" y="1841"/>
                    </a:lnTo>
                    <a:lnTo>
                      <a:pt x="586" y="2908"/>
                    </a:lnTo>
                    <a:lnTo>
                      <a:pt x="1528" y="2406"/>
                    </a:lnTo>
                    <a:lnTo>
                      <a:pt x="2469" y="2908"/>
                    </a:lnTo>
                    <a:lnTo>
                      <a:pt x="2281" y="1841"/>
                    </a:lnTo>
                    <a:lnTo>
                      <a:pt x="3055" y="1109"/>
                    </a:lnTo>
                    <a:lnTo>
                      <a:pt x="2009" y="963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57"/>
              <p:cNvSpPr/>
              <p:nvPr/>
            </p:nvSpPr>
            <p:spPr>
              <a:xfrm>
                <a:off x="5018270" y="1299607"/>
                <a:ext cx="209053" cy="198997"/>
              </a:xfrm>
              <a:custGeom>
                <a:rect b="b" l="l" r="r" t="t"/>
                <a:pathLst>
                  <a:path extrusionOk="0" h="2909" w="3056">
                    <a:moveTo>
                      <a:pt x="1528" y="0"/>
                    </a:moveTo>
                    <a:lnTo>
                      <a:pt x="1067" y="963"/>
                    </a:lnTo>
                    <a:lnTo>
                      <a:pt x="0" y="1109"/>
                    </a:lnTo>
                    <a:lnTo>
                      <a:pt x="774" y="1841"/>
                    </a:lnTo>
                    <a:lnTo>
                      <a:pt x="586" y="2908"/>
                    </a:lnTo>
                    <a:lnTo>
                      <a:pt x="1528" y="2406"/>
                    </a:lnTo>
                    <a:lnTo>
                      <a:pt x="2469" y="2908"/>
                    </a:lnTo>
                    <a:lnTo>
                      <a:pt x="2281" y="1841"/>
                    </a:lnTo>
                    <a:lnTo>
                      <a:pt x="3055" y="1109"/>
                    </a:lnTo>
                    <a:lnTo>
                      <a:pt x="2009" y="963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57"/>
              <p:cNvSpPr/>
              <p:nvPr/>
            </p:nvSpPr>
            <p:spPr>
              <a:xfrm>
                <a:off x="5352845" y="1299607"/>
                <a:ext cx="209053" cy="198997"/>
              </a:xfrm>
              <a:custGeom>
                <a:rect b="b" l="l" r="r" t="t"/>
                <a:pathLst>
                  <a:path extrusionOk="0" h="2909" w="3056">
                    <a:moveTo>
                      <a:pt x="1528" y="0"/>
                    </a:moveTo>
                    <a:lnTo>
                      <a:pt x="1067" y="963"/>
                    </a:lnTo>
                    <a:lnTo>
                      <a:pt x="0" y="1109"/>
                    </a:lnTo>
                    <a:lnTo>
                      <a:pt x="774" y="1841"/>
                    </a:lnTo>
                    <a:lnTo>
                      <a:pt x="586" y="2908"/>
                    </a:lnTo>
                    <a:lnTo>
                      <a:pt x="1528" y="2406"/>
                    </a:lnTo>
                    <a:lnTo>
                      <a:pt x="2469" y="2908"/>
                    </a:lnTo>
                    <a:lnTo>
                      <a:pt x="2281" y="1841"/>
                    </a:lnTo>
                    <a:lnTo>
                      <a:pt x="3055" y="1109"/>
                    </a:lnTo>
                    <a:lnTo>
                      <a:pt x="2009" y="963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57"/>
              <p:cNvSpPr/>
              <p:nvPr/>
            </p:nvSpPr>
            <p:spPr>
              <a:xfrm>
                <a:off x="5687420" y="1299607"/>
                <a:ext cx="209053" cy="198997"/>
              </a:xfrm>
              <a:custGeom>
                <a:rect b="b" l="l" r="r" t="t"/>
                <a:pathLst>
                  <a:path extrusionOk="0" h="2909" w="3056">
                    <a:moveTo>
                      <a:pt x="1528" y="0"/>
                    </a:moveTo>
                    <a:lnTo>
                      <a:pt x="1067" y="963"/>
                    </a:lnTo>
                    <a:lnTo>
                      <a:pt x="0" y="1109"/>
                    </a:lnTo>
                    <a:lnTo>
                      <a:pt x="774" y="1841"/>
                    </a:lnTo>
                    <a:lnTo>
                      <a:pt x="586" y="2908"/>
                    </a:lnTo>
                    <a:lnTo>
                      <a:pt x="1528" y="2406"/>
                    </a:lnTo>
                    <a:lnTo>
                      <a:pt x="2469" y="2908"/>
                    </a:lnTo>
                    <a:lnTo>
                      <a:pt x="2281" y="1841"/>
                    </a:lnTo>
                    <a:lnTo>
                      <a:pt x="3055" y="1109"/>
                    </a:lnTo>
                    <a:lnTo>
                      <a:pt x="2009" y="963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57"/>
              <p:cNvSpPr/>
              <p:nvPr/>
            </p:nvSpPr>
            <p:spPr>
              <a:xfrm>
                <a:off x="6021995" y="1299607"/>
                <a:ext cx="209053" cy="198997"/>
              </a:xfrm>
              <a:custGeom>
                <a:rect b="b" l="l" r="r" t="t"/>
                <a:pathLst>
                  <a:path extrusionOk="0" h="2909" w="3056">
                    <a:moveTo>
                      <a:pt x="1528" y="0"/>
                    </a:moveTo>
                    <a:lnTo>
                      <a:pt x="1067" y="963"/>
                    </a:lnTo>
                    <a:lnTo>
                      <a:pt x="0" y="1109"/>
                    </a:lnTo>
                    <a:lnTo>
                      <a:pt x="774" y="1841"/>
                    </a:lnTo>
                    <a:lnTo>
                      <a:pt x="586" y="2908"/>
                    </a:lnTo>
                    <a:lnTo>
                      <a:pt x="1528" y="2406"/>
                    </a:lnTo>
                    <a:lnTo>
                      <a:pt x="2469" y="2908"/>
                    </a:lnTo>
                    <a:lnTo>
                      <a:pt x="2281" y="1841"/>
                    </a:lnTo>
                    <a:lnTo>
                      <a:pt x="3055" y="1109"/>
                    </a:lnTo>
                    <a:lnTo>
                      <a:pt x="2009" y="963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57"/>
              <p:cNvSpPr/>
              <p:nvPr/>
            </p:nvSpPr>
            <p:spPr>
              <a:xfrm>
                <a:off x="6356570" y="1299607"/>
                <a:ext cx="209053" cy="198997"/>
              </a:xfrm>
              <a:custGeom>
                <a:rect b="b" l="l" r="r" t="t"/>
                <a:pathLst>
                  <a:path extrusionOk="0" h="2909" w="3056">
                    <a:moveTo>
                      <a:pt x="1528" y="0"/>
                    </a:moveTo>
                    <a:lnTo>
                      <a:pt x="1067" y="963"/>
                    </a:lnTo>
                    <a:lnTo>
                      <a:pt x="0" y="1109"/>
                    </a:lnTo>
                    <a:lnTo>
                      <a:pt x="774" y="1841"/>
                    </a:lnTo>
                    <a:lnTo>
                      <a:pt x="586" y="2908"/>
                    </a:lnTo>
                    <a:lnTo>
                      <a:pt x="1528" y="2406"/>
                    </a:lnTo>
                    <a:lnTo>
                      <a:pt x="2469" y="2908"/>
                    </a:lnTo>
                    <a:lnTo>
                      <a:pt x="2281" y="1841"/>
                    </a:lnTo>
                    <a:lnTo>
                      <a:pt x="3055" y="1109"/>
                    </a:lnTo>
                    <a:lnTo>
                      <a:pt x="2009" y="963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57"/>
              <p:cNvSpPr/>
              <p:nvPr/>
            </p:nvSpPr>
            <p:spPr>
              <a:xfrm>
                <a:off x="6691145" y="1299607"/>
                <a:ext cx="209053" cy="198997"/>
              </a:xfrm>
              <a:custGeom>
                <a:rect b="b" l="l" r="r" t="t"/>
                <a:pathLst>
                  <a:path extrusionOk="0" h="2909" w="3056">
                    <a:moveTo>
                      <a:pt x="1528" y="0"/>
                    </a:moveTo>
                    <a:lnTo>
                      <a:pt x="1067" y="963"/>
                    </a:lnTo>
                    <a:lnTo>
                      <a:pt x="0" y="1109"/>
                    </a:lnTo>
                    <a:lnTo>
                      <a:pt x="774" y="1841"/>
                    </a:lnTo>
                    <a:lnTo>
                      <a:pt x="586" y="2908"/>
                    </a:lnTo>
                    <a:lnTo>
                      <a:pt x="1528" y="2406"/>
                    </a:lnTo>
                    <a:lnTo>
                      <a:pt x="2469" y="2908"/>
                    </a:lnTo>
                    <a:lnTo>
                      <a:pt x="2281" y="1841"/>
                    </a:lnTo>
                    <a:lnTo>
                      <a:pt x="3055" y="1109"/>
                    </a:lnTo>
                    <a:lnTo>
                      <a:pt x="2009" y="963"/>
                    </a:lnTo>
                    <a:lnTo>
                      <a:pt x="152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27" name="Google Shape;927;p57"/>
          <p:cNvSpPr txBox="1"/>
          <p:nvPr>
            <p:ph type="ctrTitle"/>
          </p:nvPr>
        </p:nvSpPr>
        <p:spPr>
          <a:xfrm>
            <a:off x="1143250" y="1585326"/>
            <a:ext cx="3155100" cy="99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928" name="Google Shape;928;p57"/>
          <p:cNvSpPr txBox="1"/>
          <p:nvPr>
            <p:ph idx="1" type="subTitle"/>
          </p:nvPr>
        </p:nvSpPr>
        <p:spPr>
          <a:xfrm>
            <a:off x="1511379" y="2759535"/>
            <a:ext cx="2400600" cy="13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Do you have any questions?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9" name="Google Shape;929;p57" title="Online Review-rafik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0191" y="480145"/>
            <a:ext cx="4183200" cy="418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estern Food Restaurant by Slidesgo">
  <a:themeElements>
    <a:clrScheme name="Simple Light">
      <a:dk1>
        <a:srgbClr val="372814"/>
      </a:dk1>
      <a:lt1>
        <a:srgbClr val="F6F0E4"/>
      </a:lt1>
      <a:dk2>
        <a:srgbClr val="BB9F70"/>
      </a:dk2>
      <a:lt2>
        <a:srgbClr val="990000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7281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