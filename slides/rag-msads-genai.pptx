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287000" cx="18288000"/>
  <p:notesSz cx="10287000" cy="1828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gcADGmCvFvyJl1Hj5V6QwFhivo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14825" y="1371600"/>
            <a:ext cx="6858325" cy="6858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28700" y="8686800"/>
            <a:ext cx="8229600" cy="82296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 name="Shape 9"/>
        <p:cNvGrpSpPr/>
        <p:nvPr/>
      </p:nvGrpSpPr>
      <p:grpSpPr>
        <a:xfrm>
          <a:off x="0" y="0"/>
          <a:ext cx="0" cy="0"/>
          <a:chOff x="0" y="0"/>
          <a:chExt cx="0" cy="0"/>
        </a:xfrm>
      </p:grpSpPr>
      <p:sp>
        <p:nvSpPr>
          <p:cNvPr id="10" name="Google Shape;10;g3e441bb160a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 name="Google Shape;11;g3e441bb160a_1_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We're presenting two RAG projects we built this quarter. We're Matteo, Dora, Zehui and Daqi — we'll each introduce ourselves and our roles in a moment. Then Project 1: the MSADS website chatbot, three slides plus a live demo. Then Project 2: a multimodal e-commerce assistant, same structure. Two minutes for the team intro, four minutes per project, and we'll save questions for the end.</a:t>
            </a:r>
            <a:endParaRPr/>
          </a:p>
        </p:txBody>
      </p:sp>
      <p:sp>
        <p:nvSpPr>
          <p:cNvPr id="12" name="Google Shape;12;g3e441bb160a_1_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3e47607800b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g3e47607800b_1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Project 1 in one sentence: the MSADS website has fourteen sub-pages covering curriculum, admissions, tuition, OPT, the FAQ — and applicants have to hop between them to assemble simple answers. Our solution is a grounded RAG chatbot that retrieves the right passage and answers in plain English, with citations. The hard constraint is grounding — the model must not invent program details, and if retrieval misses, it has to say 'I don't know.' On the right is the full five-stage pipeline: scrape, chunk, embed, retrieve, generate.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chunk size: 300-400 tokens per chunk ; 1500 character size; </a:t>
            </a:r>
            <a:endParaRPr/>
          </a:p>
        </p:txBody>
      </p:sp>
      <p:sp>
        <p:nvSpPr>
          <p:cNvPr id="49" name="Google Shape;49;g3e47607800b_1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e441bb160a_1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g3e441bb160a_1_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four design decisions that drove this system. Encoder: MPNet — strongest general-purpose sentence encoder that runs locally, 768 dimensions, cosine similarity. LLM: GPT-4o at temperature 0.2 — picked specifically because it had the best grounding compliance in our prompt tests; strict cite-or-decline. Chunk size: we converged on roughly 700 characters, topic-aligned rather than URL-aligned, after sweeping bigger and smaller. Retrieval: ChromaDB, persistent HNSW, top-4 per query. Stack is Streamlit, BeautifulSoup, LangChain, regex PII redaction. Most of these will be visible in the demo.</a:t>
            </a:r>
            <a:endParaRPr/>
          </a:p>
        </p:txBody>
      </p:sp>
      <p:sp>
        <p:nvSpPr>
          <p:cNvPr id="110" name="Google Shape;110;g3e441bb160a_1_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441bb160a_1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e441bb160a_1_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challenges. Data: the scraped HTML was full of navigation chrome and breadcrumbs that polluted chunks; we had to write a custom cleaner and re-chunk by topic. LLM behavior: early prompts let GPT-4o extrapolate plausibly past context, which is exactly the hallucination failure mode we needed to prevent — we closed it with five explicit grounding rules and a strict refusal clause. Solution design: how do you evaluate behavior, not just retrieval? We built a harness agent — an LLM-driven evaluator that probes the bot with follow-up questions and scores four dimensions: faithfulness, answer relevance, refusal quality, and citation accuracy. Low scores in some categories are useful signal — they tell us where to focus next.</a:t>
            </a:r>
            <a:endParaRPr/>
          </a:p>
        </p:txBody>
      </p:sp>
      <p:sp>
        <p:nvSpPr>
          <p:cNvPr id="150" name="Google Shape;150;g3e441bb160a_1_1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441bb160a_1_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3e441bb160a_1_1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Switching to the browser. Two minutes. I'll ask a real program question and point out the retrieved passages and citations on the right. Then I'll try an off-topic query so you can see the scope filter refuse politely before any API call. If retrieval misses on something, I'll show how the bot says 'I don't know' rather than invent. Coming back to slides for project two.</a:t>
            </a:r>
            <a:endParaRPr/>
          </a:p>
        </p:txBody>
      </p:sp>
      <p:sp>
        <p:nvSpPr>
          <p:cNvPr id="180" name="Google Shape;180;g3e441bb160a_1_1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e47607800b_1_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3e47607800b_1_1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Project 2 in one sentence: e-commerce queries are naturally multimodal — type a product name, upload a photo to identify it, or do both — and pure text RAG can't handle the image side. The solution is a multimodal RAG assistant over the Amazon Product Dataset 2020 — 1,991 products across 24 categories. Same five-stage RAG spine on the right, but the encoder is now CLIP, which embeds images and text into the same 512-d vector space, so an uploaded photo and a typed query land in the same index.</a:t>
            </a:r>
            <a:endParaRPr/>
          </a:p>
        </p:txBody>
      </p:sp>
      <p:sp>
        <p:nvSpPr>
          <p:cNvPr id="206" name="Google Shape;206;g3e47607800b_1_1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e441bb160a_1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e441bb160a_1_2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design decisions. Encoder: CLIP ViT-B/32 — the joint image-text embedding is the whole foundation. LLM: Llama 3.1 8B on Groq — open-source, sub-second inference, free-tier friendly, no vendor lock-in. Retrieval is a hybrid layer: CLIP cosine merged with keyword search via Reciprocal Rank Fusion, plus a lexical anchor that promotes exact name matches — this was the unlock for short queries. Storage: two ChromaDB collections, one for text and one for image, so we can route queries by modality. UI is Streamlit with a chat input that accepts text or images and a zero/few/multi-shot prompting toggle.</a:t>
            </a:r>
            <a:endParaRPr/>
          </a:p>
        </p:txBody>
      </p:sp>
      <p:sp>
        <p:nvSpPr>
          <p:cNvPr id="221" name="Google Shape;221;g3e441bb160a_1_2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e47607800b_1_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3e47607800b_1_2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challenges. Data: 60% of our catalog is Toys &amp; Games — a real dataset skew we discovered late; out-of-category queries degrade gracefully but visibly. Solution design: pure CLIP retrieval was failing on short queries like 'skates' — semantic similarity favored verbose descriptions over precise lexical matches; we layered keyword retrieval and RRF on top, which fixed it. LLM behavior: few-shot examples bled into real answers — the model was treating exemplars as prior conversation. Fix was moving exemplars into the system message with abstract placeholders.</a:t>
            </a:r>
            <a:endParaRPr/>
          </a:p>
        </p:txBody>
      </p:sp>
      <p:sp>
        <p:nvSpPr>
          <p:cNvPr id="231" name="Google Shape;231;g3e47607800b_1_2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e441bb160a_1_2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g3e441bb160a_1_2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Second demo, two minutes. I'll upload an image of a product and ask the assistant to identify it and describe its use. Then I'll run an open-ended natural-language query — 'give me five products appropriate for a five-year-old' — and you'll see the retriever surface five real items and Llama explain why each fits. Finally — your turn. Throw any question at it. Including the cases where it doesn't do well; those are honest data points.</a:t>
            </a:r>
            <a:endParaRPr/>
          </a:p>
        </p:txBody>
      </p:sp>
      <p:sp>
        <p:nvSpPr>
          <p:cNvPr id="241" name="Google Shape;241;g3e441bb160a_1_2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e441bb160a_1_2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e441bb160a_1_2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That's both projects. Same RAG spine in both — embed, retrieve, ground, generate — two scopes. The quality wins came from the boring engineering: chunking, prompting, hybrid retrieval. The model swap rarely moved the needle. Both repos run from a fresh clone with the prebuilt indexes checked in. Thank you — happy to take questions.</a:t>
            </a:r>
            <a:endParaRPr/>
          </a:p>
        </p:txBody>
      </p:sp>
      <p:sp>
        <p:nvSpPr>
          <p:cNvPr id="267" name="Google Shape;267;g3e441bb160a_1_2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 name="Shape 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 name="Shape 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4.png"/><Relationship Id="rId13" Type="http://schemas.openxmlformats.org/officeDocument/2006/relationships/image" Target="../media/image11.png"/><Relationship Id="rId12"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9.png"/><Relationship Id="rId9" Type="http://schemas.openxmlformats.org/officeDocument/2006/relationships/image" Target="../media/image15.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github.com/dorajy8/RAG_interactiveAI_MSADS" TargetMode="External"/><Relationship Id="rId4" Type="http://schemas.openxmlformats.org/officeDocument/2006/relationships/hyperlink" Target="https://github.com/MatteoMirgone/multimodal-rag-ecommerc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ECDE"/>
        </a:solidFill>
      </p:bgPr>
    </p:bg>
    <p:spTree>
      <p:nvGrpSpPr>
        <p:cNvPr id="13" name="Shape 13"/>
        <p:cNvGrpSpPr/>
        <p:nvPr/>
      </p:nvGrpSpPr>
      <p:grpSpPr>
        <a:xfrm>
          <a:off x="0" y="0"/>
          <a:ext cx="0" cy="0"/>
          <a:chOff x="0" y="0"/>
          <a:chExt cx="0" cy="0"/>
        </a:xfrm>
      </p:grpSpPr>
      <p:sp>
        <p:nvSpPr>
          <p:cNvPr id="14" name="Google Shape;14;g3e441bb160a_1_2"/>
          <p:cNvSpPr/>
          <p:nvPr/>
        </p:nvSpPr>
        <p:spPr>
          <a:xfrm>
            <a:off x="14097000" y="-762000"/>
            <a:ext cx="2095500" cy="2095500"/>
          </a:xfrm>
          <a:prstGeom prst="ellipse">
            <a:avLst/>
          </a:prstGeom>
          <a:solidFill>
            <a:srgbClr val="D99221">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g3e441bb160a_1_2"/>
          <p:cNvSpPr/>
          <p:nvPr/>
        </p:nvSpPr>
        <p:spPr>
          <a:xfrm>
            <a:off x="16097250" y="762000"/>
            <a:ext cx="1143000" cy="1143000"/>
          </a:xfrm>
          <a:prstGeom prst="ellipse">
            <a:avLst/>
          </a:prstGeom>
          <a:solidFill>
            <a:srgbClr val="2D6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g3e441bb160a_1_2"/>
          <p:cNvSpPr/>
          <p:nvPr/>
        </p:nvSpPr>
        <p:spPr>
          <a:xfrm>
            <a:off x="1047750" y="533400"/>
            <a:ext cx="6019892" cy="2952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A1714"/>
              </a:buClr>
              <a:buSzPts val="1800"/>
              <a:buFont typeface="Courier New"/>
              <a:buNone/>
            </a:pPr>
            <a:r>
              <a:rPr b="0" i="0" lang="en-US" sz="1800" u="none" cap="none" strike="noStrike">
                <a:solidFill>
                  <a:srgbClr val="1A1714"/>
                </a:solidFill>
                <a:latin typeface="Courier New"/>
                <a:ea typeface="Courier New"/>
                <a:cs typeface="Courier New"/>
                <a:sym typeface="Courier New"/>
              </a:rPr>
              <a:t>GEN AI PRINCIPLES · UCHICAGO MSADS</a:t>
            </a:r>
            <a:endParaRPr b="0" i="0" sz="1800" u="none" cap="none" strike="noStrike">
              <a:solidFill>
                <a:schemeClr val="dk1"/>
              </a:solidFill>
              <a:latin typeface="Calibri"/>
              <a:ea typeface="Calibri"/>
              <a:cs typeface="Calibri"/>
              <a:sym typeface="Calibri"/>
            </a:endParaRPr>
          </a:p>
        </p:txBody>
      </p:sp>
      <p:sp>
        <p:nvSpPr>
          <p:cNvPr id="17" name="Google Shape;17;g3e441bb160a_1_2"/>
          <p:cNvSpPr/>
          <p:nvPr/>
        </p:nvSpPr>
        <p:spPr>
          <a:xfrm>
            <a:off x="1047750" y="1676400"/>
            <a:ext cx="3388593" cy="528638"/>
          </a:xfrm>
          <a:prstGeom prst="roundRect">
            <a:avLst>
              <a:gd fmla="val 50000" name="adj"/>
            </a:avLst>
          </a:prstGeom>
          <a:solidFill>
            <a:srgbClr val="E34A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g3e441bb160a_1_2"/>
          <p:cNvSpPr/>
          <p:nvPr/>
        </p:nvSpPr>
        <p:spPr>
          <a:xfrm>
            <a:off x="1238250" y="1771650"/>
            <a:ext cx="3090201" cy="376238"/>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3ECDE"/>
              </a:buClr>
              <a:buSzPts val="1800"/>
              <a:buFont typeface="Courier New"/>
              <a:buNone/>
            </a:pPr>
            <a:r>
              <a:rPr i="0" lang="en-US" sz="1800" u="none" cap="none" strike="noStrike">
                <a:solidFill>
                  <a:srgbClr val="F3ECDE"/>
                </a:solidFill>
              </a:rPr>
              <a:t>TEAM INTRODUCTION</a:t>
            </a:r>
            <a:endParaRPr i="0" sz="1800" u="none" cap="none" strike="noStrike">
              <a:solidFill>
                <a:schemeClr val="dk1"/>
              </a:solidFill>
            </a:endParaRPr>
          </a:p>
        </p:txBody>
      </p:sp>
      <p:sp>
        <p:nvSpPr>
          <p:cNvPr id="19" name="Google Shape;19;g3e441bb160a_1_2"/>
          <p:cNvSpPr/>
          <p:nvPr/>
        </p:nvSpPr>
        <p:spPr>
          <a:xfrm>
            <a:off x="1047750" y="2509838"/>
            <a:ext cx="15697200" cy="826889"/>
          </a:xfrm>
          <a:prstGeom prst="rect">
            <a:avLst/>
          </a:prstGeom>
          <a:noFill/>
          <a:ln>
            <a:noFill/>
          </a:ln>
        </p:spPr>
        <p:txBody>
          <a:bodyPr anchorCtr="0" anchor="t" bIns="25400" lIns="25400" spcFirstLastPara="1" rIns="25400" wrap="square" tIns="25400">
            <a:noAutofit/>
          </a:bodyPr>
          <a:lstStyle/>
          <a:p>
            <a:pPr indent="0" lvl="0" marL="0" marR="0" rtl="0" algn="l">
              <a:lnSpc>
                <a:spcPct val="98000"/>
              </a:lnSpc>
              <a:spcBef>
                <a:spcPts val="0"/>
              </a:spcBef>
              <a:spcAft>
                <a:spcPts val="0"/>
              </a:spcAft>
              <a:buClr>
                <a:srgbClr val="1A1714"/>
              </a:buClr>
              <a:buSzPts val="6300"/>
              <a:buFont typeface="Georgia"/>
              <a:buNone/>
            </a:pPr>
            <a:r>
              <a:rPr lang="en-US" sz="6300">
                <a:solidFill>
                  <a:srgbClr val="1A1714"/>
                </a:solidFill>
                <a:latin typeface="Georgia"/>
                <a:ea typeface="Georgia"/>
                <a:cs typeface="Georgia"/>
                <a:sym typeface="Georgia"/>
              </a:rPr>
              <a:t>Generative AI Projects Presentation</a:t>
            </a:r>
            <a:endParaRPr b="0" i="0" sz="6300" u="none" cap="none" strike="noStrike">
              <a:solidFill>
                <a:schemeClr val="dk1"/>
              </a:solidFill>
              <a:latin typeface="Calibri"/>
              <a:ea typeface="Calibri"/>
              <a:cs typeface="Calibri"/>
              <a:sym typeface="Calibri"/>
            </a:endParaRPr>
          </a:p>
        </p:txBody>
      </p:sp>
      <p:sp>
        <p:nvSpPr>
          <p:cNvPr id="20" name="Google Shape;20;g3e441bb160a_1_2"/>
          <p:cNvSpPr/>
          <p:nvPr/>
        </p:nvSpPr>
        <p:spPr>
          <a:xfrm>
            <a:off x="1047750" y="3451027"/>
            <a:ext cx="16678275" cy="509587"/>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52C"/>
              </a:buClr>
              <a:buSzPts val="2850"/>
              <a:buFont typeface="Georgia"/>
              <a:buNone/>
            </a:pPr>
            <a:r>
              <a:t/>
            </a:r>
            <a:endParaRPr b="0" i="0" sz="2850" u="none" cap="none" strike="noStrike">
              <a:solidFill>
                <a:schemeClr val="dk1"/>
              </a:solidFill>
              <a:latin typeface="Calibri"/>
              <a:ea typeface="Calibri"/>
              <a:cs typeface="Calibri"/>
              <a:sym typeface="Calibri"/>
            </a:endParaRPr>
          </a:p>
        </p:txBody>
      </p:sp>
      <p:sp>
        <p:nvSpPr>
          <p:cNvPr id="21" name="Google Shape;21;g3e441bb160a_1_2"/>
          <p:cNvSpPr/>
          <p:nvPr/>
        </p:nvSpPr>
        <p:spPr>
          <a:xfrm>
            <a:off x="1047750" y="4455925"/>
            <a:ext cx="3135600" cy="4657800"/>
          </a:xfrm>
          <a:prstGeom prst="roundRect">
            <a:avLst>
              <a:gd fmla="val 4896" name="adj"/>
            </a:avLst>
          </a:prstGeom>
          <a:solidFill>
            <a:srgbClr val="E7C6CF"/>
          </a:solidFill>
          <a:ln>
            <a:noFill/>
          </a:ln>
        </p:spPr>
        <p:txBody>
          <a:bodyPr anchorCtr="0" anchor="ctr" bIns="78175" lIns="78175" spcFirstLastPara="1" rIns="78175" wrap="square" tIns="78175">
            <a:noAutofit/>
          </a:bodyPr>
          <a:lstStyle/>
          <a:p>
            <a:pPr indent="0" lvl="0" marL="0" rtl="0" algn="l">
              <a:spcBef>
                <a:spcPts val="0"/>
              </a:spcBef>
              <a:spcAft>
                <a:spcPts val="0"/>
              </a:spcAft>
              <a:buNone/>
            </a:pPr>
            <a:r>
              <a:t/>
            </a:r>
            <a:endParaRPr/>
          </a:p>
        </p:txBody>
      </p:sp>
      <p:sp>
        <p:nvSpPr>
          <p:cNvPr id="22" name="Google Shape;22;g3e441bb160a_1_2"/>
          <p:cNvSpPr/>
          <p:nvPr/>
        </p:nvSpPr>
        <p:spPr>
          <a:xfrm>
            <a:off x="1262680" y="4768006"/>
            <a:ext cx="2787000" cy="881700"/>
          </a:xfrm>
          <a:prstGeom prst="rect">
            <a:avLst/>
          </a:prstGeom>
          <a:noFill/>
          <a:ln>
            <a:noFill/>
          </a:ln>
        </p:spPr>
        <p:txBody>
          <a:bodyPr anchorCtr="0" anchor="t" bIns="21725" lIns="21725" spcFirstLastPara="1" rIns="21725" wrap="square" tIns="21725">
            <a:noAutofit/>
          </a:bodyPr>
          <a:lstStyle/>
          <a:p>
            <a:pPr indent="0" lvl="0" marL="0" marR="0" rtl="0" algn="l">
              <a:lnSpc>
                <a:spcPct val="90000"/>
              </a:lnSpc>
              <a:spcBef>
                <a:spcPts val="0"/>
              </a:spcBef>
              <a:spcAft>
                <a:spcPts val="0"/>
              </a:spcAft>
              <a:buClr>
                <a:srgbClr val="5E1F3A"/>
              </a:buClr>
              <a:buSzPts val="6157"/>
              <a:buFont typeface="Georgia"/>
              <a:buNone/>
            </a:pPr>
            <a:r>
              <a:rPr b="0" i="0" lang="en-US" sz="6157" u="none" cap="none" strike="noStrike">
                <a:solidFill>
                  <a:srgbClr val="5E1F3A"/>
                </a:solidFill>
                <a:latin typeface="Georgia"/>
                <a:ea typeface="Georgia"/>
                <a:cs typeface="Georgia"/>
                <a:sym typeface="Georgia"/>
              </a:rPr>
              <a:t>Matteo</a:t>
            </a:r>
            <a:endParaRPr b="0" i="0" sz="6157" u="none" cap="none" strike="noStrike">
              <a:solidFill>
                <a:schemeClr val="dk1"/>
              </a:solidFill>
              <a:latin typeface="Calibri"/>
              <a:ea typeface="Calibri"/>
              <a:cs typeface="Calibri"/>
              <a:sym typeface="Calibri"/>
            </a:endParaRPr>
          </a:p>
        </p:txBody>
      </p:sp>
      <p:sp>
        <p:nvSpPr>
          <p:cNvPr id="23" name="Google Shape;23;g3e441bb160a_1_2"/>
          <p:cNvSpPr/>
          <p:nvPr/>
        </p:nvSpPr>
        <p:spPr>
          <a:xfrm>
            <a:off x="1262680" y="5747144"/>
            <a:ext cx="2787000" cy="897600"/>
          </a:xfrm>
          <a:prstGeom prst="rect">
            <a:avLst/>
          </a:prstGeom>
          <a:noFill/>
          <a:ln>
            <a:noFill/>
          </a:ln>
        </p:spPr>
        <p:txBody>
          <a:bodyPr anchorCtr="0" anchor="t" bIns="21725" lIns="21725" spcFirstLastPara="1" rIns="21725" wrap="square" tIns="21725">
            <a:noAutofit/>
          </a:bodyPr>
          <a:lstStyle/>
          <a:p>
            <a:pPr indent="0" lvl="0" marL="0" marR="0" rtl="0" algn="l">
              <a:lnSpc>
                <a:spcPct val="100000"/>
              </a:lnSpc>
              <a:spcBef>
                <a:spcPts val="0"/>
              </a:spcBef>
              <a:spcAft>
                <a:spcPts val="0"/>
              </a:spcAft>
              <a:buClr>
                <a:srgbClr val="1A1714"/>
              </a:buClr>
              <a:buSzPts val="2822"/>
              <a:buFont typeface="Georgia"/>
              <a:buNone/>
            </a:pPr>
            <a:r>
              <a:rPr b="0" i="0" lang="en-US" sz="2822" u="none" cap="none" strike="noStrike">
                <a:solidFill>
                  <a:srgbClr val="1A1714"/>
                </a:solidFill>
                <a:latin typeface="Georgia"/>
                <a:ea typeface="Georgia"/>
                <a:cs typeface="Georgia"/>
                <a:sym typeface="Georgia"/>
              </a:rPr>
              <a:t>Matteo Mirgone</a:t>
            </a:r>
            <a:endParaRPr b="0" i="0" sz="2822" u="none" cap="none" strike="noStrike">
              <a:solidFill>
                <a:schemeClr val="dk1"/>
              </a:solidFill>
              <a:latin typeface="Calibri"/>
              <a:ea typeface="Calibri"/>
              <a:cs typeface="Calibri"/>
              <a:sym typeface="Calibri"/>
            </a:endParaRPr>
          </a:p>
        </p:txBody>
      </p:sp>
      <p:sp>
        <p:nvSpPr>
          <p:cNvPr id="24" name="Google Shape;24;g3e441bb160a_1_2"/>
          <p:cNvSpPr/>
          <p:nvPr/>
        </p:nvSpPr>
        <p:spPr>
          <a:xfrm>
            <a:off x="1262675" y="6819925"/>
            <a:ext cx="2920800" cy="565800"/>
          </a:xfrm>
          <a:prstGeom prst="rect">
            <a:avLst/>
          </a:prstGeom>
          <a:noFill/>
          <a:ln>
            <a:noFill/>
          </a:ln>
        </p:spPr>
        <p:txBody>
          <a:bodyPr anchorCtr="0" anchor="t" bIns="21725" lIns="21725" spcFirstLastPara="1" rIns="21725" wrap="square" tIns="21725">
            <a:noAutofit/>
          </a:bodyPr>
          <a:lstStyle/>
          <a:p>
            <a:pPr indent="0" lvl="0" marL="0" marR="0" rtl="0" algn="l">
              <a:spcBef>
                <a:spcPts val="0"/>
              </a:spcBef>
              <a:spcAft>
                <a:spcPts val="0"/>
              </a:spcAft>
              <a:buClr>
                <a:srgbClr val="1A1714"/>
              </a:buClr>
              <a:buSzPts val="1539"/>
              <a:buFont typeface="Courier New"/>
              <a:buNone/>
            </a:pPr>
            <a:r>
              <a:rPr i="0" lang="en-US" sz="1439" u="none" cap="none" strike="noStrike">
                <a:solidFill>
                  <a:srgbClr val="1A1714"/>
                </a:solidFill>
                <a:latin typeface="Georgia"/>
                <a:ea typeface="Georgia"/>
                <a:cs typeface="Georgia"/>
                <a:sym typeface="Georgia"/>
              </a:rPr>
              <a:t>ARCHITECTURE &amp; RETRIEVAL</a:t>
            </a:r>
            <a:endParaRPr i="0" sz="1439" u="none" cap="none" strike="noStrike">
              <a:solidFill>
                <a:schemeClr val="dk1"/>
              </a:solidFill>
              <a:latin typeface="Georgia"/>
              <a:ea typeface="Georgia"/>
              <a:cs typeface="Georgia"/>
              <a:sym typeface="Georgia"/>
            </a:endParaRPr>
          </a:p>
        </p:txBody>
      </p:sp>
      <p:sp>
        <p:nvSpPr>
          <p:cNvPr id="25" name="Google Shape;25;g3e441bb160a_1_2"/>
          <p:cNvSpPr/>
          <p:nvPr/>
        </p:nvSpPr>
        <p:spPr>
          <a:xfrm>
            <a:off x="1262675" y="7619625"/>
            <a:ext cx="2920800" cy="1022100"/>
          </a:xfrm>
          <a:prstGeom prst="rect">
            <a:avLst/>
          </a:prstGeom>
          <a:noFill/>
          <a:ln>
            <a:noFill/>
          </a:ln>
        </p:spPr>
        <p:txBody>
          <a:bodyPr anchorCtr="0" anchor="t" bIns="21725" lIns="21725" spcFirstLastPara="1" rIns="21725" wrap="square" tIns="21725">
            <a:noAutofit/>
          </a:bodyPr>
          <a:lstStyle/>
          <a:p>
            <a:pPr indent="0" lvl="0" marL="0" marR="0" rtl="0" algn="l">
              <a:lnSpc>
                <a:spcPct val="140000"/>
              </a:lnSpc>
              <a:spcBef>
                <a:spcPts val="0"/>
              </a:spcBef>
              <a:spcAft>
                <a:spcPts val="0"/>
              </a:spcAft>
              <a:buClr>
                <a:srgbClr val="3D352C"/>
              </a:buClr>
              <a:buSzPts val="1539"/>
              <a:buFont typeface="Arial"/>
              <a:buNone/>
            </a:pPr>
            <a:r>
              <a:rPr i="0" lang="en-US" sz="1539" u="none" cap="none" strike="noStrike">
                <a:solidFill>
                  <a:srgbClr val="3D352C"/>
                </a:solidFill>
                <a:latin typeface="Georgia"/>
                <a:ea typeface="Georgia"/>
                <a:cs typeface="Georgia"/>
                <a:sym typeface="Georgia"/>
              </a:rPr>
              <a:t>Owned the RAG pipeline design and ChromaDB integration across both projects.</a:t>
            </a:r>
            <a:endParaRPr i="0" sz="1539" u="none" cap="none" strike="noStrike">
              <a:solidFill>
                <a:schemeClr val="dk1"/>
              </a:solidFill>
              <a:latin typeface="Georgia"/>
              <a:ea typeface="Georgia"/>
              <a:cs typeface="Georgia"/>
              <a:sym typeface="Georgia"/>
            </a:endParaRPr>
          </a:p>
        </p:txBody>
      </p:sp>
      <p:sp>
        <p:nvSpPr>
          <p:cNvPr id="26" name="Google Shape;26;g3e441bb160a_1_2"/>
          <p:cNvSpPr/>
          <p:nvPr/>
        </p:nvSpPr>
        <p:spPr>
          <a:xfrm>
            <a:off x="4352300" y="4455925"/>
            <a:ext cx="3135600" cy="4657800"/>
          </a:xfrm>
          <a:prstGeom prst="roundRect">
            <a:avLst>
              <a:gd fmla="val 4896" name="adj"/>
            </a:avLst>
          </a:prstGeom>
          <a:solidFill>
            <a:srgbClr val="F6CDB8"/>
          </a:solidFill>
          <a:ln>
            <a:noFill/>
          </a:ln>
        </p:spPr>
        <p:txBody>
          <a:bodyPr anchorCtr="0" anchor="ctr" bIns="78175" lIns="78175" spcFirstLastPara="1" rIns="78175" wrap="square" tIns="78175">
            <a:noAutofit/>
          </a:bodyPr>
          <a:lstStyle/>
          <a:p>
            <a:pPr indent="0" lvl="0" marL="0" rtl="0" algn="l">
              <a:spcBef>
                <a:spcPts val="0"/>
              </a:spcBef>
              <a:spcAft>
                <a:spcPts val="0"/>
              </a:spcAft>
              <a:buNone/>
            </a:pPr>
            <a:r>
              <a:t/>
            </a:r>
            <a:endParaRPr/>
          </a:p>
        </p:txBody>
      </p:sp>
      <p:sp>
        <p:nvSpPr>
          <p:cNvPr id="27" name="Google Shape;27;g3e441bb160a_1_2"/>
          <p:cNvSpPr/>
          <p:nvPr/>
        </p:nvSpPr>
        <p:spPr>
          <a:xfrm>
            <a:off x="4567231" y="4768006"/>
            <a:ext cx="2787000" cy="881700"/>
          </a:xfrm>
          <a:prstGeom prst="rect">
            <a:avLst/>
          </a:prstGeom>
          <a:noFill/>
          <a:ln>
            <a:noFill/>
          </a:ln>
        </p:spPr>
        <p:txBody>
          <a:bodyPr anchorCtr="0" anchor="t" bIns="21725" lIns="21725" spcFirstLastPara="1" rIns="21725" wrap="square" tIns="21725">
            <a:noAutofit/>
          </a:bodyPr>
          <a:lstStyle/>
          <a:p>
            <a:pPr indent="0" lvl="0" marL="0" marR="0" rtl="0" algn="l">
              <a:lnSpc>
                <a:spcPct val="90000"/>
              </a:lnSpc>
              <a:spcBef>
                <a:spcPts val="0"/>
              </a:spcBef>
              <a:spcAft>
                <a:spcPts val="0"/>
              </a:spcAft>
              <a:buClr>
                <a:srgbClr val="E34A26"/>
              </a:buClr>
              <a:buSzPts val="6157"/>
              <a:buFont typeface="Georgia"/>
              <a:buNone/>
            </a:pPr>
            <a:r>
              <a:rPr b="0" i="0" lang="en-US" sz="6157" u="none" cap="none" strike="noStrike">
                <a:solidFill>
                  <a:srgbClr val="E34A26"/>
                </a:solidFill>
                <a:latin typeface="Georgia"/>
                <a:ea typeface="Georgia"/>
                <a:cs typeface="Georgia"/>
                <a:sym typeface="Georgia"/>
              </a:rPr>
              <a:t>Dora</a:t>
            </a:r>
            <a:endParaRPr b="0" i="0" sz="6157" u="none" cap="none" strike="noStrike">
              <a:solidFill>
                <a:schemeClr val="dk1"/>
              </a:solidFill>
              <a:latin typeface="Calibri"/>
              <a:ea typeface="Calibri"/>
              <a:cs typeface="Calibri"/>
              <a:sym typeface="Calibri"/>
            </a:endParaRPr>
          </a:p>
        </p:txBody>
      </p:sp>
      <p:sp>
        <p:nvSpPr>
          <p:cNvPr id="28" name="Google Shape;28;g3e441bb160a_1_2"/>
          <p:cNvSpPr/>
          <p:nvPr/>
        </p:nvSpPr>
        <p:spPr>
          <a:xfrm>
            <a:off x="4526635" y="5747125"/>
            <a:ext cx="2787000" cy="897600"/>
          </a:xfrm>
          <a:prstGeom prst="rect">
            <a:avLst/>
          </a:prstGeom>
          <a:noFill/>
          <a:ln>
            <a:noFill/>
          </a:ln>
        </p:spPr>
        <p:txBody>
          <a:bodyPr anchorCtr="0" anchor="t" bIns="21725" lIns="21725" spcFirstLastPara="1" rIns="21725" wrap="square" tIns="21725">
            <a:noAutofit/>
          </a:bodyPr>
          <a:lstStyle/>
          <a:p>
            <a:pPr indent="0" lvl="0" marL="0" marR="0" rtl="0" algn="l">
              <a:lnSpc>
                <a:spcPct val="100000"/>
              </a:lnSpc>
              <a:spcBef>
                <a:spcPts val="0"/>
              </a:spcBef>
              <a:spcAft>
                <a:spcPts val="0"/>
              </a:spcAft>
              <a:buClr>
                <a:srgbClr val="1A1714"/>
              </a:buClr>
              <a:buSzPts val="2822"/>
              <a:buFont typeface="Georgia"/>
              <a:buNone/>
            </a:pPr>
            <a:r>
              <a:rPr b="0" i="0" lang="en-US" sz="2822" u="none" cap="none" strike="noStrike">
                <a:solidFill>
                  <a:srgbClr val="1A1714"/>
                </a:solidFill>
                <a:latin typeface="Georgia"/>
                <a:ea typeface="Georgia"/>
                <a:cs typeface="Georgia"/>
                <a:sym typeface="Georgia"/>
              </a:rPr>
              <a:t>Jiayue Li</a:t>
            </a:r>
            <a:endParaRPr b="0" i="0" sz="2822" u="none" cap="none" strike="noStrike">
              <a:solidFill>
                <a:schemeClr val="dk1"/>
              </a:solidFill>
              <a:latin typeface="Calibri"/>
              <a:ea typeface="Calibri"/>
              <a:cs typeface="Calibri"/>
              <a:sym typeface="Calibri"/>
            </a:endParaRPr>
          </a:p>
        </p:txBody>
      </p:sp>
      <p:sp>
        <p:nvSpPr>
          <p:cNvPr id="29" name="Google Shape;29;g3e441bb160a_1_2"/>
          <p:cNvSpPr/>
          <p:nvPr/>
        </p:nvSpPr>
        <p:spPr>
          <a:xfrm>
            <a:off x="4526594" y="6819915"/>
            <a:ext cx="2787000" cy="302400"/>
          </a:xfrm>
          <a:prstGeom prst="rect">
            <a:avLst/>
          </a:prstGeom>
          <a:noFill/>
          <a:ln>
            <a:noFill/>
          </a:ln>
        </p:spPr>
        <p:txBody>
          <a:bodyPr anchorCtr="0" anchor="t" bIns="21725" lIns="21725" spcFirstLastPara="1" rIns="21725" wrap="square" tIns="21725">
            <a:noAutofit/>
          </a:bodyPr>
          <a:lstStyle/>
          <a:p>
            <a:pPr indent="0" lvl="0" marL="0" marR="0" rtl="0" algn="l">
              <a:spcBef>
                <a:spcPts val="0"/>
              </a:spcBef>
              <a:spcAft>
                <a:spcPts val="0"/>
              </a:spcAft>
              <a:buClr>
                <a:srgbClr val="1A1714"/>
              </a:buClr>
              <a:buSzPts val="1539"/>
              <a:buFont typeface="Courier New"/>
              <a:buNone/>
            </a:pPr>
            <a:r>
              <a:rPr i="0" lang="en-US" sz="1439" u="none" cap="none" strike="noStrike">
                <a:solidFill>
                  <a:srgbClr val="1A1714"/>
                </a:solidFill>
                <a:latin typeface="Georgia"/>
                <a:ea typeface="Georgia"/>
                <a:cs typeface="Georgia"/>
                <a:sym typeface="Georgia"/>
              </a:rPr>
              <a:t>FRONTEND &amp; DEMO</a:t>
            </a:r>
            <a:endParaRPr i="0" sz="1439" u="none" cap="none" strike="noStrike">
              <a:solidFill>
                <a:schemeClr val="dk1"/>
              </a:solidFill>
              <a:latin typeface="Georgia"/>
              <a:ea typeface="Georgia"/>
              <a:cs typeface="Georgia"/>
              <a:sym typeface="Georgia"/>
            </a:endParaRPr>
          </a:p>
        </p:txBody>
      </p:sp>
      <p:sp>
        <p:nvSpPr>
          <p:cNvPr id="30" name="Google Shape;30;g3e441bb160a_1_2"/>
          <p:cNvSpPr/>
          <p:nvPr/>
        </p:nvSpPr>
        <p:spPr>
          <a:xfrm>
            <a:off x="4567231" y="7619628"/>
            <a:ext cx="2787000" cy="732000"/>
          </a:xfrm>
          <a:prstGeom prst="rect">
            <a:avLst/>
          </a:prstGeom>
          <a:noFill/>
          <a:ln>
            <a:noFill/>
          </a:ln>
        </p:spPr>
        <p:txBody>
          <a:bodyPr anchorCtr="0" anchor="t" bIns="21725" lIns="21725" spcFirstLastPara="1" rIns="21725" wrap="square" tIns="21725">
            <a:noAutofit/>
          </a:bodyPr>
          <a:lstStyle/>
          <a:p>
            <a:pPr indent="0" lvl="0" marL="0" marR="0" rtl="0" algn="l">
              <a:lnSpc>
                <a:spcPct val="140000"/>
              </a:lnSpc>
              <a:spcBef>
                <a:spcPts val="0"/>
              </a:spcBef>
              <a:spcAft>
                <a:spcPts val="0"/>
              </a:spcAft>
              <a:buClr>
                <a:srgbClr val="3D352C"/>
              </a:buClr>
              <a:buSzPts val="1539"/>
              <a:buFont typeface="Arial"/>
              <a:buNone/>
            </a:pPr>
            <a:r>
              <a:rPr i="0" lang="en-US" sz="1539" u="none" cap="none" strike="noStrike">
                <a:solidFill>
                  <a:srgbClr val="3D352C"/>
                </a:solidFill>
                <a:latin typeface="Georgia"/>
                <a:ea typeface="Georgia"/>
                <a:cs typeface="Georgia"/>
                <a:sym typeface="Georgia"/>
              </a:rPr>
              <a:t>Streamlit UI, chat interaction testing &amp; debugging, and live-demo flow.</a:t>
            </a:r>
            <a:endParaRPr i="0" sz="1539" u="none" cap="none" strike="noStrike">
              <a:solidFill>
                <a:schemeClr val="dk1"/>
              </a:solidFill>
              <a:latin typeface="Georgia"/>
              <a:ea typeface="Georgia"/>
              <a:cs typeface="Georgia"/>
              <a:sym typeface="Georgia"/>
            </a:endParaRPr>
          </a:p>
        </p:txBody>
      </p:sp>
      <p:sp>
        <p:nvSpPr>
          <p:cNvPr id="31" name="Google Shape;31;g3e441bb160a_1_2"/>
          <p:cNvSpPr/>
          <p:nvPr/>
        </p:nvSpPr>
        <p:spPr>
          <a:xfrm>
            <a:off x="7656850" y="4455925"/>
            <a:ext cx="3135600" cy="4657800"/>
          </a:xfrm>
          <a:prstGeom prst="roundRect">
            <a:avLst>
              <a:gd fmla="val 4896" name="adj"/>
            </a:avLst>
          </a:prstGeom>
          <a:solidFill>
            <a:srgbClr val="F3DCA5"/>
          </a:solidFill>
          <a:ln>
            <a:noFill/>
          </a:ln>
        </p:spPr>
        <p:txBody>
          <a:bodyPr anchorCtr="0" anchor="ctr" bIns="78175" lIns="78175" spcFirstLastPara="1" rIns="78175" wrap="square" tIns="78175">
            <a:noAutofit/>
          </a:bodyPr>
          <a:lstStyle/>
          <a:p>
            <a:pPr indent="0" lvl="0" marL="0" rtl="0" algn="l">
              <a:spcBef>
                <a:spcPts val="0"/>
              </a:spcBef>
              <a:spcAft>
                <a:spcPts val="0"/>
              </a:spcAft>
              <a:buNone/>
            </a:pPr>
            <a:r>
              <a:t/>
            </a:r>
            <a:endParaRPr/>
          </a:p>
        </p:txBody>
      </p:sp>
      <p:sp>
        <p:nvSpPr>
          <p:cNvPr id="32" name="Google Shape;32;g3e441bb160a_1_2"/>
          <p:cNvSpPr/>
          <p:nvPr/>
        </p:nvSpPr>
        <p:spPr>
          <a:xfrm>
            <a:off x="7871782" y="4768006"/>
            <a:ext cx="2787000" cy="881700"/>
          </a:xfrm>
          <a:prstGeom prst="rect">
            <a:avLst/>
          </a:prstGeom>
          <a:noFill/>
          <a:ln>
            <a:noFill/>
          </a:ln>
        </p:spPr>
        <p:txBody>
          <a:bodyPr anchorCtr="0" anchor="t" bIns="21725" lIns="21725" spcFirstLastPara="1" rIns="21725" wrap="square" tIns="21725">
            <a:noAutofit/>
          </a:bodyPr>
          <a:lstStyle/>
          <a:p>
            <a:pPr indent="0" lvl="0" marL="0" marR="0" rtl="0" algn="l">
              <a:lnSpc>
                <a:spcPct val="90000"/>
              </a:lnSpc>
              <a:spcBef>
                <a:spcPts val="0"/>
              </a:spcBef>
              <a:spcAft>
                <a:spcPts val="0"/>
              </a:spcAft>
              <a:buClr>
                <a:srgbClr val="6E4815"/>
              </a:buClr>
              <a:buSzPts val="6157"/>
              <a:buFont typeface="Georgia"/>
              <a:buNone/>
            </a:pPr>
            <a:r>
              <a:rPr lang="en-US" sz="6157">
                <a:solidFill>
                  <a:srgbClr val="6E4815"/>
                </a:solidFill>
                <a:latin typeface="Georgia"/>
                <a:ea typeface="Georgia"/>
                <a:cs typeface="Georgia"/>
                <a:sym typeface="Georgia"/>
              </a:rPr>
              <a:t>Rita</a:t>
            </a:r>
            <a:endParaRPr b="0" i="0" sz="6157" u="none" cap="none" strike="noStrike">
              <a:solidFill>
                <a:schemeClr val="dk1"/>
              </a:solidFill>
              <a:latin typeface="Calibri"/>
              <a:ea typeface="Calibri"/>
              <a:cs typeface="Calibri"/>
              <a:sym typeface="Calibri"/>
            </a:endParaRPr>
          </a:p>
        </p:txBody>
      </p:sp>
      <p:sp>
        <p:nvSpPr>
          <p:cNvPr id="33" name="Google Shape;33;g3e441bb160a_1_2"/>
          <p:cNvSpPr/>
          <p:nvPr/>
        </p:nvSpPr>
        <p:spPr>
          <a:xfrm>
            <a:off x="7871782" y="5747144"/>
            <a:ext cx="2787000" cy="897600"/>
          </a:xfrm>
          <a:prstGeom prst="rect">
            <a:avLst/>
          </a:prstGeom>
          <a:noFill/>
          <a:ln>
            <a:noFill/>
          </a:ln>
        </p:spPr>
        <p:txBody>
          <a:bodyPr anchorCtr="0" anchor="t" bIns="21725" lIns="21725" spcFirstLastPara="1" rIns="21725" wrap="square" tIns="21725">
            <a:noAutofit/>
          </a:bodyPr>
          <a:lstStyle/>
          <a:p>
            <a:pPr indent="0" lvl="0" marL="0" marR="0" rtl="0" algn="l">
              <a:lnSpc>
                <a:spcPct val="100000"/>
              </a:lnSpc>
              <a:spcBef>
                <a:spcPts val="0"/>
              </a:spcBef>
              <a:spcAft>
                <a:spcPts val="0"/>
              </a:spcAft>
              <a:buClr>
                <a:srgbClr val="1A1714"/>
              </a:buClr>
              <a:buSzPts val="2822"/>
              <a:buFont typeface="Georgia"/>
              <a:buNone/>
            </a:pPr>
            <a:r>
              <a:rPr b="0" i="0" lang="en-US" sz="2822" u="none" cap="none" strike="noStrike">
                <a:solidFill>
                  <a:srgbClr val="1A1714"/>
                </a:solidFill>
                <a:latin typeface="Georgia"/>
                <a:ea typeface="Georgia"/>
                <a:cs typeface="Georgia"/>
                <a:sym typeface="Georgia"/>
              </a:rPr>
              <a:t>Zehui</a:t>
            </a:r>
            <a:r>
              <a:rPr lang="en-US" sz="2822">
                <a:solidFill>
                  <a:srgbClr val="1A1714"/>
                </a:solidFill>
                <a:latin typeface="Georgia"/>
                <a:ea typeface="Georgia"/>
                <a:cs typeface="Georgia"/>
                <a:sym typeface="Georgia"/>
              </a:rPr>
              <a:t> </a:t>
            </a:r>
            <a:r>
              <a:rPr b="0" i="0" lang="en-US" sz="2822" u="none" cap="none" strike="noStrike">
                <a:solidFill>
                  <a:srgbClr val="1A1714"/>
                </a:solidFill>
                <a:latin typeface="Georgia"/>
                <a:ea typeface="Georgia"/>
                <a:cs typeface="Georgia"/>
                <a:sym typeface="Georgia"/>
              </a:rPr>
              <a:t> Luo</a:t>
            </a:r>
            <a:endParaRPr b="0" i="0" sz="2822" u="none" cap="none" strike="noStrike">
              <a:solidFill>
                <a:schemeClr val="dk1"/>
              </a:solidFill>
              <a:latin typeface="Calibri"/>
              <a:ea typeface="Calibri"/>
              <a:cs typeface="Calibri"/>
              <a:sym typeface="Calibri"/>
            </a:endParaRPr>
          </a:p>
        </p:txBody>
      </p:sp>
      <p:sp>
        <p:nvSpPr>
          <p:cNvPr id="34" name="Google Shape;34;g3e441bb160a_1_2"/>
          <p:cNvSpPr/>
          <p:nvPr/>
        </p:nvSpPr>
        <p:spPr>
          <a:xfrm>
            <a:off x="7871782" y="6819922"/>
            <a:ext cx="2787000" cy="565800"/>
          </a:xfrm>
          <a:prstGeom prst="rect">
            <a:avLst/>
          </a:prstGeom>
          <a:noFill/>
          <a:ln>
            <a:noFill/>
          </a:ln>
        </p:spPr>
        <p:txBody>
          <a:bodyPr anchorCtr="0" anchor="t" bIns="21725" lIns="21725" spcFirstLastPara="1" rIns="21725" wrap="square" tIns="21725">
            <a:noAutofit/>
          </a:bodyPr>
          <a:lstStyle/>
          <a:p>
            <a:pPr indent="0" lvl="0" marL="0" marR="0" rtl="0" algn="l">
              <a:spcBef>
                <a:spcPts val="0"/>
              </a:spcBef>
              <a:spcAft>
                <a:spcPts val="0"/>
              </a:spcAft>
              <a:buClr>
                <a:srgbClr val="1A1714"/>
              </a:buClr>
              <a:buSzPts val="1539"/>
              <a:buFont typeface="Courier New"/>
              <a:buNone/>
            </a:pPr>
            <a:r>
              <a:rPr i="0" lang="en-US" sz="1439" u="none" cap="none" strike="noStrike">
                <a:solidFill>
                  <a:srgbClr val="1A1714"/>
                </a:solidFill>
                <a:latin typeface="Georgia"/>
                <a:ea typeface="Georgia"/>
                <a:cs typeface="Georgia"/>
                <a:sym typeface="Georgia"/>
              </a:rPr>
              <a:t>EVALUATION &amp; PROMPTING</a:t>
            </a:r>
            <a:endParaRPr i="0" sz="1439" u="none" cap="none" strike="noStrike">
              <a:solidFill>
                <a:schemeClr val="dk1"/>
              </a:solidFill>
              <a:latin typeface="Georgia"/>
              <a:ea typeface="Georgia"/>
              <a:cs typeface="Georgia"/>
              <a:sym typeface="Georgia"/>
            </a:endParaRPr>
          </a:p>
        </p:txBody>
      </p:sp>
      <p:sp>
        <p:nvSpPr>
          <p:cNvPr id="35" name="Google Shape;35;g3e441bb160a_1_2"/>
          <p:cNvSpPr/>
          <p:nvPr/>
        </p:nvSpPr>
        <p:spPr>
          <a:xfrm>
            <a:off x="7871775" y="7619625"/>
            <a:ext cx="2920800" cy="1022100"/>
          </a:xfrm>
          <a:prstGeom prst="rect">
            <a:avLst/>
          </a:prstGeom>
          <a:noFill/>
          <a:ln>
            <a:noFill/>
          </a:ln>
        </p:spPr>
        <p:txBody>
          <a:bodyPr anchorCtr="0" anchor="t" bIns="21725" lIns="21725" spcFirstLastPara="1" rIns="21725" wrap="square" tIns="21725">
            <a:noAutofit/>
          </a:bodyPr>
          <a:lstStyle/>
          <a:p>
            <a:pPr indent="0" lvl="0" marL="0" marR="0" rtl="0" algn="l">
              <a:lnSpc>
                <a:spcPct val="140000"/>
              </a:lnSpc>
              <a:spcBef>
                <a:spcPts val="0"/>
              </a:spcBef>
              <a:spcAft>
                <a:spcPts val="0"/>
              </a:spcAft>
              <a:buClr>
                <a:srgbClr val="3D352C"/>
              </a:buClr>
              <a:buSzPts val="1539"/>
              <a:buFont typeface="Arial"/>
              <a:buNone/>
            </a:pPr>
            <a:r>
              <a:rPr i="0" lang="en-US" sz="1539" u="none" cap="none" strike="noStrike">
                <a:solidFill>
                  <a:srgbClr val="3D352C"/>
                </a:solidFill>
                <a:latin typeface="Georgia"/>
                <a:ea typeface="Georgia"/>
                <a:cs typeface="Georgia"/>
                <a:sym typeface="Georgia"/>
              </a:rPr>
              <a:t>Harness-agent evaluator, </a:t>
            </a:r>
            <a:r>
              <a:rPr lang="en-US" sz="1539">
                <a:solidFill>
                  <a:srgbClr val="3D352C"/>
                </a:solidFill>
                <a:latin typeface="Georgia"/>
                <a:ea typeface="Georgia"/>
                <a:cs typeface="Georgia"/>
                <a:sym typeface="Georgia"/>
              </a:rPr>
              <a:t>web-scraping for midterm project, </a:t>
            </a:r>
            <a:r>
              <a:rPr i="0" lang="en-US" sz="1539" u="none" cap="none" strike="noStrike">
                <a:solidFill>
                  <a:srgbClr val="3D352C"/>
                </a:solidFill>
                <a:latin typeface="Georgia"/>
                <a:ea typeface="Georgia"/>
                <a:cs typeface="Georgia"/>
                <a:sym typeface="Georgia"/>
              </a:rPr>
              <a:t>grounded-output rules.</a:t>
            </a:r>
            <a:endParaRPr i="0" sz="1539" u="none" cap="none" strike="noStrike">
              <a:solidFill>
                <a:schemeClr val="dk1"/>
              </a:solidFill>
              <a:latin typeface="Georgia"/>
              <a:ea typeface="Georgia"/>
              <a:cs typeface="Georgia"/>
              <a:sym typeface="Georgia"/>
            </a:endParaRPr>
          </a:p>
        </p:txBody>
      </p:sp>
      <p:sp>
        <p:nvSpPr>
          <p:cNvPr id="36" name="Google Shape;36;g3e441bb160a_1_2"/>
          <p:cNvSpPr/>
          <p:nvPr/>
        </p:nvSpPr>
        <p:spPr>
          <a:xfrm>
            <a:off x="10961401" y="4455925"/>
            <a:ext cx="3135600" cy="4657800"/>
          </a:xfrm>
          <a:prstGeom prst="roundRect">
            <a:avLst>
              <a:gd fmla="val 4896" name="adj"/>
            </a:avLst>
          </a:prstGeom>
          <a:solidFill>
            <a:srgbClr val="B5D4C0"/>
          </a:solidFill>
          <a:ln>
            <a:noFill/>
          </a:ln>
        </p:spPr>
        <p:txBody>
          <a:bodyPr anchorCtr="0" anchor="ctr" bIns="78175" lIns="78175" spcFirstLastPara="1" rIns="78175" wrap="square" tIns="78175">
            <a:noAutofit/>
          </a:bodyPr>
          <a:lstStyle/>
          <a:p>
            <a:pPr indent="0" lvl="0" marL="0" rtl="0" algn="l">
              <a:spcBef>
                <a:spcPts val="0"/>
              </a:spcBef>
              <a:spcAft>
                <a:spcPts val="0"/>
              </a:spcAft>
              <a:buNone/>
            </a:pPr>
            <a:r>
              <a:t/>
            </a:r>
            <a:endParaRPr/>
          </a:p>
        </p:txBody>
      </p:sp>
      <p:sp>
        <p:nvSpPr>
          <p:cNvPr id="37" name="Google Shape;37;g3e441bb160a_1_2"/>
          <p:cNvSpPr/>
          <p:nvPr/>
        </p:nvSpPr>
        <p:spPr>
          <a:xfrm>
            <a:off x="11176333" y="4768006"/>
            <a:ext cx="2787000" cy="881700"/>
          </a:xfrm>
          <a:prstGeom prst="rect">
            <a:avLst/>
          </a:prstGeom>
          <a:noFill/>
          <a:ln>
            <a:noFill/>
          </a:ln>
        </p:spPr>
        <p:txBody>
          <a:bodyPr anchorCtr="0" anchor="t" bIns="21725" lIns="21725" spcFirstLastPara="1" rIns="21725" wrap="square" tIns="21725">
            <a:noAutofit/>
          </a:bodyPr>
          <a:lstStyle/>
          <a:p>
            <a:pPr indent="0" lvl="0" marL="0" marR="0" rtl="0" algn="l">
              <a:lnSpc>
                <a:spcPct val="90000"/>
              </a:lnSpc>
              <a:spcBef>
                <a:spcPts val="0"/>
              </a:spcBef>
              <a:spcAft>
                <a:spcPts val="0"/>
              </a:spcAft>
              <a:buClr>
                <a:srgbClr val="2D6E4A"/>
              </a:buClr>
              <a:buSzPts val="6157"/>
              <a:buFont typeface="Georgia"/>
              <a:buNone/>
            </a:pPr>
            <a:r>
              <a:rPr b="0" i="0" lang="en-US" sz="6157" u="none" cap="none" strike="noStrike">
                <a:solidFill>
                  <a:srgbClr val="2D6E4A"/>
                </a:solidFill>
                <a:latin typeface="Georgia"/>
                <a:ea typeface="Georgia"/>
                <a:cs typeface="Georgia"/>
                <a:sym typeface="Georgia"/>
              </a:rPr>
              <a:t>Diana</a:t>
            </a:r>
            <a:endParaRPr b="0" i="0" sz="6157" u="none" cap="none" strike="noStrike">
              <a:solidFill>
                <a:schemeClr val="dk1"/>
              </a:solidFill>
              <a:latin typeface="Calibri"/>
              <a:ea typeface="Calibri"/>
              <a:cs typeface="Calibri"/>
              <a:sym typeface="Calibri"/>
            </a:endParaRPr>
          </a:p>
        </p:txBody>
      </p:sp>
      <p:sp>
        <p:nvSpPr>
          <p:cNvPr id="38" name="Google Shape;38;g3e441bb160a_1_2"/>
          <p:cNvSpPr/>
          <p:nvPr/>
        </p:nvSpPr>
        <p:spPr>
          <a:xfrm>
            <a:off x="11135676" y="5706750"/>
            <a:ext cx="3090300" cy="897600"/>
          </a:xfrm>
          <a:prstGeom prst="rect">
            <a:avLst/>
          </a:prstGeom>
          <a:noFill/>
          <a:ln>
            <a:noFill/>
          </a:ln>
        </p:spPr>
        <p:txBody>
          <a:bodyPr anchorCtr="0" anchor="t" bIns="21725" lIns="21725" spcFirstLastPara="1" rIns="21725" wrap="square" tIns="21725">
            <a:noAutofit/>
          </a:bodyPr>
          <a:lstStyle/>
          <a:p>
            <a:pPr indent="0" lvl="0" marL="0" marR="0" rtl="0" algn="l">
              <a:lnSpc>
                <a:spcPct val="100000"/>
              </a:lnSpc>
              <a:spcBef>
                <a:spcPts val="0"/>
              </a:spcBef>
              <a:spcAft>
                <a:spcPts val="0"/>
              </a:spcAft>
              <a:buClr>
                <a:srgbClr val="1A1714"/>
              </a:buClr>
              <a:buSzPts val="2822"/>
              <a:buFont typeface="Georgia"/>
              <a:buNone/>
            </a:pPr>
            <a:r>
              <a:rPr b="0" i="0" lang="en-US" sz="2822" u="none" cap="none" strike="noStrike">
                <a:solidFill>
                  <a:srgbClr val="1A1714"/>
                </a:solidFill>
                <a:latin typeface="Georgia"/>
                <a:ea typeface="Georgia"/>
                <a:cs typeface="Georgia"/>
                <a:sym typeface="Georgia"/>
              </a:rPr>
              <a:t>Danqing Chen</a:t>
            </a:r>
            <a:endParaRPr b="0" i="0" sz="2822" u="none" cap="none" strike="noStrike">
              <a:solidFill>
                <a:schemeClr val="dk1"/>
              </a:solidFill>
              <a:latin typeface="Calibri"/>
              <a:ea typeface="Calibri"/>
              <a:cs typeface="Calibri"/>
              <a:sym typeface="Calibri"/>
            </a:endParaRPr>
          </a:p>
        </p:txBody>
      </p:sp>
      <p:sp>
        <p:nvSpPr>
          <p:cNvPr id="39" name="Google Shape;39;g3e441bb160a_1_2"/>
          <p:cNvSpPr/>
          <p:nvPr/>
        </p:nvSpPr>
        <p:spPr>
          <a:xfrm>
            <a:off x="11135708" y="6819915"/>
            <a:ext cx="2787000" cy="302400"/>
          </a:xfrm>
          <a:prstGeom prst="rect">
            <a:avLst/>
          </a:prstGeom>
          <a:noFill/>
          <a:ln>
            <a:noFill/>
          </a:ln>
        </p:spPr>
        <p:txBody>
          <a:bodyPr anchorCtr="0" anchor="t" bIns="21725" lIns="21725" spcFirstLastPara="1" rIns="21725" wrap="square" tIns="21725">
            <a:noAutofit/>
          </a:bodyPr>
          <a:lstStyle/>
          <a:p>
            <a:pPr indent="0" lvl="0" marL="0" marR="0" rtl="0" algn="l">
              <a:spcBef>
                <a:spcPts val="0"/>
              </a:spcBef>
              <a:spcAft>
                <a:spcPts val="0"/>
              </a:spcAft>
              <a:buClr>
                <a:srgbClr val="1A1714"/>
              </a:buClr>
              <a:buSzPts val="1539"/>
              <a:buFont typeface="Courier New"/>
              <a:buNone/>
            </a:pPr>
            <a:r>
              <a:rPr i="0" lang="en-US" sz="1439" u="none" cap="none" strike="noStrike">
                <a:solidFill>
                  <a:srgbClr val="1A1714"/>
                </a:solidFill>
                <a:latin typeface="Georgia"/>
                <a:ea typeface="Georgia"/>
                <a:cs typeface="Georgia"/>
                <a:sym typeface="Georgia"/>
              </a:rPr>
              <a:t>MULTIMODAL &amp; DATA</a:t>
            </a:r>
            <a:endParaRPr i="0" sz="1439" u="none" cap="none" strike="noStrike">
              <a:solidFill>
                <a:schemeClr val="dk1"/>
              </a:solidFill>
              <a:latin typeface="Georgia"/>
              <a:ea typeface="Georgia"/>
              <a:cs typeface="Georgia"/>
              <a:sym typeface="Georgia"/>
            </a:endParaRPr>
          </a:p>
        </p:txBody>
      </p:sp>
      <p:sp>
        <p:nvSpPr>
          <p:cNvPr id="40" name="Google Shape;40;g3e441bb160a_1_2"/>
          <p:cNvSpPr/>
          <p:nvPr/>
        </p:nvSpPr>
        <p:spPr>
          <a:xfrm>
            <a:off x="11095075" y="7638375"/>
            <a:ext cx="2920800" cy="694500"/>
          </a:xfrm>
          <a:prstGeom prst="rect">
            <a:avLst/>
          </a:prstGeom>
          <a:noFill/>
          <a:ln>
            <a:noFill/>
          </a:ln>
        </p:spPr>
        <p:txBody>
          <a:bodyPr anchorCtr="0" anchor="t" bIns="21725" lIns="21725" spcFirstLastPara="1" rIns="21725" wrap="square" tIns="21725">
            <a:noAutofit/>
          </a:bodyPr>
          <a:lstStyle/>
          <a:p>
            <a:pPr indent="0" lvl="0" marL="0" marR="0" rtl="0" algn="l">
              <a:lnSpc>
                <a:spcPct val="140000"/>
              </a:lnSpc>
              <a:spcBef>
                <a:spcPts val="0"/>
              </a:spcBef>
              <a:spcAft>
                <a:spcPts val="0"/>
              </a:spcAft>
              <a:buClr>
                <a:srgbClr val="3D352C"/>
              </a:buClr>
              <a:buSzPts val="1539"/>
              <a:buFont typeface="Arial"/>
              <a:buNone/>
            </a:pPr>
            <a:r>
              <a:rPr i="0" lang="en-US" sz="1539" u="none" cap="none" strike="noStrike">
                <a:solidFill>
                  <a:srgbClr val="3D352C"/>
                </a:solidFill>
                <a:latin typeface="Georgia"/>
                <a:ea typeface="Georgia"/>
                <a:cs typeface="Georgia"/>
                <a:sym typeface="Georgia"/>
              </a:rPr>
              <a:t>CLIP integration, hybrid retrieval, Amazon catalog preparation.</a:t>
            </a:r>
            <a:endParaRPr i="0" sz="1539" u="none" cap="none" strike="noStrike">
              <a:solidFill>
                <a:schemeClr val="dk1"/>
              </a:solidFill>
              <a:latin typeface="Georgia"/>
              <a:ea typeface="Georgia"/>
              <a:cs typeface="Georgia"/>
              <a:sym typeface="Georgia"/>
            </a:endParaRPr>
          </a:p>
        </p:txBody>
      </p:sp>
      <p:sp>
        <p:nvSpPr>
          <p:cNvPr id="41" name="Google Shape;41;g3e441bb160a_1_2"/>
          <p:cNvSpPr/>
          <p:nvPr/>
        </p:nvSpPr>
        <p:spPr>
          <a:xfrm>
            <a:off x="14265950" y="4455925"/>
            <a:ext cx="3135600" cy="4657800"/>
          </a:xfrm>
          <a:prstGeom prst="roundRect">
            <a:avLst>
              <a:gd fmla="val 4896" name="adj"/>
            </a:avLst>
          </a:prstGeom>
          <a:solidFill>
            <a:srgbClr val="A4C2F4"/>
          </a:solidFill>
          <a:ln>
            <a:noFill/>
          </a:ln>
        </p:spPr>
        <p:txBody>
          <a:bodyPr anchorCtr="0" anchor="ctr" bIns="78175" lIns="78175" spcFirstLastPara="1" rIns="78175" wrap="square" tIns="78175">
            <a:noAutofit/>
          </a:bodyPr>
          <a:lstStyle/>
          <a:p>
            <a:pPr indent="0" lvl="0" marL="0" rtl="0" algn="l">
              <a:spcBef>
                <a:spcPts val="0"/>
              </a:spcBef>
              <a:spcAft>
                <a:spcPts val="0"/>
              </a:spcAft>
              <a:buNone/>
            </a:pPr>
            <a:r>
              <a:t/>
            </a:r>
            <a:endParaRPr/>
          </a:p>
        </p:txBody>
      </p:sp>
      <p:sp>
        <p:nvSpPr>
          <p:cNvPr id="42" name="Google Shape;42;g3e441bb160a_1_2"/>
          <p:cNvSpPr/>
          <p:nvPr/>
        </p:nvSpPr>
        <p:spPr>
          <a:xfrm>
            <a:off x="14399633" y="4768006"/>
            <a:ext cx="2787000" cy="881700"/>
          </a:xfrm>
          <a:prstGeom prst="rect">
            <a:avLst/>
          </a:prstGeom>
          <a:noFill/>
          <a:ln>
            <a:noFill/>
          </a:ln>
        </p:spPr>
        <p:txBody>
          <a:bodyPr anchorCtr="0" anchor="t" bIns="21725" lIns="21725" spcFirstLastPara="1" rIns="21725" wrap="square" tIns="21725">
            <a:noAutofit/>
          </a:bodyPr>
          <a:lstStyle/>
          <a:p>
            <a:pPr indent="0" lvl="0" marL="0" marR="0" rtl="0" algn="l">
              <a:lnSpc>
                <a:spcPct val="90000"/>
              </a:lnSpc>
              <a:spcBef>
                <a:spcPts val="0"/>
              </a:spcBef>
              <a:spcAft>
                <a:spcPts val="0"/>
              </a:spcAft>
              <a:buClr>
                <a:srgbClr val="2D6E4A"/>
              </a:buClr>
              <a:buSzPts val="6157"/>
              <a:buFont typeface="Georgia"/>
              <a:buNone/>
            </a:pPr>
            <a:r>
              <a:rPr lang="en-US" sz="4857">
                <a:solidFill>
                  <a:srgbClr val="0000FF"/>
                </a:solidFill>
                <a:latin typeface="Georgia"/>
                <a:ea typeface="Georgia"/>
                <a:cs typeface="Georgia"/>
                <a:sym typeface="Georgia"/>
              </a:rPr>
              <a:t>Xiaoyang</a:t>
            </a:r>
            <a:endParaRPr b="0" i="0" sz="4857" u="none" cap="none" strike="noStrike">
              <a:solidFill>
                <a:srgbClr val="0000FF"/>
              </a:solidFill>
              <a:latin typeface="Calibri"/>
              <a:ea typeface="Calibri"/>
              <a:cs typeface="Calibri"/>
              <a:sym typeface="Calibri"/>
            </a:endParaRPr>
          </a:p>
        </p:txBody>
      </p:sp>
      <p:sp>
        <p:nvSpPr>
          <p:cNvPr id="43" name="Google Shape;43;g3e441bb160a_1_2"/>
          <p:cNvSpPr/>
          <p:nvPr/>
        </p:nvSpPr>
        <p:spPr>
          <a:xfrm>
            <a:off x="14399689" y="5706749"/>
            <a:ext cx="2787000" cy="897600"/>
          </a:xfrm>
          <a:prstGeom prst="rect">
            <a:avLst/>
          </a:prstGeom>
          <a:noFill/>
          <a:ln>
            <a:noFill/>
          </a:ln>
        </p:spPr>
        <p:txBody>
          <a:bodyPr anchorCtr="0" anchor="t" bIns="21725" lIns="21725" spcFirstLastPara="1" rIns="21725" wrap="square" tIns="21725">
            <a:noAutofit/>
          </a:bodyPr>
          <a:lstStyle/>
          <a:p>
            <a:pPr indent="0" lvl="0" marL="0" marR="0" rtl="0" algn="l">
              <a:lnSpc>
                <a:spcPct val="100000"/>
              </a:lnSpc>
              <a:spcBef>
                <a:spcPts val="0"/>
              </a:spcBef>
              <a:spcAft>
                <a:spcPts val="0"/>
              </a:spcAft>
              <a:buClr>
                <a:srgbClr val="1A1714"/>
              </a:buClr>
              <a:buSzPts val="2822"/>
              <a:buFont typeface="Georgia"/>
              <a:buNone/>
            </a:pPr>
            <a:r>
              <a:rPr lang="en-US" sz="2822">
                <a:solidFill>
                  <a:srgbClr val="1A1714"/>
                </a:solidFill>
                <a:latin typeface="Georgia"/>
                <a:ea typeface="Georgia"/>
                <a:cs typeface="Georgia"/>
                <a:sym typeface="Georgia"/>
              </a:rPr>
              <a:t>Xiaoyang Zhang</a:t>
            </a:r>
            <a:endParaRPr b="0" i="0" sz="2822" u="none" cap="none" strike="noStrike">
              <a:solidFill>
                <a:schemeClr val="dk1"/>
              </a:solidFill>
              <a:latin typeface="Calibri"/>
              <a:ea typeface="Calibri"/>
              <a:cs typeface="Calibri"/>
              <a:sym typeface="Calibri"/>
            </a:endParaRPr>
          </a:p>
        </p:txBody>
      </p:sp>
      <p:sp>
        <p:nvSpPr>
          <p:cNvPr id="44" name="Google Shape;44;g3e441bb160a_1_2"/>
          <p:cNvSpPr/>
          <p:nvPr/>
        </p:nvSpPr>
        <p:spPr>
          <a:xfrm>
            <a:off x="14399633" y="6819915"/>
            <a:ext cx="2787000" cy="302400"/>
          </a:xfrm>
          <a:prstGeom prst="rect">
            <a:avLst/>
          </a:prstGeom>
          <a:noFill/>
          <a:ln>
            <a:noFill/>
          </a:ln>
        </p:spPr>
        <p:txBody>
          <a:bodyPr anchorCtr="0" anchor="t" bIns="21725" lIns="21725" spcFirstLastPara="1" rIns="21725" wrap="square" tIns="21725">
            <a:noAutofit/>
          </a:bodyPr>
          <a:lstStyle/>
          <a:p>
            <a:pPr indent="0" lvl="0" marL="0" marR="0" rtl="0" algn="l">
              <a:spcBef>
                <a:spcPts val="0"/>
              </a:spcBef>
              <a:spcAft>
                <a:spcPts val="0"/>
              </a:spcAft>
              <a:buClr>
                <a:srgbClr val="1A1714"/>
              </a:buClr>
              <a:buSzPts val="1539"/>
              <a:buFont typeface="Courier New"/>
              <a:buNone/>
            </a:pPr>
            <a:r>
              <a:rPr lang="en-US" sz="1439">
                <a:solidFill>
                  <a:srgbClr val="1A1714"/>
                </a:solidFill>
                <a:latin typeface="Georgia"/>
                <a:ea typeface="Georgia"/>
                <a:cs typeface="Georgia"/>
                <a:sym typeface="Georgia"/>
              </a:rPr>
              <a:t>TESTING MULTIMODAL ENGINE</a:t>
            </a:r>
            <a:endParaRPr i="0" sz="1439" u="none" cap="none" strike="noStrike">
              <a:solidFill>
                <a:schemeClr val="dk1"/>
              </a:solidFill>
              <a:latin typeface="Georgia"/>
              <a:ea typeface="Georgia"/>
              <a:cs typeface="Georgia"/>
              <a:sym typeface="Georgia"/>
            </a:endParaRPr>
          </a:p>
        </p:txBody>
      </p:sp>
      <p:sp>
        <p:nvSpPr>
          <p:cNvPr id="45" name="Google Shape;45;g3e441bb160a_1_2"/>
          <p:cNvSpPr/>
          <p:nvPr/>
        </p:nvSpPr>
        <p:spPr>
          <a:xfrm>
            <a:off x="14399633" y="7695528"/>
            <a:ext cx="2787000" cy="694500"/>
          </a:xfrm>
          <a:prstGeom prst="rect">
            <a:avLst/>
          </a:prstGeom>
          <a:noFill/>
          <a:ln>
            <a:noFill/>
          </a:ln>
        </p:spPr>
        <p:txBody>
          <a:bodyPr anchorCtr="0" anchor="t" bIns="21725" lIns="21725" spcFirstLastPara="1" rIns="21725" wrap="square" tIns="21725">
            <a:noAutofit/>
          </a:bodyPr>
          <a:lstStyle/>
          <a:p>
            <a:pPr indent="0" lvl="0" marL="0" marR="0" rtl="0" algn="l">
              <a:lnSpc>
                <a:spcPct val="140000"/>
              </a:lnSpc>
              <a:spcBef>
                <a:spcPts val="0"/>
              </a:spcBef>
              <a:spcAft>
                <a:spcPts val="0"/>
              </a:spcAft>
              <a:buClr>
                <a:srgbClr val="3D352C"/>
              </a:buClr>
              <a:buSzPts val="1539"/>
              <a:buFont typeface="Arial"/>
              <a:buNone/>
            </a:pPr>
            <a:r>
              <a:rPr lang="en-US" sz="1539">
                <a:solidFill>
                  <a:srgbClr val="3D352C"/>
                </a:solidFill>
                <a:latin typeface="Georgia"/>
                <a:ea typeface="Georgia"/>
                <a:cs typeface="Georgia"/>
                <a:sym typeface="Georgia"/>
              </a:rPr>
              <a:t>Testing for vision &amp; language model; evaluate the multimodal engine</a:t>
            </a:r>
            <a:endParaRPr i="0" sz="1539" u="none" cap="none" strike="noStrike">
              <a:solidFill>
                <a:schemeClr val="dk1"/>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ECDE"/>
        </a:solidFill>
      </p:bgPr>
    </p:bg>
    <p:spTree>
      <p:nvGrpSpPr>
        <p:cNvPr id="50" name="Shape 50"/>
        <p:cNvGrpSpPr/>
        <p:nvPr/>
      </p:nvGrpSpPr>
      <p:grpSpPr>
        <a:xfrm>
          <a:off x="0" y="0"/>
          <a:ext cx="0" cy="0"/>
          <a:chOff x="0" y="0"/>
          <a:chExt cx="0" cy="0"/>
        </a:xfrm>
      </p:grpSpPr>
      <p:sp>
        <p:nvSpPr>
          <p:cNvPr id="51" name="Google Shape;51;g3e47607800b_1_1"/>
          <p:cNvSpPr/>
          <p:nvPr/>
        </p:nvSpPr>
        <p:spPr>
          <a:xfrm>
            <a:off x="16287750" y="-952500"/>
            <a:ext cx="2476500" cy="2476500"/>
          </a:xfrm>
          <a:prstGeom prst="ellipse">
            <a:avLst/>
          </a:prstGeom>
          <a:solidFill>
            <a:srgbClr val="5E1F3A">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e47607800b_1_1"/>
          <p:cNvSpPr/>
          <p:nvPr/>
        </p:nvSpPr>
        <p:spPr>
          <a:xfrm>
            <a:off x="978500" y="533400"/>
            <a:ext cx="3717900" cy="490500"/>
          </a:xfrm>
          <a:prstGeom prst="roundRect">
            <a:avLst>
              <a:gd fmla="val 50000" name="adj"/>
            </a:avLst>
          </a:prstGeom>
          <a:solidFill>
            <a:srgbClr val="5E1F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g3e47607800b_1_1"/>
          <p:cNvSpPr/>
          <p:nvPr/>
        </p:nvSpPr>
        <p:spPr>
          <a:xfrm>
            <a:off x="1169000" y="628650"/>
            <a:ext cx="3429300" cy="3381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3ECDE"/>
              </a:buClr>
              <a:buSzPts val="1800"/>
              <a:buFont typeface="Courier New"/>
              <a:buNone/>
            </a:pPr>
            <a:r>
              <a:rPr b="0" i="0" lang="en-US" sz="1800" u="none" cap="none" strike="noStrike">
                <a:solidFill>
                  <a:srgbClr val="F3ECDE"/>
                </a:solidFill>
                <a:latin typeface="Courier New"/>
                <a:ea typeface="Courier New"/>
                <a:cs typeface="Courier New"/>
                <a:sym typeface="Courier New"/>
              </a:rPr>
              <a:t>PROJECT 1 · MIDTERM</a:t>
            </a:r>
            <a:endParaRPr b="0" i="0" sz="1800" u="none" cap="none" strike="noStrike">
              <a:solidFill>
                <a:schemeClr val="dk1"/>
              </a:solidFill>
              <a:latin typeface="Calibri"/>
              <a:ea typeface="Calibri"/>
              <a:cs typeface="Calibri"/>
              <a:sym typeface="Calibri"/>
            </a:endParaRPr>
          </a:p>
        </p:txBody>
      </p:sp>
      <p:sp>
        <p:nvSpPr>
          <p:cNvPr id="54" name="Google Shape;54;g3e47607800b_1_1"/>
          <p:cNvSpPr/>
          <p:nvPr/>
        </p:nvSpPr>
        <p:spPr>
          <a:xfrm>
            <a:off x="1047750" y="1148167"/>
            <a:ext cx="16075500" cy="1849200"/>
          </a:xfrm>
          <a:prstGeom prst="rect">
            <a:avLst/>
          </a:prstGeom>
          <a:noFill/>
          <a:ln>
            <a:noFill/>
          </a:ln>
        </p:spPr>
        <p:txBody>
          <a:bodyPr anchorCtr="0" anchor="t" bIns="25400" lIns="25400" spcFirstLastPara="1" rIns="25400" wrap="square" tIns="25400">
            <a:noAutofit/>
          </a:bodyPr>
          <a:lstStyle/>
          <a:p>
            <a:pPr indent="0" lvl="0" marL="0" marR="0" rtl="0" algn="l">
              <a:lnSpc>
                <a:spcPct val="98000"/>
              </a:lnSpc>
              <a:spcBef>
                <a:spcPts val="0"/>
              </a:spcBef>
              <a:spcAft>
                <a:spcPts val="0"/>
              </a:spcAft>
              <a:buClr>
                <a:srgbClr val="1A1714"/>
              </a:buClr>
              <a:buSzPts val="7200"/>
              <a:buFont typeface="Georgia"/>
              <a:buNone/>
            </a:pPr>
            <a:r>
              <a:rPr lang="en-US" sz="6200">
                <a:solidFill>
                  <a:srgbClr val="1A1714"/>
                </a:solidFill>
                <a:latin typeface="Georgia"/>
                <a:ea typeface="Georgia"/>
                <a:cs typeface="Georgia"/>
                <a:sym typeface="Georgia"/>
              </a:rPr>
              <a:t>RAG system</a:t>
            </a:r>
            <a:r>
              <a:rPr b="0" i="0" lang="en-US" sz="6200" u="none" cap="none" strike="noStrike">
                <a:solidFill>
                  <a:srgbClr val="1A1714"/>
                </a:solidFill>
                <a:latin typeface="Georgia"/>
                <a:ea typeface="Georgia"/>
                <a:cs typeface="Georgia"/>
                <a:sym typeface="Georgia"/>
              </a:rPr>
              <a:t> for the </a:t>
            </a:r>
            <a:r>
              <a:rPr b="0" i="1" lang="en-US" sz="6200" u="none" cap="none" strike="noStrike">
                <a:solidFill>
                  <a:srgbClr val="5E1F3A"/>
                </a:solidFill>
                <a:latin typeface="Georgia"/>
                <a:ea typeface="Georgia"/>
                <a:cs typeface="Georgia"/>
                <a:sym typeface="Georgia"/>
              </a:rPr>
              <a:t>MSADS website </a:t>
            </a:r>
            <a:endParaRPr b="0" i="0" sz="6200" u="none" cap="none" strike="noStrike">
              <a:solidFill>
                <a:schemeClr val="dk1"/>
              </a:solidFill>
              <a:latin typeface="Calibri"/>
              <a:ea typeface="Calibri"/>
              <a:cs typeface="Calibri"/>
              <a:sym typeface="Calibri"/>
            </a:endParaRPr>
          </a:p>
        </p:txBody>
      </p:sp>
      <p:sp>
        <p:nvSpPr>
          <p:cNvPr id="55" name="Google Shape;55;g3e47607800b_1_1"/>
          <p:cNvSpPr/>
          <p:nvPr/>
        </p:nvSpPr>
        <p:spPr>
          <a:xfrm flipH="1">
            <a:off x="9772598" y="2796602"/>
            <a:ext cx="32100" cy="2892900"/>
          </a:xfrm>
          <a:prstGeom prst="rect">
            <a:avLst/>
          </a:prstGeom>
          <a:solidFill>
            <a:srgbClr val="1A17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g3e47607800b_1_1"/>
          <p:cNvSpPr/>
          <p:nvPr/>
        </p:nvSpPr>
        <p:spPr>
          <a:xfrm>
            <a:off x="2034952" y="2796112"/>
            <a:ext cx="7482000" cy="4905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1A1714"/>
              </a:buClr>
              <a:buSzPts val="2400"/>
              <a:buFont typeface="Georgia"/>
              <a:buNone/>
            </a:pPr>
            <a:r>
              <a:rPr lang="en-US" sz="2400">
                <a:solidFill>
                  <a:srgbClr val="1A1714"/>
                </a:solidFill>
                <a:latin typeface="Georgia"/>
                <a:ea typeface="Georgia"/>
                <a:cs typeface="Georgia"/>
                <a:sym typeface="Georgia"/>
              </a:rPr>
              <a:t>Applicants usually navigate 14 separate MSADS pages to answer simple questions about admissions, tuition, curriculum, and capstone requirements.</a:t>
            </a:r>
            <a:endParaRPr b="0" i="0" sz="2400" u="none" cap="none" strike="noStrike">
              <a:solidFill>
                <a:schemeClr val="dk1"/>
              </a:solidFill>
              <a:latin typeface="Calibri"/>
              <a:ea typeface="Calibri"/>
              <a:cs typeface="Calibri"/>
              <a:sym typeface="Calibri"/>
            </a:endParaRPr>
          </a:p>
        </p:txBody>
      </p:sp>
      <p:pic>
        <p:nvPicPr>
          <p:cNvPr id="57" name="Google Shape;57;g3e47607800b_1_1"/>
          <p:cNvPicPr preferRelativeResize="0"/>
          <p:nvPr/>
        </p:nvPicPr>
        <p:blipFill>
          <a:blip r:embed="rId3">
            <a:alphaModFix/>
          </a:blip>
          <a:stretch>
            <a:fillRect/>
          </a:stretch>
        </p:blipFill>
        <p:spPr>
          <a:xfrm>
            <a:off x="1047738" y="2973923"/>
            <a:ext cx="847725" cy="866775"/>
          </a:xfrm>
          <a:prstGeom prst="rect">
            <a:avLst/>
          </a:prstGeom>
          <a:noFill/>
          <a:ln>
            <a:noFill/>
          </a:ln>
        </p:spPr>
      </p:pic>
      <p:pic>
        <p:nvPicPr>
          <p:cNvPr id="58" name="Google Shape;58;g3e47607800b_1_1"/>
          <p:cNvPicPr preferRelativeResize="0"/>
          <p:nvPr/>
        </p:nvPicPr>
        <p:blipFill>
          <a:blip r:embed="rId4">
            <a:alphaModFix/>
          </a:blip>
          <a:stretch>
            <a:fillRect/>
          </a:stretch>
        </p:blipFill>
        <p:spPr>
          <a:xfrm>
            <a:off x="1086393" y="4471150"/>
            <a:ext cx="857250" cy="914400"/>
          </a:xfrm>
          <a:prstGeom prst="rect">
            <a:avLst/>
          </a:prstGeom>
          <a:noFill/>
          <a:ln>
            <a:noFill/>
          </a:ln>
        </p:spPr>
      </p:pic>
      <p:pic>
        <p:nvPicPr>
          <p:cNvPr id="59" name="Google Shape;59;g3e47607800b_1_1"/>
          <p:cNvPicPr preferRelativeResize="0"/>
          <p:nvPr/>
        </p:nvPicPr>
        <p:blipFill>
          <a:blip r:embed="rId5">
            <a:alphaModFix/>
          </a:blip>
          <a:stretch>
            <a:fillRect/>
          </a:stretch>
        </p:blipFill>
        <p:spPr>
          <a:xfrm>
            <a:off x="10272148" y="2730990"/>
            <a:ext cx="847725" cy="878834"/>
          </a:xfrm>
          <a:prstGeom prst="rect">
            <a:avLst/>
          </a:prstGeom>
          <a:noFill/>
          <a:ln>
            <a:noFill/>
          </a:ln>
        </p:spPr>
      </p:pic>
      <p:pic>
        <p:nvPicPr>
          <p:cNvPr id="60" name="Google Shape;60;g3e47607800b_1_1"/>
          <p:cNvPicPr preferRelativeResize="0"/>
          <p:nvPr/>
        </p:nvPicPr>
        <p:blipFill>
          <a:blip r:embed="rId6">
            <a:alphaModFix/>
          </a:blip>
          <a:stretch>
            <a:fillRect/>
          </a:stretch>
        </p:blipFill>
        <p:spPr>
          <a:xfrm>
            <a:off x="10292487" y="3757881"/>
            <a:ext cx="857250" cy="857250"/>
          </a:xfrm>
          <a:prstGeom prst="rect">
            <a:avLst/>
          </a:prstGeom>
          <a:noFill/>
          <a:ln>
            <a:noFill/>
          </a:ln>
        </p:spPr>
      </p:pic>
      <p:sp>
        <p:nvSpPr>
          <p:cNvPr id="61" name="Google Shape;61;g3e47607800b_1_1"/>
          <p:cNvSpPr/>
          <p:nvPr/>
        </p:nvSpPr>
        <p:spPr>
          <a:xfrm>
            <a:off x="2035434" y="4294069"/>
            <a:ext cx="7482000" cy="4905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1A1714"/>
              </a:buClr>
              <a:buSzPts val="2400"/>
              <a:buFont typeface="Georgia"/>
              <a:buNone/>
            </a:pPr>
            <a:r>
              <a:rPr lang="en-US" sz="2400">
                <a:solidFill>
                  <a:srgbClr val="1A1714"/>
                </a:solidFill>
                <a:latin typeface="Georgia"/>
                <a:ea typeface="Georgia"/>
                <a:cs typeface="Georgia"/>
                <a:sym typeface="Georgia"/>
              </a:rPr>
              <a:t>We built a grounded RAG chatbot that retrieves the correct passage, cites the source, and declines unsupported answers.</a:t>
            </a:r>
            <a:endParaRPr b="0" i="0" sz="2400" u="none" cap="none" strike="noStrike">
              <a:solidFill>
                <a:schemeClr val="dk1"/>
              </a:solidFill>
              <a:latin typeface="Calibri"/>
              <a:ea typeface="Calibri"/>
              <a:cs typeface="Calibri"/>
              <a:sym typeface="Calibri"/>
            </a:endParaRPr>
          </a:p>
        </p:txBody>
      </p:sp>
      <p:sp>
        <p:nvSpPr>
          <p:cNvPr id="62" name="Google Shape;62;g3e47607800b_1_1"/>
          <p:cNvSpPr/>
          <p:nvPr/>
        </p:nvSpPr>
        <p:spPr>
          <a:xfrm>
            <a:off x="11259001" y="2796604"/>
            <a:ext cx="6406800" cy="8343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1A1714"/>
              </a:buClr>
              <a:buSzPts val="2400"/>
              <a:buFont typeface="Georgia"/>
              <a:buNone/>
            </a:pPr>
            <a:r>
              <a:rPr b="1" lang="en-US" sz="2400">
                <a:solidFill>
                  <a:srgbClr val="6A3046"/>
                </a:solidFill>
                <a:latin typeface="Georgia"/>
                <a:ea typeface="Georgia"/>
                <a:cs typeface="Georgia"/>
                <a:sym typeface="Georgia"/>
              </a:rPr>
              <a:t>DESIGN PRINCIPLE</a:t>
            </a:r>
            <a:endParaRPr b="1" sz="2400">
              <a:solidFill>
                <a:srgbClr val="6A3046"/>
              </a:solidFill>
              <a:latin typeface="Georgia"/>
              <a:ea typeface="Georgia"/>
              <a:cs typeface="Georgia"/>
              <a:sym typeface="Georgia"/>
            </a:endParaRPr>
          </a:p>
          <a:p>
            <a:pPr indent="0" lvl="0" marL="0" marR="0" rtl="0" algn="l">
              <a:lnSpc>
                <a:spcPct val="115000"/>
              </a:lnSpc>
              <a:spcBef>
                <a:spcPts val="0"/>
              </a:spcBef>
              <a:spcAft>
                <a:spcPts val="0"/>
              </a:spcAft>
              <a:buClr>
                <a:srgbClr val="1A1714"/>
              </a:buClr>
              <a:buSzPts val="2400"/>
              <a:buFont typeface="Georgia"/>
              <a:buNone/>
            </a:pPr>
            <a:r>
              <a:rPr lang="en-US" sz="2400">
                <a:solidFill>
                  <a:srgbClr val="1A1714"/>
                </a:solidFill>
                <a:latin typeface="Georgia"/>
                <a:ea typeface="Georgia"/>
                <a:cs typeface="Georgia"/>
                <a:sym typeface="Georgia"/>
              </a:rPr>
              <a:t>Ground every answer in retrieved evidence.</a:t>
            </a:r>
            <a:endParaRPr sz="2400">
              <a:solidFill>
                <a:srgbClr val="1A1714"/>
              </a:solidFill>
              <a:latin typeface="Georgia"/>
              <a:ea typeface="Georgia"/>
              <a:cs typeface="Georgia"/>
              <a:sym typeface="Georgia"/>
            </a:endParaRPr>
          </a:p>
        </p:txBody>
      </p:sp>
      <p:sp>
        <p:nvSpPr>
          <p:cNvPr id="63" name="Google Shape;63;g3e47607800b_1_1"/>
          <p:cNvSpPr/>
          <p:nvPr/>
        </p:nvSpPr>
        <p:spPr>
          <a:xfrm>
            <a:off x="11259475" y="3708580"/>
            <a:ext cx="6691500" cy="8343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1A1714"/>
              </a:buClr>
              <a:buSzPts val="2400"/>
              <a:buFont typeface="Georgia"/>
              <a:buNone/>
            </a:pPr>
            <a:r>
              <a:rPr b="1" lang="en-US" sz="2400">
                <a:solidFill>
                  <a:srgbClr val="6A3046"/>
                </a:solidFill>
                <a:latin typeface="Georgia"/>
                <a:ea typeface="Georgia"/>
                <a:cs typeface="Georgia"/>
                <a:sym typeface="Georgia"/>
              </a:rPr>
              <a:t>FAILURE POLICY</a:t>
            </a:r>
            <a:endParaRPr b="1" sz="2400">
              <a:solidFill>
                <a:srgbClr val="6A3046"/>
              </a:solidFill>
              <a:latin typeface="Georgia"/>
              <a:ea typeface="Georgia"/>
              <a:cs typeface="Georgia"/>
              <a:sym typeface="Georgia"/>
            </a:endParaRPr>
          </a:p>
          <a:p>
            <a:pPr indent="0" lvl="0" marL="0" marR="0" rtl="0" algn="l">
              <a:lnSpc>
                <a:spcPct val="115000"/>
              </a:lnSpc>
              <a:spcBef>
                <a:spcPts val="0"/>
              </a:spcBef>
              <a:spcAft>
                <a:spcPts val="0"/>
              </a:spcAft>
              <a:buClr>
                <a:srgbClr val="1A1714"/>
              </a:buClr>
              <a:buSzPts val="2400"/>
              <a:buFont typeface="Georgia"/>
              <a:buNone/>
            </a:pPr>
            <a:r>
              <a:rPr lang="en-US" sz="2400">
                <a:solidFill>
                  <a:srgbClr val="1A1714"/>
                </a:solidFill>
                <a:latin typeface="Georgia"/>
                <a:ea typeface="Georgia"/>
                <a:cs typeface="Georgia"/>
                <a:sym typeface="Georgia"/>
              </a:rPr>
              <a:t>If retrieval fails → respond with “</a:t>
            </a:r>
            <a:r>
              <a:rPr i="1" lang="en-US" sz="2400">
                <a:solidFill>
                  <a:srgbClr val="1A1714"/>
                </a:solidFill>
                <a:latin typeface="Georgia"/>
                <a:ea typeface="Georgia"/>
                <a:cs typeface="Georgia"/>
                <a:sym typeface="Georgia"/>
              </a:rPr>
              <a:t>I don’t know</a:t>
            </a:r>
            <a:r>
              <a:rPr lang="en-US" sz="2400">
                <a:solidFill>
                  <a:srgbClr val="1A1714"/>
                </a:solidFill>
                <a:latin typeface="Georgia"/>
                <a:ea typeface="Georgia"/>
                <a:cs typeface="Georgia"/>
                <a:sym typeface="Georgia"/>
              </a:rPr>
              <a:t>”.</a:t>
            </a:r>
            <a:endParaRPr sz="2400">
              <a:solidFill>
                <a:srgbClr val="1A1714"/>
              </a:solidFill>
              <a:latin typeface="Georgia"/>
              <a:ea typeface="Georgia"/>
              <a:cs typeface="Georgia"/>
              <a:sym typeface="Georgia"/>
            </a:endParaRPr>
          </a:p>
        </p:txBody>
      </p:sp>
      <p:sp>
        <p:nvSpPr>
          <p:cNvPr id="64" name="Google Shape;64;g3e47607800b_1_1"/>
          <p:cNvSpPr/>
          <p:nvPr/>
        </p:nvSpPr>
        <p:spPr>
          <a:xfrm>
            <a:off x="10352125" y="4709444"/>
            <a:ext cx="7482000" cy="834300"/>
          </a:xfrm>
          <a:prstGeom prst="roundRect">
            <a:avLst>
              <a:gd fmla="val 16667" name="adj"/>
            </a:avLst>
          </a:prstGeom>
          <a:solidFill>
            <a:srgbClr val="F3EBDB"/>
          </a:solidFill>
          <a:ln cap="flat" cmpd="sng" w="38100">
            <a:solidFill>
              <a:srgbClr val="EBE0C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5" name="Google Shape;65;g3e47607800b_1_1"/>
          <p:cNvPicPr preferRelativeResize="0"/>
          <p:nvPr/>
        </p:nvPicPr>
        <p:blipFill rotWithShape="1">
          <a:blip r:embed="rId7">
            <a:alphaModFix/>
          </a:blip>
          <a:srcRect b="9" l="10474" r="0" t="7680"/>
          <a:stretch/>
        </p:blipFill>
        <p:spPr>
          <a:xfrm>
            <a:off x="10374488" y="4854176"/>
            <a:ext cx="741850" cy="624300"/>
          </a:xfrm>
          <a:prstGeom prst="rect">
            <a:avLst/>
          </a:prstGeom>
          <a:noFill/>
          <a:ln>
            <a:noFill/>
          </a:ln>
        </p:spPr>
      </p:pic>
      <p:sp>
        <p:nvSpPr>
          <p:cNvPr id="66" name="Google Shape;66;g3e47607800b_1_1"/>
          <p:cNvSpPr/>
          <p:nvPr/>
        </p:nvSpPr>
        <p:spPr>
          <a:xfrm>
            <a:off x="11238275" y="4707394"/>
            <a:ext cx="6319200" cy="8574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1A1714"/>
              </a:buClr>
              <a:buSzPts val="2400"/>
              <a:buFont typeface="Georgia"/>
              <a:buNone/>
            </a:pPr>
            <a:r>
              <a:rPr b="1" lang="en-US" sz="2300">
                <a:solidFill>
                  <a:schemeClr val="dk1"/>
                </a:solidFill>
                <a:latin typeface="Georgia"/>
                <a:ea typeface="Georgia"/>
                <a:cs typeface="Georgia"/>
                <a:sym typeface="Georgia"/>
              </a:rPr>
              <a:t>GROUNDING CONSTRAINT</a:t>
            </a:r>
            <a:endParaRPr b="1" sz="2300">
              <a:solidFill>
                <a:schemeClr val="dk1"/>
              </a:solidFill>
              <a:latin typeface="Georgia"/>
              <a:ea typeface="Georgia"/>
              <a:cs typeface="Georgia"/>
              <a:sym typeface="Georgia"/>
            </a:endParaRPr>
          </a:p>
          <a:p>
            <a:pPr indent="0" lvl="0" marL="0" marR="0" rtl="0" algn="l">
              <a:lnSpc>
                <a:spcPct val="115000"/>
              </a:lnSpc>
              <a:spcBef>
                <a:spcPts val="0"/>
              </a:spcBef>
              <a:spcAft>
                <a:spcPts val="0"/>
              </a:spcAft>
              <a:buClr>
                <a:srgbClr val="1A1714"/>
              </a:buClr>
              <a:buSzPts val="2400"/>
              <a:buFont typeface="Georgia"/>
              <a:buNone/>
            </a:pPr>
            <a:r>
              <a:rPr lang="en-US" sz="2400">
                <a:solidFill>
                  <a:srgbClr val="1A1714"/>
                </a:solidFill>
                <a:latin typeface="Georgia"/>
                <a:ea typeface="Georgia"/>
                <a:cs typeface="Georgia"/>
                <a:sym typeface="Georgia"/>
              </a:rPr>
              <a:t>The chatbot must not invent program details.</a:t>
            </a:r>
            <a:endParaRPr sz="2400">
              <a:solidFill>
                <a:srgbClr val="1A1714"/>
              </a:solidFill>
              <a:latin typeface="Georgia"/>
              <a:ea typeface="Georgia"/>
              <a:cs typeface="Georgia"/>
              <a:sym typeface="Georgia"/>
            </a:endParaRPr>
          </a:p>
        </p:txBody>
      </p:sp>
      <p:grpSp>
        <p:nvGrpSpPr>
          <p:cNvPr id="67" name="Google Shape;67;g3e47607800b_1_1"/>
          <p:cNvGrpSpPr/>
          <p:nvPr/>
        </p:nvGrpSpPr>
        <p:grpSpPr>
          <a:xfrm>
            <a:off x="1086403" y="6722825"/>
            <a:ext cx="2925002" cy="2792100"/>
            <a:chOff x="1251501" y="5847875"/>
            <a:chExt cx="2925002" cy="2792100"/>
          </a:xfrm>
        </p:grpSpPr>
        <p:sp>
          <p:nvSpPr>
            <p:cNvPr id="68" name="Google Shape;68;g3e47607800b_1_1"/>
            <p:cNvSpPr/>
            <p:nvPr/>
          </p:nvSpPr>
          <p:spPr>
            <a:xfrm>
              <a:off x="1251501" y="5847875"/>
              <a:ext cx="2476500" cy="2792100"/>
            </a:xfrm>
            <a:prstGeom prst="roundRect">
              <a:avLst>
                <a:gd fmla="val 6452" name="adj"/>
              </a:avLst>
            </a:prstGeom>
            <a:solidFill>
              <a:srgbClr val="EAD2D6"/>
            </a:solidFill>
            <a:ln>
              <a:noFill/>
            </a:ln>
          </p:spPr>
          <p:txBody>
            <a:bodyPr anchorCtr="0" anchor="ctr" bIns="88625" lIns="88625" spcFirstLastPara="1" rIns="88625" wrap="square" tIns="88625">
              <a:noAutofit/>
            </a:bodyPr>
            <a:lstStyle/>
            <a:p>
              <a:pPr indent="0" lvl="0" marL="0" rtl="0" algn="l">
                <a:spcBef>
                  <a:spcPts val="0"/>
                </a:spcBef>
                <a:spcAft>
                  <a:spcPts val="0"/>
                </a:spcAft>
                <a:buNone/>
              </a:pPr>
              <a:r>
                <a:t/>
              </a:r>
              <a:endParaRPr/>
            </a:p>
          </p:txBody>
        </p:sp>
        <p:sp>
          <p:nvSpPr>
            <p:cNvPr id="69" name="Google Shape;69;g3e47607800b_1_1"/>
            <p:cNvSpPr/>
            <p:nvPr/>
          </p:nvSpPr>
          <p:spPr>
            <a:xfrm>
              <a:off x="1498351" y="5914264"/>
              <a:ext cx="1412700" cy="264900"/>
            </a:xfrm>
            <a:prstGeom prst="rect">
              <a:avLst/>
            </a:prstGeom>
            <a:noFill/>
            <a:ln>
              <a:noFill/>
            </a:ln>
          </p:spPr>
          <p:txBody>
            <a:bodyPr anchorCtr="0" anchor="t" bIns="24625" lIns="24625" spcFirstLastPara="1" rIns="24625" wrap="square" tIns="24625">
              <a:noAutofit/>
            </a:bodyPr>
            <a:lstStyle/>
            <a:p>
              <a:pPr indent="0" lvl="0" marL="0" marR="0" rtl="0" algn="l">
                <a:spcBef>
                  <a:spcPts val="0"/>
                </a:spcBef>
                <a:spcAft>
                  <a:spcPts val="0"/>
                </a:spcAft>
                <a:buClr>
                  <a:srgbClr val="5E1F3A"/>
                </a:buClr>
                <a:buSzPts val="1745"/>
                <a:buFont typeface="Courier New"/>
                <a:buNone/>
              </a:pPr>
              <a:r>
                <a:rPr b="1" i="0" lang="en-US" sz="1745" u="none" cap="none" strike="noStrike">
                  <a:solidFill>
                    <a:srgbClr val="5E1F3A"/>
                  </a:solidFill>
                  <a:latin typeface="Courier New"/>
                  <a:ea typeface="Courier New"/>
                  <a:cs typeface="Courier New"/>
                  <a:sym typeface="Courier New"/>
                </a:rPr>
                <a:t>01</a:t>
              </a:r>
              <a:endParaRPr b="0" i="0" sz="1745" u="none" cap="none" strike="noStrike">
                <a:solidFill>
                  <a:schemeClr val="dk1"/>
                </a:solidFill>
                <a:latin typeface="Calibri"/>
                <a:ea typeface="Calibri"/>
                <a:cs typeface="Calibri"/>
                <a:sym typeface="Calibri"/>
              </a:endParaRPr>
            </a:p>
          </p:txBody>
        </p:sp>
        <p:sp>
          <p:nvSpPr>
            <p:cNvPr id="70" name="Google Shape;70;g3e47607800b_1_1"/>
            <p:cNvSpPr/>
            <p:nvPr/>
          </p:nvSpPr>
          <p:spPr>
            <a:xfrm>
              <a:off x="1498402" y="6179158"/>
              <a:ext cx="2678100" cy="318900"/>
            </a:xfrm>
            <a:prstGeom prst="rect">
              <a:avLst/>
            </a:prstGeom>
            <a:noFill/>
            <a:ln>
              <a:noFill/>
            </a:ln>
          </p:spPr>
          <p:txBody>
            <a:bodyPr anchorCtr="0" anchor="t" bIns="24625" lIns="24625" spcFirstLastPara="1" rIns="24625" wrap="square" tIns="24625">
              <a:noAutofit/>
            </a:bodyPr>
            <a:lstStyle/>
            <a:p>
              <a:pPr indent="0" lvl="0" marL="0" marR="0" rtl="0" algn="l">
                <a:lnSpc>
                  <a:spcPct val="102000"/>
                </a:lnSpc>
                <a:spcBef>
                  <a:spcPts val="0"/>
                </a:spcBef>
                <a:spcAft>
                  <a:spcPts val="0"/>
                </a:spcAft>
                <a:buClr>
                  <a:srgbClr val="1A1714"/>
                </a:buClr>
                <a:buSzPts val="2763"/>
                <a:buFont typeface="Georgia"/>
                <a:buNone/>
              </a:pPr>
              <a:r>
                <a:rPr b="0" i="0" lang="en-US" sz="2763" u="none" cap="none" strike="noStrike">
                  <a:solidFill>
                    <a:srgbClr val="1A1714"/>
                  </a:solidFill>
                  <a:latin typeface="Georgia"/>
                  <a:ea typeface="Georgia"/>
                  <a:cs typeface="Georgia"/>
                  <a:sym typeface="Georgia"/>
                </a:rPr>
                <a:t>Scrape</a:t>
              </a:r>
              <a:endParaRPr b="0" i="0" sz="2763" u="none" cap="none" strike="noStrike">
                <a:solidFill>
                  <a:schemeClr val="dk1"/>
                </a:solidFill>
                <a:latin typeface="Calibri"/>
                <a:ea typeface="Calibri"/>
                <a:cs typeface="Calibri"/>
                <a:sym typeface="Calibri"/>
              </a:endParaRPr>
            </a:p>
          </p:txBody>
        </p:sp>
        <p:sp>
          <p:nvSpPr>
            <p:cNvPr id="71" name="Google Shape;71;g3e47607800b_1_1"/>
            <p:cNvSpPr/>
            <p:nvPr/>
          </p:nvSpPr>
          <p:spPr>
            <a:xfrm>
              <a:off x="1443925" y="7466776"/>
              <a:ext cx="2218500" cy="1009800"/>
            </a:xfrm>
            <a:prstGeom prst="rect">
              <a:avLst/>
            </a:prstGeom>
            <a:noFill/>
            <a:ln>
              <a:noFill/>
            </a:ln>
          </p:spPr>
          <p:txBody>
            <a:bodyPr anchorCtr="0" anchor="t" bIns="24625" lIns="24625" spcFirstLastPara="1" rIns="24625" wrap="square" tIns="24625">
              <a:noAutofit/>
            </a:bodyPr>
            <a:lstStyle/>
            <a:p>
              <a:pPr indent="0" lvl="0" marL="0" marR="0" rtl="0" algn="l">
                <a:lnSpc>
                  <a:spcPct val="100000"/>
                </a:lnSpc>
                <a:spcBef>
                  <a:spcPts val="0"/>
                </a:spcBef>
                <a:spcAft>
                  <a:spcPts val="0"/>
                </a:spcAft>
                <a:buClr>
                  <a:srgbClr val="1A1714"/>
                </a:buClr>
                <a:buSzPts val="1745"/>
                <a:buFont typeface="Courier New"/>
                <a:buNone/>
              </a:pPr>
              <a:r>
                <a:rPr lang="en-US" sz="1745">
                  <a:solidFill>
                    <a:srgbClr val="1A1714"/>
                  </a:solidFill>
                  <a:latin typeface="Georgia"/>
                  <a:ea typeface="Georgia"/>
                  <a:cs typeface="Georgia"/>
                  <a:sym typeface="Georgia"/>
                </a:rPr>
                <a:t>Collect </a:t>
              </a:r>
              <a:r>
                <a:rPr i="0" lang="en-US" sz="1745" u="none" cap="none" strike="noStrike">
                  <a:solidFill>
                    <a:srgbClr val="1A1714"/>
                  </a:solidFill>
                  <a:latin typeface="Georgia"/>
                  <a:ea typeface="Georgia"/>
                  <a:cs typeface="Georgia"/>
                  <a:sym typeface="Georgia"/>
                </a:rPr>
                <a:t>14 MSADS sub-pages </a:t>
              </a:r>
              <a:r>
                <a:rPr lang="en-US" sz="1745">
                  <a:solidFill>
                    <a:srgbClr val="1A1714"/>
                  </a:solidFill>
                  <a:latin typeface="Georgia"/>
                  <a:ea typeface="Georgia"/>
                  <a:cs typeface="Georgia"/>
                  <a:sym typeface="Georgia"/>
                </a:rPr>
                <a:t>using requests &amp; beautifulsoup</a:t>
              </a:r>
              <a:endParaRPr i="0" sz="1745" u="none" cap="none" strike="noStrike">
                <a:solidFill>
                  <a:srgbClr val="1A1714"/>
                </a:solidFill>
                <a:latin typeface="Georgia"/>
                <a:ea typeface="Georgia"/>
                <a:cs typeface="Georgia"/>
                <a:sym typeface="Georgia"/>
              </a:endParaRPr>
            </a:p>
            <a:p>
              <a:pPr indent="0" lvl="0" marL="0" marR="0" rtl="0" algn="l">
                <a:lnSpc>
                  <a:spcPct val="100000"/>
                </a:lnSpc>
                <a:spcBef>
                  <a:spcPts val="0"/>
                </a:spcBef>
                <a:spcAft>
                  <a:spcPts val="0"/>
                </a:spcAft>
                <a:buClr>
                  <a:srgbClr val="1A1714"/>
                </a:buClr>
                <a:buSzPts val="1745"/>
                <a:buFont typeface="Courier New"/>
                <a:buNone/>
              </a:pPr>
              <a:r>
                <a:t/>
              </a:r>
              <a:endParaRPr sz="1745">
                <a:solidFill>
                  <a:srgbClr val="1A1714"/>
                </a:solidFill>
                <a:latin typeface="Georgia"/>
                <a:ea typeface="Georgia"/>
                <a:cs typeface="Georgia"/>
                <a:sym typeface="Georgia"/>
              </a:endParaRPr>
            </a:p>
          </p:txBody>
        </p:sp>
        <p:cxnSp>
          <p:nvCxnSpPr>
            <p:cNvPr id="72" name="Google Shape;72;g3e47607800b_1_1"/>
            <p:cNvCxnSpPr/>
            <p:nvPr/>
          </p:nvCxnSpPr>
          <p:spPr>
            <a:xfrm>
              <a:off x="1422675" y="7397873"/>
              <a:ext cx="2057400" cy="0"/>
            </a:xfrm>
            <a:prstGeom prst="straightConnector1">
              <a:avLst/>
            </a:prstGeom>
            <a:noFill/>
            <a:ln cap="flat" cmpd="sng" w="9525">
              <a:solidFill>
                <a:schemeClr val="dk2"/>
              </a:solidFill>
              <a:prstDash val="solid"/>
              <a:round/>
              <a:headEnd len="med" w="med" type="none"/>
              <a:tailEnd len="med" w="med" type="none"/>
            </a:ln>
          </p:spPr>
        </p:cxnSp>
      </p:grpSp>
      <p:grpSp>
        <p:nvGrpSpPr>
          <p:cNvPr id="73" name="Google Shape;73;g3e47607800b_1_1"/>
          <p:cNvGrpSpPr/>
          <p:nvPr/>
        </p:nvGrpSpPr>
        <p:grpSpPr>
          <a:xfrm>
            <a:off x="7891353" y="6733813"/>
            <a:ext cx="2925002" cy="2792100"/>
            <a:chOff x="1251501" y="5847875"/>
            <a:chExt cx="2925002" cy="2792100"/>
          </a:xfrm>
        </p:grpSpPr>
        <p:sp>
          <p:nvSpPr>
            <p:cNvPr id="74" name="Google Shape;74;g3e47607800b_1_1"/>
            <p:cNvSpPr/>
            <p:nvPr/>
          </p:nvSpPr>
          <p:spPr>
            <a:xfrm>
              <a:off x="1251501" y="5847875"/>
              <a:ext cx="2476500" cy="2792100"/>
            </a:xfrm>
            <a:prstGeom prst="roundRect">
              <a:avLst>
                <a:gd fmla="val 6452" name="adj"/>
              </a:avLst>
            </a:prstGeom>
            <a:solidFill>
              <a:srgbClr val="C5D9C9"/>
            </a:solidFill>
            <a:ln>
              <a:noFill/>
            </a:ln>
          </p:spPr>
          <p:txBody>
            <a:bodyPr anchorCtr="0" anchor="ctr" bIns="88625" lIns="88625" spcFirstLastPara="1" rIns="88625" wrap="square" tIns="88625">
              <a:noAutofit/>
            </a:bodyPr>
            <a:lstStyle/>
            <a:p>
              <a:pPr indent="0" lvl="0" marL="0" rtl="0" algn="l">
                <a:spcBef>
                  <a:spcPts val="0"/>
                </a:spcBef>
                <a:spcAft>
                  <a:spcPts val="0"/>
                </a:spcAft>
                <a:buNone/>
              </a:pPr>
              <a:r>
                <a:t/>
              </a:r>
              <a:endParaRPr/>
            </a:p>
          </p:txBody>
        </p:sp>
        <p:sp>
          <p:nvSpPr>
            <p:cNvPr id="75" name="Google Shape;75;g3e47607800b_1_1"/>
            <p:cNvSpPr/>
            <p:nvPr/>
          </p:nvSpPr>
          <p:spPr>
            <a:xfrm>
              <a:off x="1498351" y="5914264"/>
              <a:ext cx="1412700" cy="264900"/>
            </a:xfrm>
            <a:prstGeom prst="rect">
              <a:avLst/>
            </a:prstGeom>
            <a:noFill/>
            <a:ln>
              <a:noFill/>
            </a:ln>
          </p:spPr>
          <p:txBody>
            <a:bodyPr anchorCtr="0" anchor="t" bIns="24625" lIns="24625" spcFirstLastPara="1" rIns="24625" wrap="square" tIns="24625">
              <a:noAutofit/>
            </a:bodyPr>
            <a:lstStyle/>
            <a:p>
              <a:pPr indent="0" lvl="0" marL="0" marR="0" rtl="0" algn="l">
                <a:spcBef>
                  <a:spcPts val="0"/>
                </a:spcBef>
                <a:spcAft>
                  <a:spcPts val="0"/>
                </a:spcAft>
                <a:buClr>
                  <a:srgbClr val="5E1F3A"/>
                </a:buClr>
                <a:buSzPts val="1745"/>
                <a:buFont typeface="Courier New"/>
                <a:buNone/>
              </a:pPr>
              <a:r>
                <a:rPr b="1" i="0" lang="en-US" sz="1745" u="none" cap="none" strike="noStrike">
                  <a:solidFill>
                    <a:srgbClr val="5E1F3A"/>
                  </a:solidFill>
                  <a:latin typeface="Courier New"/>
                  <a:ea typeface="Courier New"/>
                  <a:cs typeface="Courier New"/>
                  <a:sym typeface="Courier New"/>
                </a:rPr>
                <a:t>0</a:t>
              </a:r>
              <a:r>
                <a:rPr b="1" lang="en-US" sz="1745">
                  <a:solidFill>
                    <a:srgbClr val="5E1F3A"/>
                  </a:solidFill>
                  <a:latin typeface="Courier New"/>
                  <a:ea typeface="Courier New"/>
                  <a:cs typeface="Courier New"/>
                  <a:sym typeface="Courier New"/>
                </a:rPr>
                <a:t>3</a:t>
              </a:r>
              <a:endParaRPr b="0" i="0" sz="1745" u="none" cap="none" strike="noStrike">
                <a:solidFill>
                  <a:schemeClr val="dk1"/>
                </a:solidFill>
                <a:latin typeface="Calibri"/>
                <a:ea typeface="Calibri"/>
                <a:cs typeface="Calibri"/>
                <a:sym typeface="Calibri"/>
              </a:endParaRPr>
            </a:p>
          </p:txBody>
        </p:sp>
        <p:sp>
          <p:nvSpPr>
            <p:cNvPr id="76" name="Google Shape;76;g3e47607800b_1_1"/>
            <p:cNvSpPr/>
            <p:nvPr/>
          </p:nvSpPr>
          <p:spPr>
            <a:xfrm>
              <a:off x="1498402" y="6179158"/>
              <a:ext cx="2678100" cy="318900"/>
            </a:xfrm>
            <a:prstGeom prst="rect">
              <a:avLst/>
            </a:prstGeom>
            <a:noFill/>
            <a:ln>
              <a:noFill/>
            </a:ln>
          </p:spPr>
          <p:txBody>
            <a:bodyPr anchorCtr="0" anchor="t" bIns="24625" lIns="24625" spcFirstLastPara="1" rIns="24625" wrap="square" tIns="24625">
              <a:noAutofit/>
            </a:bodyPr>
            <a:lstStyle/>
            <a:p>
              <a:pPr indent="0" lvl="0" marL="0" marR="0" rtl="0" algn="l">
                <a:lnSpc>
                  <a:spcPct val="102000"/>
                </a:lnSpc>
                <a:spcBef>
                  <a:spcPts val="0"/>
                </a:spcBef>
                <a:spcAft>
                  <a:spcPts val="0"/>
                </a:spcAft>
                <a:buClr>
                  <a:srgbClr val="1A1714"/>
                </a:buClr>
                <a:buSzPts val="2763"/>
                <a:buFont typeface="Georgia"/>
                <a:buNone/>
              </a:pPr>
              <a:r>
                <a:rPr lang="en-US" sz="2763">
                  <a:solidFill>
                    <a:srgbClr val="1A1714"/>
                  </a:solidFill>
                  <a:latin typeface="Georgia"/>
                  <a:ea typeface="Georgia"/>
                  <a:cs typeface="Georgia"/>
                  <a:sym typeface="Georgia"/>
                </a:rPr>
                <a:t>Chunk</a:t>
              </a:r>
              <a:endParaRPr b="0" i="0" sz="2763" u="none" cap="none" strike="noStrike">
                <a:solidFill>
                  <a:schemeClr val="dk1"/>
                </a:solidFill>
                <a:latin typeface="Calibri"/>
                <a:ea typeface="Calibri"/>
                <a:cs typeface="Calibri"/>
                <a:sym typeface="Calibri"/>
              </a:endParaRPr>
            </a:p>
          </p:txBody>
        </p:sp>
        <p:sp>
          <p:nvSpPr>
            <p:cNvPr id="77" name="Google Shape;77;g3e47607800b_1_1"/>
            <p:cNvSpPr/>
            <p:nvPr/>
          </p:nvSpPr>
          <p:spPr>
            <a:xfrm>
              <a:off x="1378272" y="7466787"/>
              <a:ext cx="2269500" cy="1009800"/>
            </a:xfrm>
            <a:prstGeom prst="rect">
              <a:avLst/>
            </a:prstGeom>
            <a:noFill/>
            <a:ln>
              <a:noFill/>
            </a:ln>
          </p:spPr>
          <p:txBody>
            <a:bodyPr anchorCtr="0" anchor="t" bIns="24625" lIns="24625" spcFirstLastPara="1" rIns="24625" wrap="square" tIns="24625">
              <a:noAutofit/>
            </a:bodyPr>
            <a:lstStyle/>
            <a:p>
              <a:pPr indent="0" lvl="0" marL="0" marR="0" rtl="0" algn="l">
                <a:lnSpc>
                  <a:spcPct val="100000"/>
                </a:lnSpc>
                <a:spcBef>
                  <a:spcPts val="0"/>
                </a:spcBef>
                <a:spcAft>
                  <a:spcPts val="0"/>
                </a:spcAft>
                <a:buClr>
                  <a:srgbClr val="1A1714"/>
                </a:buClr>
                <a:buSzPts val="1745"/>
                <a:buFont typeface="Courier New"/>
                <a:buNone/>
              </a:pPr>
              <a:r>
                <a:rPr lang="en-US" sz="1745">
                  <a:solidFill>
                    <a:srgbClr val="1A1714"/>
                  </a:solidFill>
                  <a:latin typeface="Georgia"/>
                  <a:ea typeface="Georgia"/>
                  <a:cs typeface="Georgia"/>
                  <a:sym typeface="Georgia"/>
                </a:rPr>
                <a:t>Sliding windows of 1500 character size; 100 character overlap</a:t>
              </a:r>
              <a:endParaRPr sz="2045">
                <a:solidFill>
                  <a:srgbClr val="1A1714"/>
                </a:solidFill>
                <a:latin typeface="Georgia"/>
                <a:ea typeface="Georgia"/>
                <a:cs typeface="Georgia"/>
                <a:sym typeface="Georgia"/>
              </a:endParaRPr>
            </a:p>
          </p:txBody>
        </p:sp>
        <p:cxnSp>
          <p:nvCxnSpPr>
            <p:cNvPr id="78" name="Google Shape;78;g3e47607800b_1_1"/>
            <p:cNvCxnSpPr/>
            <p:nvPr/>
          </p:nvCxnSpPr>
          <p:spPr>
            <a:xfrm>
              <a:off x="1422675" y="7397873"/>
              <a:ext cx="2057400" cy="0"/>
            </a:xfrm>
            <a:prstGeom prst="straightConnector1">
              <a:avLst/>
            </a:prstGeom>
            <a:noFill/>
            <a:ln cap="flat" cmpd="sng" w="9525">
              <a:solidFill>
                <a:schemeClr val="dk2"/>
              </a:solidFill>
              <a:prstDash val="solid"/>
              <a:round/>
              <a:headEnd len="med" w="med" type="none"/>
              <a:tailEnd len="med" w="med" type="none"/>
            </a:ln>
          </p:spPr>
        </p:cxnSp>
      </p:grpSp>
      <p:grpSp>
        <p:nvGrpSpPr>
          <p:cNvPr id="79" name="Google Shape;79;g3e47607800b_1_1"/>
          <p:cNvGrpSpPr/>
          <p:nvPr/>
        </p:nvGrpSpPr>
        <p:grpSpPr>
          <a:xfrm>
            <a:off x="11304957" y="6733813"/>
            <a:ext cx="2924993" cy="2792100"/>
            <a:chOff x="1251501" y="5847875"/>
            <a:chExt cx="2924993" cy="2792100"/>
          </a:xfrm>
        </p:grpSpPr>
        <p:sp>
          <p:nvSpPr>
            <p:cNvPr id="80" name="Google Shape;80;g3e47607800b_1_1"/>
            <p:cNvSpPr/>
            <p:nvPr/>
          </p:nvSpPr>
          <p:spPr>
            <a:xfrm>
              <a:off x="1251501" y="5847875"/>
              <a:ext cx="2476500" cy="2792100"/>
            </a:xfrm>
            <a:prstGeom prst="roundRect">
              <a:avLst>
                <a:gd fmla="val 6452" name="adj"/>
              </a:avLst>
            </a:prstGeom>
            <a:solidFill>
              <a:srgbClr val="CED5ED"/>
            </a:solidFill>
            <a:ln>
              <a:noFill/>
            </a:ln>
          </p:spPr>
          <p:txBody>
            <a:bodyPr anchorCtr="0" anchor="ctr" bIns="88625" lIns="88625" spcFirstLastPara="1" rIns="88625" wrap="square" tIns="88625">
              <a:noAutofit/>
            </a:bodyPr>
            <a:lstStyle/>
            <a:p>
              <a:pPr indent="0" lvl="0" marL="0" rtl="0" algn="l">
                <a:spcBef>
                  <a:spcPts val="0"/>
                </a:spcBef>
                <a:spcAft>
                  <a:spcPts val="0"/>
                </a:spcAft>
                <a:buNone/>
              </a:pPr>
              <a:r>
                <a:t/>
              </a:r>
              <a:endParaRPr/>
            </a:p>
          </p:txBody>
        </p:sp>
        <p:sp>
          <p:nvSpPr>
            <p:cNvPr id="81" name="Google Shape;81;g3e47607800b_1_1"/>
            <p:cNvSpPr/>
            <p:nvPr/>
          </p:nvSpPr>
          <p:spPr>
            <a:xfrm>
              <a:off x="1498351" y="5914264"/>
              <a:ext cx="1412700" cy="264900"/>
            </a:xfrm>
            <a:prstGeom prst="rect">
              <a:avLst/>
            </a:prstGeom>
            <a:noFill/>
            <a:ln>
              <a:noFill/>
            </a:ln>
          </p:spPr>
          <p:txBody>
            <a:bodyPr anchorCtr="0" anchor="t" bIns="24625" lIns="24625" spcFirstLastPara="1" rIns="24625" wrap="square" tIns="24625">
              <a:noAutofit/>
            </a:bodyPr>
            <a:lstStyle/>
            <a:p>
              <a:pPr indent="0" lvl="0" marL="0" marR="0" rtl="0" algn="l">
                <a:spcBef>
                  <a:spcPts val="0"/>
                </a:spcBef>
                <a:spcAft>
                  <a:spcPts val="0"/>
                </a:spcAft>
                <a:buClr>
                  <a:srgbClr val="5E1F3A"/>
                </a:buClr>
                <a:buSzPts val="1745"/>
                <a:buFont typeface="Courier New"/>
                <a:buNone/>
              </a:pPr>
              <a:r>
                <a:rPr b="1" i="0" lang="en-US" sz="1745" u="none" cap="none" strike="noStrike">
                  <a:solidFill>
                    <a:srgbClr val="5E1F3A"/>
                  </a:solidFill>
                  <a:latin typeface="Courier New"/>
                  <a:ea typeface="Courier New"/>
                  <a:cs typeface="Courier New"/>
                  <a:sym typeface="Courier New"/>
                </a:rPr>
                <a:t>0</a:t>
              </a:r>
              <a:r>
                <a:rPr b="1" lang="en-US" sz="1745">
                  <a:solidFill>
                    <a:srgbClr val="5E1F3A"/>
                  </a:solidFill>
                  <a:latin typeface="Courier New"/>
                  <a:ea typeface="Courier New"/>
                  <a:cs typeface="Courier New"/>
                  <a:sym typeface="Courier New"/>
                </a:rPr>
                <a:t>4</a:t>
              </a:r>
              <a:endParaRPr b="0" i="0" sz="1745" u="none" cap="none" strike="noStrike">
                <a:solidFill>
                  <a:schemeClr val="dk1"/>
                </a:solidFill>
                <a:latin typeface="Calibri"/>
                <a:ea typeface="Calibri"/>
                <a:cs typeface="Calibri"/>
                <a:sym typeface="Calibri"/>
              </a:endParaRPr>
            </a:p>
          </p:txBody>
        </p:sp>
        <p:sp>
          <p:nvSpPr>
            <p:cNvPr id="82" name="Google Shape;82;g3e47607800b_1_1"/>
            <p:cNvSpPr/>
            <p:nvPr/>
          </p:nvSpPr>
          <p:spPr>
            <a:xfrm>
              <a:off x="1498394" y="6179163"/>
              <a:ext cx="2678100" cy="371400"/>
            </a:xfrm>
            <a:prstGeom prst="rect">
              <a:avLst/>
            </a:prstGeom>
            <a:noFill/>
            <a:ln>
              <a:noFill/>
            </a:ln>
          </p:spPr>
          <p:txBody>
            <a:bodyPr anchorCtr="0" anchor="t" bIns="24625" lIns="24625" spcFirstLastPara="1" rIns="24625" wrap="square" tIns="24625">
              <a:noAutofit/>
            </a:bodyPr>
            <a:lstStyle/>
            <a:p>
              <a:pPr indent="0" lvl="0" marL="0" marR="0" rtl="0" algn="l">
                <a:lnSpc>
                  <a:spcPct val="102000"/>
                </a:lnSpc>
                <a:spcBef>
                  <a:spcPts val="0"/>
                </a:spcBef>
                <a:spcAft>
                  <a:spcPts val="0"/>
                </a:spcAft>
                <a:buClr>
                  <a:srgbClr val="1A1714"/>
                </a:buClr>
                <a:buSzPts val="2763"/>
                <a:buFont typeface="Georgia"/>
                <a:buNone/>
              </a:pPr>
              <a:r>
                <a:rPr lang="en-US" sz="2763">
                  <a:solidFill>
                    <a:srgbClr val="1A1714"/>
                  </a:solidFill>
                  <a:latin typeface="Georgia"/>
                  <a:ea typeface="Georgia"/>
                  <a:cs typeface="Georgia"/>
                  <a:sym typeface="Georgia"/>
                </a:rPr>
                <a:t>Embed</a:t>
              </a:r>
              <a:endParaRPr b="0" i="0" sz="2763" u="none" cap="none" strike="noStrike">
                <a:solidFill>
                  <a:schemeClr val="dk1"/>
                </a:solidFill>
                <a:latin typeface="Calibri"/>
                <a:ea typeface="Calibri"/>
                <a:cs typeface="Calibri"/>
                <a:sym typeface="Calibri"/>
              </a:endParaRPr>
            </a:p>
          </p:txBody>
        </p:sp>
        <p:sp>
          <p:nvSpPr>
            <p:cNvPr id="83" name="Google Shape;83;g3e47607800b_1_1"/>
            <p:cNvSpPr/>
            <p:nvPr/>
          </p:nvSpPr>
          <p:spPr>
            <a:xfrm>
              <a:off x="1422669" y="7466787"/>
              <a:ext cx="2305200" cy="1009800"/>
            </a:xfrm>
            <a:prstGeom prst="rect">
              <a:avLst/>
            </a:prstGeom>
            <a:noFill/>
            <a:ln>
              <a:noFill/>
            </a:ln>
          </p:spPr>
          <p:txBody>
            <a:bodyPr anchorCtr="0" anchor="t" bIns="24625" lIns="24625" spcFirstLastPara="1" rIns="24625" wrap="square" tIns="24625">
              <a:noAutofit/>
            </a:bodyPr>
            <a:lstStyle/>
            <a:p>
              <a:pPr indent="0" lvl="0" marL="0" rtl="0" algn="l">
                <a:spcBef>
                  <a:spcPts val="0"/>
                </a:spcBef>
                <a:spcAft>
                  <a:spcPts val="0"/>
                </a:spcAft>
                <a:buClr>
                  <a:srgbClr val="1A1714"/>
                </a:buClr>
                <a:buSzPts val="1745"/>
                <a:buFont typeface="Courier New"/>
                <a:buNone/>
              </a:pPr>
              <a:r>
                <a:rPr lang="en-US" sz="1745">
                  <a:solidFill>
                    <a:srgbClr val="1A1714"/>
                  </a:solidFill>
                  <a:latin typeface="Georgia"/>
                  <a:ea typeface="Georgia"/>
                  <a:cs typeface="Georgia"/>
                  <a:sym typeface="Georgia"/>
                </a:rPr>
                <a:t>Sentence-transformers (all-mpnet-base-v2, 768-dim)</a:t>
              </a:r>
              <a:endParaRPr sz="1745">
                <a:solidFill>
                  <a:srgbClr val="1A1714"/>
                </a:solidFill>
                <a:latin typeface="Georgia"/>
                <a:ea typeface="Georgia"/>
                <a:cs typeface="Georgia"/>
                <a:sym typeface="Georgia"/>
              </a:endParaRPr>
            </a:p>
          </p:txBody>
        </p:sp>
        <p:cxnSp>
          <p:nvCxnSpPr>
            <p:cNvPr id="84" name="Google Shape;84;g3e47607800b_1_1"/>
            <p:cNvCxnSpPr/>
            <p:nvPr/>
          </p:nvCxnSpPr>
          <p:spPr>
            <a:xfrm>
              <a:off x="1422675" y="7397873"/>
              <a:ext cx="2057400" cy="0"/>
            </a:xfrm>
            <a:prstGeom prst="straightConnector1">
              <a:avLst/>
            </a:prstGeom>
            <a:noFill/>
            <a:ln cap="flat" cmpd="sng" w="9525">
              <a:solidFill>
                <a:schemeClr val="dk2"/>
              </a:solidFill>
              <a:prstDash val="solid"/>
              <a:round/>
              <a:headEnd len="med" w="med" type="none"/>
              <a:tailEnd len="med" w="med" type="none"/>
            </a:ln>
          </p:spPr>
        </p:cxnSp>
      </p:grpSp>
      <p:grpSp>
        <p:nvGrpSpPr>
          <p:cNvPr id="85" name="Google Shape;85;g3e47607800b_1_1"/>
          <p:cNvGrpSpPr/>
          <p:nvPr/>
        </p:nvGrpSpPr>
        <p:grpSpPr>
          <a:xfrm>
            <a:off x="14652898" y="6733813"/>
            <a:ext cx="2946649" cy="2792100"/>
            <a:chOff x="1251501" y="5847875"/>
            <a:chExt cx="2946649" cy="2792100"/>
          </a:xfrm>
        </p:grpSpPr>
        <p:sp>
          <p:nvSpPr>
            <p:cNvPr id="86" name="Google Shape;86;g3e47607800b_1_1"/>
            <p:cNvSpPr/>
            <p:nvPr/>
          </p:nvSpPr>
          <p:spPr>
            <a:xfrm>
              <a:off x="1251501" y="5847875"/>
              <a:ext cx="2476500" cy="2792100"/>
            </a:xfrm>
            <a:prstGeom prst="roundRect">
              <a:avLst>
                <a:gd fmla="val 6452" name="adj"/>
              </a:avLst>
            </a:prstGeom>
            <a:solidFill>
              <a:srgbClr val="F5D6C4"/>
            </a:solidFill>
            <a:ln>
              <a:noFill/>
            </a:ln>
          </p:spPr>
          <p:txBody>
            <a:bodyPr anchorCtr="0" anchor="ctr" bIns="88625" lIns="88625" spcFirstLastPara="1" rIns="88625" wrap="square" tIns="88625">
              <a:noAutofit/>
            </a:bodyPr>
            <a:lstStyle/>
            <a:p>
              <a:pPr indent="0" lvl="0" marL="0" rtl="0" algn="l">
                <a:spcBef>
                  <a:spcPts val="0"/>
                </a:spcBef>
                <a:spcAft>
                  <a:spcPts val="0"/>
                </a:spcAft>
                <a:buNone/>
              </a:pPr>
              <a:r>
                <a:t/>
              </a:r>
              <a:endParaRPr/>
            </a:p>
          </p:txBody>
        </p:sp>
        <p:sp>
          <p:nvSpPr>
            <p:cNvPr id="87" name="Google Shape;87;g3e47607800b_1_1"/>
            <p:cNvSpPr/>
            <p:nvPr/>
          </p:nvSpPr>
          <p:spPr>
            <a:xfrm>
              <a:off x="1498351" y="5914264"/>
              <a:ext cx="1412700" cy="264900"/>
            </a:xfrm>
            <a:prstGeom prst="rect">
              <a:avLst/>
            </a:prstGeom>
            <a:noFill/>
            <a:ln>
              <a:noFill/>
            </a:ln>
          </p:spPr>
          <p:txBody>
            <a:bodyPr anchorCtr="0" anchor="t" bIns="24625" lIns="24625" spcFirstLastPara="1" rIns="24625" wrap="square" tIns="24625">
              <a:noAutofit/>
            </a:bodyPr>
            <a:lstStyle/>
            <a:p>
              <a:pPr indent="0" lvl="0" marL="0" marR="0" rtl="0" algn="l">
                <a:spcBef>
                  <a:spcPts val="0"/>
                </a:spcBef>
                <a:spcAft>
                  <a:spcPts val="0"/>
                </a:spcAft>
                <a:buClr>
                  <a:srgbClr val="5E1F3A"/>
                </a:buClr>
                <a:buSzPts val="1745"/>
                <a:buFont typeface="Courier New"/>
                <a:buNone/>
              </a:pPr>
              <a:r>
                <a:rPr b="1" i="0" lang="en-US" sz="1745" u="none" cap="none" strike="noStrike">
                  <a:solidFill>
                    <a:srgbClr val="5E1F3A"/>
                  </a:solidFill>
                  <a:latin typeface="Courier New"/>
                  <a:ea typeface="Courier New"/>
                  <a:cs typeface="Courier New"/>
                  <a:sym typeface="Courier New"/>
                </a:rPr>
                <a:t>0</a:t>
              </a:r>
              <a:r>
                <a:rPr b="1" lang="en-US" sz="1745">
                  <a:solidFill>
                    <a:srgbClr val="5E1F3A"/>
                  </a:solidFill>
                  <a:latin typeface="Courier New"/>
                  <a:ea typeface="Courier New"/>
                  <a:cs typeface="Courier New"/>
                  <a:sym typeface="Courier New"/>
                </a:rPr>
                <a:t>5</a:t>
              </a:r>
              <a:endParaRPr b="0" i="0" sz="1745" u="none" cap="none" strike="noStrike">
                <a:solidFill>
                  <a:schemeClr val="dk1"/>
                </a:solidFill>
                <a:latin typeface="Calibri"/>
                <a:ea typeface="Calibri"/>
                <a:cs typeface="Calibri"/>
                <a:sym typeface="Calibri"/>
              </a:endParaRPr>
            </a:p>
          </p:txBody>
        </p:sp>
        <p:sp>
          <p:nvSpPr>
            <p:cNvPr id="88" name="Google Shape;88;g3e47607800b_1_1"/>
            <p:cNvSpPr/>
            <p:nvPr/>
          </p:nvSpPr>
          <p:spPr>
            <a:xfrm>
              <a:off x="1520050" y="6179158"/>
              <a:ext cx="2678100" cy="318900"/>
            </a:xfrm>
            <a:prstGeom prst="rect">
              <a:avLst/>
            </a:prstGeom>
            <a:noFill/>
            <a:ln>
              <a:noFill/>
            </a:ln>
          </p:spPr>
          <p:txBody>
            <a:bodyPr anchorCtr="0" anchor="t" bIns="24625" lIns="24625" spcFirstLastPara="1" rIns="24625" wrap="square" tIns="24625">
              <a:noAutofit/>
            </a:bodyPr>
            <a:lstStyle/>
            <a:p>
              <a:pPr indent="0" lvl="0" marL="0" marR="0" rtl="0" algn="l">
                <a:lnSpc>
                  <a:spcPct val="102000"/>
                </a:lnSpc>
                <a:spcBef>
                  <a:spcPts val="0"/>
                </a:spcBef>
                <a:spcAft>
                  <a:spcPts val="0"/>
                </a:spcAft>
                <a:buClr>
                  <a:srgbClr val="1A1714"/>
                </a:buClr>
                <a:buSzPts val="2763"/>
                <a:buFont typeface="Georgia"/>
                <a:buNone/>
              </a:pPr>
              <a:r>
                <a:rPr lang="en-US" sz="2763">
                  <a:solidFill>
                    <a:srgbClr val="1A1714"/>
                  </a:solidFill>
                  <a:latin typeface="Georgia"/>
                  <a:ea typeface="Georgia"/>
                  <a:cs typeface="Georgia"/>
                  <a:sym typeface="Georgia"/>
                </a:rPr>
                <a:t>Index &amp; Store</a:t>
              </a:r>
              <a:endParaRPr b="0" i="0" sz="2763" u="none" cap="none" strike="noStrike">
                <a:solidFill>
                  <a:schemeClr val="dk1"/>
                </a:solidFill>
                <a:latin typeface="Calibri"/>
                <a:ea typeface="Calibri"/>
                <a:cs typeface="Calibri"/>
                <a:sym typeface="Calibri"/>
              </a:endParaRPr>
            </a:p>
          </p:txBody>
        </p:sp>
        <p:sp>
          <p:nvSpPr>
            <p:cNvPr id="89" name="Google Shape;89;g3e47607800b_1_1"/>
            <p:cNvSpPr/>
            <p:nvPr/>
          </p:nvSpPr>
          <p:spPr>
            <a:xfrm>
              <a:off x="1443925" y="7466776"/>
              <a:ext cx="2218500" cy="1009800"/>
            </a:xfrm>
            <a:prstGeom prst="rect">
              <a:avLst/>
            </a:prstGeom>
            <a:noFill/>
            <a:ln>
              <a:noFill/>
            </a:ln>
          </p:spPr>
          <p:txBody>
            <a:bodyPr anchorCtr="0" anchor="t" bIns="24625" lIns="24625" spcFirstLastPara="1" rIns="24625" wrap="square" tIns="24625">
              <a:noAutofit/>
            </a:bodyPr>
            <a:lstStyle/>
            <a:p>
              <a:pPr indent="0" lvl="0" marL="0" marR="0" rtl="0" algn="l">
                <a:lnSpc>
                  <a:spcPct val="100000"/>
                </a:lnSpc>
                <a:spcBef>
                  <a:spcPts val="0"/>
                </a:spcBef>
                <a:spcAft>
                  <a:spcPts val="0"/>
                </a:spcAft>
                <a:buClr>
                  <a:srgbClr val="1A1714"/>
                </a:buClr>
                <a:buSzPts val="1745"/>
                <a:buFont typeface="Courier New"/>
                <a:buNone/>
              </a:pPr>
              <a:r>
                <a:rPr lang="en-US" sz="1745">
                  <a:solidFill>
                    <a:srgbClr val="1A1714"/>
                  </a:solidFill>
                  <a:latin typeface="Georgia"/>
                  <a:ea typeface="Georgia"/>
                  <a:cs typeface="Georgia"/>
                  <a:sym typeface="Georgia"/>
                </a:rPr>
                <a:t>Chroma DB HNSW for index  similarity </a:t>
              </a:r>
              <a:r>
                <a:rPr lang="en-US" sz="1745">
                  <a:solidFill>
                    <a:srgbClr val="1A1714"/>
                  </a:solidFill>
                  <a:latin typeface="Georgia"/>
                  <a:ea typeface="Georgia"/>
                  <a:cs typeface="Georgia"/>
                  <a:sym typeface="Georgia"/>
                </a:rPr>
                <a:t>search</a:t>
              </a:r>
              <a:r>
                <a:rPr lang="en-US" sz="1745">
                  <a:solidFill>
                    <a:srgbClr val="1A1714"/>
                  </a:solidFill>
                  <a:latin typeface="Georgia"/>
                  <a:ea typeface="Georgia"/>
                  <a:cs typeface="Georgia"/>
                  <a:sym typeface="Georgia"/>
                </a:rPr>
                <a:t> later</a:t>
              </a:r>
              <a:endParaRPr sz="1745">
                <a:solidFill>
                  <a:srgbClr val="1A1714"/>
                </a:solidFill>
                <a:latin typeface="Georgia"/>
                <a:ea typeface="Georgia"/>
                <a:cs typeface="Georgia"/>
                <a:sym typeface="Georgia"/>
              </a:endParaRPr>
            </a:p>
          </p:txBody>
        </p:sp>
        <p:cxnSp>
          <p:nvCxnSpPr>
            <p:cNvPr id="90" name="Google Shape;90;g3e47607800b_1_1"/>
            <p:cNvCxnSpPr/>
            <p:nvPr/>
          </p:nvCxnSpPr>
          <p:spPr>
            <a:xfrm>
              <a:off x="1422675" y="7397873"/>
              <a:ext cx="2057400" cy="0"/>
            </a:xfrm>
            <a:prstGeom prst="straightConnector1">
              <a:avLst/>
            </a:prstGeom>
            <a:noFill/>
            <a:ln cap="flat" cmpd="sng" w="9525">
              <a:solidFill>
                <a:schemeClr val="dk2"/>
              </a:solidFill>
              <a:prstDash val="solid"/>
              <a:round/>
              <a:headEnd len="med" w="med" type="none"/>
              <a:tailEnd len="med" w="med" type="none"/>
            </a:ln>
          </p:spPr>
        </p:cxnSp>
      </p:grpSp>
      <p:pic>
        <p:nvPicPr>
          <p:cNvPr id="91" name="Google Shape;91;g3e47607800b_1_1"/>
          <p:cNvPicPr preferRelativeResize="0"/>
          <p:nvPr/>
        </p:nvPicPr>
        <p:blipFill>
          <a:blip r:embed="rId8">
            <a:alphaModFix/>
          </a:blip>
          <a:stretch>
            <a:fillRect/>
          </a:stretch>
        </p:blipFill>
        <p:spPr>
          <a:xfrm>
            <a:off x="1317350" y="7494352"/>
            <a:ext cx="857250" cy="714375"/>
          </a:xfrm>
          <a:prstGeom prst="rect">
            <a:avLst/>
          </a:prstGeom>
          <a:noFill/>
          <a:ln>
            <a:noFill/>
          </a:ln>
        </p:spPr>
      </p:pic>
      <p:pic>
        <p:nvPicPr>
          <p:cNvPr id="92" name="Google Shape;92;g3e47607800b_1_1"/>
          <p:cNvPicPr preferRelativeResize="0"/>
          <p:nvPr/>
        </p:nvPicPr>
        <p:blipFill>
          <a:blip r:embed="rId9">
            <a:alphaModFix/>
          </a:blip>
          <a:stretch>
            <a:fillRect/>
          </a:stretch>
        </p:blipFill>
        <p:spPr>
          <a:xfrm>
            <a:off x="4700613" y="7409638"/>
            <a:ext cx="658039" cy="834300"/>
          </a:xfrm>
          <a:prstGeom prst="rect">
            <a:avLst/>
          </a:prstGeom>
          <a:noFill/>
          <a:ln>
            <a:noFill/>
          </a:ln>
        </p:spPr>
      </p:pic>
      <p:pic>
        <p:nvPicPr>
          <p:cNvPr id="93" name="Google Shape;93;g3e47607800b_1_1"/>
          <p:cNvPicPr preferRelativeResize="0"/>
          <p:nvPr/>
        </p:nvPicPr>
        <p:blipFill>
          <a:blip r:embed="rId10">
            <a:alphaModFix/>
          </a:blip>
          <a:stretch>
            <a:fillRect/>
          </a:stretch>
        </p:blipFill>
        <p:spPr>
          <a:xfrm>
            <a:off x="8164515" y="7550089"/>
            <a:ext cx="959572" cy="624300"/>
          </a:xfrm>
          <a:prstGeom prst="rect">
            <a:avLst/>
          </a:prstGeom>
          <a:noFill/>
          <a:ln>
            <a:noFill/>
          </a:ln>
        </p:spPr>
      </p:pic>
      <p:pic>
        <p:nvPicPr>
          <p:cNvPr id="94" name="Google Shape;94;g3e47607800b_1_1"/>
          <p:cNvPicPr preferRelativeResize="0"/>
          <p:nvPr/>
        </p:nvPicPr>
        <p:blipFill>
          <a:blip r:embed="rId11">
            <a:alphaModFix/>
          </a:blip>
          <a:stretch>
            <a:fillRect/>
          </a:stretch>
        </p:blipFill>
        <p:spPr>
          <a:xfrm>
            <a:off x="11520876" y="7494363"/>
            <a:ext cx="741850" cy="741850"/>
          </a:xfrm>
          <a:prstGeom prst="rect">
            <a:avLst/>
          </a:prstGeom>
          <a:noFill/>
          <a:ln>
            <a:noFill/>
          </a:ln>
        </p:spPr>
      </p:pic>
      <p:pic>
        <p:nvPicPr>
          <p:cNvPr id="95" name="Google Shape;95;g3e47607800b_1_1"/>
          <p:cNvPicPr preferRelativeResize="0"/>
          <p:nvPr/>
        </p:nvPicPr>
        <p:blipFill>
          <a:blip r:embed="rId12">
            <a:alphaModFix/>
          </a:blip>
          <a:stretch>
            <a:fillRect/>
          </a:stretch>
        </p:blipFill>
        <p:spPr>
          <a:xfrm>
            <a:off x="14813802" y="7541026"/>
            <a:ext cx="857250" cy="705332"/>
          </a:xfrm>
          <a:prstGeom prst="rect">
            <a:avLst/>
          </a:prstGeom>
          <a:noFill/>
          <a:ln>
            <a:noFill/>
          </a:ln>
        </p:spPr>
      </p:pic>
      <p:pic>
        <p:nvPicPr>
          <p:cNvPr id="96" name="Google Shape;96;g3e47607800b_1_1"/>
          <p:cNvPicPr preferRelativeResize="0"/>
          <p:nvPr/>
        </p:nvPicPr>
        <p:blipFill>
          <a:blip r:embed="rId13">
            <a:alphaModFix/>
          </a:blip>
          <a:stretch>
            <a:fillRect/>
          </a:stretch>
        </p:blipFill>
        <p:spPr>
          <a:xfrm>
            <a:off x="3747662" y="7933125"/>
            <a:ext cx="514350" cy="371475"/>
          </a:xfrm>
          <a:prstGeom prst="rect">
            <a:avLst/>
          </a:prstGeom>
          <a:noFill/>
          <a:ln>
            <a:noFill/>
          </a:ln>
        </p:spPr>
      </p:pic>
      <p:pic>
        <p:nvPicPr>
          <p:cNvPr id="97" name="Google Shape;97;g3e47607800b_1_1"/>
          <p:cNvPicPr preferRelativeResize="0"/>
          <p:nvPr/>
        </p:nvPicPr>
        <p:blipFill>
          <a:blip r:embed="rId13">
            <a:alphaModFix/>
          </a:blip>
          <a:stretch>
            <a:fillRect/>
          </a:stretch>
        </p:blipFill>
        <p:spPr>
          <a:xfrm>
            <a:off x="7161238" y="7976088"/>
            <a:ext cx="514350" cy="371475"/>
          </a:xfrm>
          <a:prstGeom prst="rect">
            <a:avLst/>
          </a:prstGeom>
          <a:noFill/>
          <a:ln>
            <a:noFill/>
          </a:ln>
        </p:spPr>
      </p:pic>
      <p:pic>
        <p:nvPicPr>
          <p:cNvPr id="98" name="Google Shape;98;g3e47607800b_1_1"/>
          <p:cNvPicPr preferRelativeResize="0"/>
          <p:nvPr/>
        </p:nvPicPr>
        <p:blipFill>
          <a:blip r:embed="rId13">
            <a:alphaModFix/>
          </a:blip>
          <a:stretch>
            <a:fillRect/>
          </a:stretch>
        </p:blipFill>
        <p:spPr>
          <a:xfrm>
            <a:off x="10579726" y="7997987"/>
            <a:ext cx="514350" cy="371475"/>
          </a:xfrm>
          <a:prstGeom prst="rect">
            <a:avLst/>
          </a:prstGeom>
          <a:noFill/>
          <a:ln>
            <a:noFill/>
          </a:ln>
        </p:spPr>
      </p:pic>
      <p:pic>
        <p:nvPicPr>
          <p:cNvPr id="99" name="Google Shape;99;g3e47607800b_1_1"/>
          <p:cNvPicPr preferRelativeResize="0"/>
          <p:nvPr/>
        </p:nvPicPr>
        <p:blipFill>
          <a:blip r:embed="rId13">
            <a:alphaModFix/>
          </a:blip>
          <a:stretch>
            <a:fillRect/>
          </a:stretch>
        </p:blipFill>
        <p:spPr>
          <a:xfrm>
            <a:off x="13976313" y="7997987"/>
            <a:ext cx="514350" cy="371475"/>
          </a:xfrm>
          <a:prstGeom prst="rect">
            <a:avLst/>
          </a:prstGeom>
          <a:noFill/>
          <a:ln>
            <a:noFill/>
          </a:ln>
        </p:spPr>
      </p:pic>
      <p:grpSp>
        <p:nvGrpSpPr>
          <p:cNvPr id="100" name="Google Shape;100;g3e47607800b_1_1"/>
          <p:cNvGrpSpPr/>
          <p:nvPr/>
        </p:nvGrpSpPr>
        <p:grpSpPr>
          <a:xfrm>
            <a:off x="4488876" y="6722825"/>
            <a:ext cx="2925002" cy="2792100"/>
            <a:chOff x="1251501" y="5847875"/>
            <a:chExt cx="2925002" cy="2792100"/>
          </a:xfrm>
        </p:grpSpPr>
        <p:sp>
          <p:nvSpPr>
            <p:cNvPr id="101" name="Google Shape;101;g3e47607800b_1_1"/>
            <p:cNvSpPr/>
            <p:nvPr/>
          </p:nvSpPr>
          <p:spPr>
            <a:xfrm>
              <a:off x="1251501" y="5847875"/>
              <a:ext cx="2476500" cy="2792100"/>
            </a:xfrm>
            <a:prstGeom prst="roundRect">
              <a:avLst>
                <a:gd fmla="val 6452" name="adj"/>
              </a:avLst>
            </a:prstGeom>
            <a:solidFill>
              <a:srgbClr val="F3DCA5"/>
            </a:solidFill>
            <a:ln>
              <a:noFill/>
            </a:ln>
          </p:spPr>
          <p:txBody>
            <a:bodyPr anchorCtr="0" anchor="ctr" bIns="88625" lIns="88625" spcFirstLastPara="1" rIns="88625" wrap="square" tIns="88625">
              <a:noAutofit/>
            </a:bodyPr>
            <a:lstStyle/>
            <a:p>
              <a:pPr indent="0" lvl="0" marL="0" rtl="0" algn="l">
                <a:spcBef>
                  <a:spcPts val="0"/>
                </a:spcBef>
                <a:spcAft>
                  <a:spcPts val="0"/>
                </a:spcAft>
                <a:buNone/>
              </a:pPr>
              <a:r>
                <a:t/>
              </a:r>
              <a:endParaRPr/>
            </a:p>
          </p:txBody>
        </p:sp>
        <p:sp>
          <p:nvSpPr>
            <p:cNvPr id="102" name="Google Shape;102;g3e47607800b_1_1"/>
            <p:cNvSpPr/>
            <p:nvPr/>
          </p:nvSpPr>
          <p:spPr>
            <a:xfrm>
              <a:off x="1498351" y="5914264"/>
              <a:ext cx="1412700" cy="264900"/>
            </a:xfrm>
            <a:prstGeom prst="rect">
              <a:avLst/>
            </a:prstGeom>
            <a:noFill/>
            <a:ln>
              <a:noFill/>
            </a:ln>
          </p:spPr>
          <p:txBody>
            <a:bodyPr anchorCtr="0" anchor="t" bIns="24625" lIns="24625" spcFirstLastPara="1" rIns="24625" wrap="square" tIns="24625">
              <a:noAutofit/>
            </a:bodyPr>
            <a:lstStyle/>
            <a:p>
              <a:pPr indent="0" lvl="0" marL="0" marR="0" rtl="0" algn="l">
                <a:spcBef>
                  <a:spcPts val="0"/>
                </a:spcBef>
                <a:spcAft>
                  <a:spcPts val="0"/>
                </a:spcAft>
                <a:buClr>
                  <a:srgbClr val="5E1F3A"/>
                </a:buClr>
                <a:buSzPts val="1745"/>
                <a:buFont typeface="Courier New"/>
                <a:buNone/>
              </a:pPr>
              <a:r>
                <a:rPr b="1" i="0" lang="en-US" sz="1745" u="none" cap="none" strike="noStrike">
                  <a:solidFill>
                    <a:srgbClr val="5E1F3A"/>
                  </a:solidFill>
                  <a:latin typeface="Courier New"/>
                  <a:ea typeface="Courier New"/>
                  <a:cs typeface="Courier New"/>
                  <a:sym typeface="Courier New"/>
                </a:rPr>
                <a:t>0</a:t>
              </a:r>
              <a:r>
                <a:rPr b="1" lang="en-US" sz="1745">
                  <a:solidFill>
                    <a:srgbClr val="5E1F3A"/>
                  </a:solidFill>
                  <a:latin typeface="Courier New"/>
                  <a:ea typeface="Courier New"/>
                  <a:cs typeface="Courier New"/>
                  <a:sym typeface="Courier New"/>
                </a:rPr>
                <a:t>2</a:t>
              </a:r>
              <a:endParaRPr b="0" i="0" sz="1745" u="none" cap="none" strike="noStrike">
                <a:solidFill>
                  <a:schemeClr val="dk1"/>
                </a:solidFill>
                <a:latin typeface="Calibri"/>
                <a:ea typeface="Calibri"/>
                <a:cs typeface="Calibri"/>
                <a:sym typeface="Calibri"/>
              </a:endParaRPr>
            </a:p>
          </p:txBody>
        </p:sp>
        <p:sp>
          <p:nvSpPr>
            <p:cNvPr id="103" name="Google Shape;103;g3e47607800b_1_1"/>
            <p:cNvSpPr/>
            <p:nvPr/>
          </p:nvSpPr>
          <p:spPr>
            <a:xfrm>
              <a:off x="1443925" y="7440850"/>
              <a:ext cx="2218500" cy="1035600"/>
            </a:xfrm>
            <a:prstGeom prst="rect">
              <a:avLst/>
            </a:prstGeom>
            <a:noFill/>
            <a:ln>
              <a:noFill/>
            </a:ln>
          </p:spPr>
          <p:txBody>
            <a:bodyPr anchorCtr="0" anchor="t" bIns="24625" lIns="24625" spcFirstLastPara="1" rIns="24625" wrap="square" tIns="24625">
              <a:noAutofit/>
            </a:bodyPr>
            <a:lstStyle/>
            <a:p>
              <a:pPr indent="0" lvl="0" marL="0" marR="0" rtl="0" algn="l">
                <a:lnSpc>
                  <a:spcPct val="100000"/>
                </a:lnSpc>
                <a:spcBef>
                  <a:spcPts val="0"/>
                </a:spcBef>
                <a:spcAft>
                  <a:spcPts val="0"/>
                </a:spcAft>
                <a:buClr>
                  <a:srgbClr val="1A1714"/>
                </a:buClr>
                <a:buSzPts val="1745"/>
                <a:buFont typeface="Courier New"/>
                <a:buNone/>
              </a:pPr>
              <a:r>
                <a:rPr lang="en-US" sz="1645">
                  <a:solidFill>
                    <a:srgbClr val="1A1714"/>
                  </a:solidFill>
                  <a:latin typeface="Georgia"/>
                  <a:ea typeface="Georgia"/>
                  <a:cs typeface="Georgia"/>
                  <a:sym typeface="Georgia"/>
                </a:rPr>
                <a:t>Strip footer &amp; scripts;</a:t>
              </a:r>
              <a:endParaRPr sz="1645">
                <a:solidFill>
                  <a:srgbClr val="1A1714"/>
                </a:solidFill>
                <a:latin typeface="Georgia"/>
                <a:ea typeface="Georgia"/>
                <a:cs typeface="Georgia"/>
                <a:sym typeface="Georgia"/>
              </a:endParaRPr>
            </a:p>
            <a:p>
              <a:pPr indent="0" lvl="0" marL="0" marR="0" rtl="0" algn="l">
                <a:lnSpc>
                  <a:spcPct val="100000"/>
                </a:lnSpc>
                <a:spcBef>
                  <a:spcPts val="0"/>
                </a:spcBef>
                <a:spcAft>
                  <a:spcPts val="0"/>
                </a:spcAft>
                <a:buClr>
                  <a:srgbClr val="1A1714"/>
                </a:buClr>
                <a:buSzPts val="1745"/>
                <a:buFont typeface="Courier New"/>
                <a:buNone/>
              </a:pPr>
              <a:r>
                <a:rPr lang="en-US" sz="1645">
                  <a:solidFill>
                    <a:srgbClr val="1A1714"/>
                  </a:solidFill>
                  <a:latin typeface="Georgia"/>
                  <a:ea typeface="Georgia"/>
                  <a:cs typeface="Georgia"/>
                  <a:sym typeface="Georgia"/>
                </a:rPr>
                <a:t>Extract main body text + title;</a:t>
              </a:r>
              <a:endParaRPr sz="1645">
                <a:solidFill>
                  <a:srgbClr val="1A1714"/>
                </a:solidFill>
                <a:latin typeface="Georgia"/>
                <a:ea typeface="Georgia"/>
                <a:cs typeface="Georgia"/>
                <a:sym typeface="Georgia"/>
              </a:endParaRPr>
            </a:p>
            <a:p>
              <a:pPr indent="0" lvl="0" marL="0" marR="0" rtl="0" algn="l">
                <a:lnSpc>
                  <a:spcPct val="100000"/>
                </a:lnSpc>
                <a:spcBef>
                  <a:spcPts val="0"/>
                </a:spcBef>
                <a:spcAft>
                  <a:spcPts val="0"/>
                </a:spcAft>
                <a:buClr>
                  <a:srgbClr val="1A1714"/>
                </a:buClr>
                <a:buSzPts val="1745"/>
                <a:buFont typeface="Courier New"/>
                <a:buNone/>
              </a:pPr>
              <a:r>
                <a:rPr lang="en-US" sz="1645">
                  <a:solidFill>
                    <a:srgbClr val="1A1714"/>
                  </a:solidFill>
                  <a:latin typeface="Georgia"/>
                  <a:ea typeface="Georgia"/>
                  <a:cs typeface="Georgia"/>
                  <a:sym typeface="Georgia"/>
                </a:rPr>
                <a:t>Normalize</a:t>
              </a:r>
              <a:r>
                <a:rPr lang="en-US" sz="1645">
                  <a:solidFill>
                    <a:srgbClr val="1A1714"/>
                  </a:solidFill>
                  <a:latin typeface="Georgia"/>
                  <a:ea typeface="Georgia"/>
                  <a:cs typeface="Georgia"/>
                  <a:sym typeface="Georgia"/>
                </a:rPr>
                <a:t> white space</a:t>
              </a:r>
              <a:endParaRPr sz="1645">
                <a:solidFill>
                  <a:srgbClr val="1A1714"/>
                </a:solidFill>
                <a:latin typeface="Georgia"/>
                <a:ea typeface="Georgia"/>
                <a:cs typeface="Georgia"/>
                <a:sym typeface="Georgia"/>
              </a:endParaRPr>
            </a:p>
          </p:txBody>
        </p:sp>
        <p:cxnSp>
          <p:nvCxnSpPr>
            <p:cNvPr id="104" name="Google Shape;104;g3e47607800b_1_1"/>
            <p:cNvCxnSpPr/>
            <p:nvPr/>
          </p:nvCxnSpPr>
          <p:spPr>
            <a:xfrm>
              <a:off x="1422675" y="7397873"/>
              <a:ext cx="2057400" cy="0"/>
            </a:xfrm>
            <a:prstGeom prst="straightConnector1">
              <a:avLst/>
            </a:prstGeom>
            <a:noFill/>
            <a:ln cap="flat" cmpd="sng" w="9525">
              <a:solidFill>
                <a:schemeClr val="dk2"/>
              </a:solidFill>
              <a:prstDash val="solid"/>
              <a:round/>
              <a:headEnd len="med" w="med" type="none"/>
              <a:tailEnd len="med" w="med" type="none"/>
            </a:ln>
          </p:spPr>
        </p:cxnSp>
        <p:sp>
          <p:nvSpPr>
            <p:cNvPr id="105" name="Google Shape;105;g3e47607800b_1_1"/>
            <p:cNvSpPr/>
            <p:nvPr/>
          </p:nvSpPr>
          <p:spPr>
            <a:xfrm>
              <a:off x="1498402" y="6179158"/>
              <a:ext cx="2678100" cy="318900"/>
            </a:xfrm>
            <a:prstGeom prst="rect">
              <a:avLst/>
            </a:prstGeom>
            <a:noFill/>
            <a:ln>
              <a:noFill/>
            </a:ln>
          </p:spPr>
          <p:txBody>
            <a:bodyPr anchorCtr="0" anchor="t" bIns="24625" lIns="24625" spcFirstLastPara="1" rIns="24625" wrap="square" tIns="24625">
              <a:noAutofit/>
            </a:bodyPr>
            <a:lstStyle/>
            <a:p>
              <a:pPr indent="0" lvl="0" marL="0" marR="0" rtl="0" algn="l">
                <a:lnSpc>
                  <a:spcPct val="102000"/>
                </a:lnSpc>
                <a:spcBef>
                  <a:spcPts val="0"/>
                </a:spcBef>
                <a:spcAft>
                  <a:spcPts val="0"/>
                </a:spcAft>
                <a:buClr>
                  <a:srgbClr val="1A1714"/>
                </a:buClr>
                <a:buSzPts val="2763"/>
                <a:buFont typeface="Georgia"/>
                <a:buNone/>
              </a:pPr>
              <a:r>
                <a:rPr lang="en-US" sz="2763">
                  <a:solidFill>
                    <a:srgbClr val="1A1714"/>
                  </a:solidFill>
                  <a:latin typeface="Georgia"/>
                  <a:ea typeface="Georgia"/>
                  <a:cs typeface="Georgia"/>
                  <a:sym typeface="Georgia"/>
                </a:rPr>
                <a:t>Clean &amp; Structure</a:t>
              </a:r>
              <a:endParaRPr b="0" i="0" sz="2763" u="none" cap="none" strike="noStrike">
                <a:solidFill>
                  <a:schemeClr val="dk1"/>
                </a:solidFill>
                <a:latin typeface="Calibri"/>
                <a:ea typeface="Calibri"/>
                <a:cs typeface="Calibri"/>
                <a:sym typeface="Calibri"/>
              </a:endParaRPr>
            </a:p>
          </p:txBody>
        </p:sp>
      </p:grpSp>
      <p:sp>
        <p:nvSpPr>
          <p:cNvPr id="106" name="Google Shape;106;g3e47607800b_1_1"/>
          <p:cNvSpPr txBox="1"/>
          <p:nvPr/>
        </p:nvSpPr>
        <p:spPr>
          <a:xfrm>
            <a:off x="978500" y="5785475"/>
            <a:ext cx="7194000" cy="351000"/>
          </a:xfrm>
          <a:prstGeom prst="rect">
            <a:avLst/>
          </a:prstGeom>
          <a:noFill/>
          <a:ln>
            <a:noFill/>
          </a:ln>
        </p:spPr>
        <p:txBody>
          <a:bodyPr anchorCtr="0" anchor="t" bIns="91425" lIns="91425" spcFirstLastPara="1" rIns="91425" wrap="square" tIns="91425">
            <a:noAutofit/>
          </a:bodyPr>
          <a:lstStyle/>
          <a:p>
            <a:pPr indent="0" lvl="0" marL="0" rtl="0" algn="l">
              <a:lnSpc>
                <a:spcPct val="98000"/>
              </a:lnSpc>
              <a:spcBef>
                <a:spcPts val="0"/>
              </a:spcBef>
              <a:spcAft>
                <a:spcPts val="0"/>
              </a:spcAft>
              <a:buClr>
                <a:srgbClr val="1A1714"/>
              </a:buClr>
              <a:buSzPts val="7200"/>
              <a:buFont typeface="Georgia"/>
              <a:buNone/>
            </a:pPr>
            <a:r>
              <a:rPr lang="en-US" sz="3700">
                <a:solidFill>
                  <a:srgbClr val="1A1714"/>
                </a:solidFill>
                <a:latin typeface="Georgia"/>
                <a:ea typeface="Georgia"/>
                <a:cs typeface="Georgia"/>
                <a:sym typeface="Georgia"/>
              </a:rPr>
              <a:t>Data Ingestion Pipeline</a:t>
            </a:r>
            <a:endParaRPr sz="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ECDE"/>
        </a:solidFill>
      </p:bgPr>
    </p:bg>
    <p:spTree>
      <p:nvGrpSpPr>
        <p:cNvPr id="111" name="Shape 111"/>
        <p:cNvGrpSpPr/>
        <p:nvPr/>
      </p:nvGrpSpPr>
      <p:grpSpPr>
        <a:xfrm>
          <a:off x="0" y="0"/>
          <a:ext cx="0" cy="0"/>
          <a:chOff x="0" y="0"/>
          <a:chExt cx="0" cy="0"/>
        </a:xfrm>
      </p:grpSpPr>
      <p:sp>
        <p:nvSpPr>
          <p:cNvPr id="112" name="Google Shape;112;g3e441bb160a_1_78"/>
          <p:cNvSpPr/>
          <p:nvPr/>
        </p:nvSpPr>
        <p:spPr>
          <a:xfrm>
            <a:off x="16394775" y="-1339050"/>
            <a:ext cx="3276600" cy="3276600"/>
          </a:xfrm>
          <a:prstGeom prst="ellipse">
            <a:avLst/>
          </a:prstGeom>
          <a:noFill/>
          <a:ln cap="flat" cmpd="sng" w="114300">
            <a:solidFill>
              <a:srgbClr val="E34A26">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3e441bb160a_1_78"/>
          <p:cNvSpPr/>
          <p:nvPr/>
        </p:nvSpPr>
        <p:spPr>
          <a:xfrm>
            <a:off x="1127188" y="857975"/>
            <a:ext cx="3717900" cy="490500"/>
          </a:xfrm>
          <a:prstGeom prst="roundRect">
            <a:avLst>
              <a:gd fmla="val 50000" name="adj"/>
            </a:avLst>
          </a:prstGeom>
          <a:solidFill>
            <a:srgbClr val="5E1F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3e441bb160a_1_78"/>
          <p:cNvSpPr/>
          <p:nvPr/>
        </p:nvSpPr>
        <p:spPr>
          <a:xfrm>
            <a:off x="1188288" y="921400"/>
            <a:ext cx="3429300" cy="3381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3ECDE"/>
              </a:buClr>
              <a:buSzPts val="1800"/>
              <a:buFont typeface="Courier New"/>
              <a:buNone/>
            </a:pPr>
            <a:r>
              <a:rPr b="0" i="0" lang="en-US" sz="1800" u="none" cap="none" strike="noStrike">
                <a:solidFill>
                  <a:srgbClr val="F3ECDE"/>
                </a:solidFill>
                <a:latin typeface="Courier New"/>
                <a:ea typeface="Courier New"/>
                <a:cs typeface="Courier New"/>
                <a:sym typeface="Courier New"/>
              </a:rPr>
              <a:t>PROJECT 1 · MIDTERM</a:t>
            </a:r>
            <a:endParaRPr b="0" i="0" sz="1800" u="none" cap="none" strike="noStrike">
              <a:solidFill>
                <a:schemeClr val="dk1"/>
              </a:solidFill>
              <a:latin typeface="Calibri"/>
              <a:ea typeface="Calibri"/>
              <a:cs typeface="Calibri"/>
              <a:sym typeface="Calibri"/>
            </a:endParaRPr>
          </a:p>
        </p:txBody>
      </p:sp>
      <p:sp>
        <p:nvSpPr>
          <p:cNvPr id="115" name="Google Shape;115;g3e441bb160a_1_78"/>
          <p:cNvSpPr/>
          <p:nvPr/>
        </p:nvSpPr>
        <p:spPr>
          <a:xfrm>
            <a:off x="654600" y="1404350"/>
            <a:ext cx="16872600" cy="866700"/>
          </a:xfrm>
          <a:prstGeom prst="rect">
            <a:avLst/>
          </a:prstGeom>
          <a:noFill/>
          <a:ln>
            <a:noFill/>
          </a:ln>
        </p:spPr>
        <p:txBody>
          <a:bodyPr anchorCtr="0" anchor="t" bIns="25400" lIns="25400" spcFirstLastPara="1" rIns="25400" wrap="square" tIns="25400">
            <a:noAutofit/>
          </a:bodyPr>
          <a:lstStyle/>
          <a:p>
            <a:pPr indent="0" lvl="0" marL="0" marR="0" rtl="0" algn="l">
              <a:lnSpc>
                <a:spcPct val="98000"/>
              </a:lnSpc>
              <a:spcBef>
                <a:spcPts val="0"/>
              </a:spcBef>
              <a:spcAft>
                <a:spcPts val="0"/>
              </a:spcAft>
              <a:buClr>
                <a:srgbClr val="1A1714"/>
              </a:buClr>
              <a:buSzPts val="7200"/>
              <a:buFont typeface="Georgia"/>
              <a:buNone/>
            </a:pPr>
            <a:r>
              <a:rPr lang="en-US" sz="7200" u="none" cap="none" strike="noStrike">
                <a:solidFill>
                  <a:srgbClr val="E34A26"/>
                </a:solidFill>
                <a:latin typeface="Georgia"/>
                <a:ea typeface="Georgia"/>
                <a:cs typeface="Georgia"/>
                <a:sym typeface="Georgia"/>
              </a:rPr>
              <a:t> </a:t>
            </a:r>
            <a:r>
              <a:rPr lang="en-US" sz="7100" u="none" cap="none" strike="noStrike">
                <a:solidFill>
                  <a:srgbClr val="E34A26"/>
                </a:solidFill>
                <a:latin typeface="Georgia"/>
                <a:ea typeface="Georgia"/>
                <a:cs typeface="Georgia"/>
                <a:sym typeface="Georgia"/>
              </a:rPr>
              <a:t>system </a:t>
            </a:r>
            <a:r>
              <a:rPr lang="en-US" sz="7100">
                <a:solidFill>
                  <a:srgbClr val="E34A26"/>
                </a:solidFill>
                <a:latin typeface="Georgia"/>
                <a:ea typeface="Georgia"/>
                <a:cs typeface="Georgia"/>
                <a:sym typeface="Georgia"/>
              </a:rPr>
              <a:t>architecture</a:t>
            </a:r>
            <a:r>
              <a:rPr lang="en-US" sz="7100">
                <a:solidFill>
                  <a:srgbClr val="1A1714"/>
                </a:solidFill>
                <a:latin typeface="Georgia"/>
                <a:ea typeface="Georgia"/>
                <a:cs typeface="Georgia"/>
                <a:sym typeface="Georgia"/>
              </a:rPr>
              <a:t> (Query Pipeline)</a:t>
            </a:r>
            <a:endParaRPr sz="7100" u="none" cap="none" strike="noStrike">
              <a:solidFill>
                <a:schemeClr val="dk1"/>
              </a:solidFill>
              <a:latin typeface="Georgia"/>
              <a:ea typeface="Georgia"/>
              <a:cs typeface="Georgia"/>
              <a:sym typeface="Georgia"/>
            </a:endParaRPr>
          </a:p>
        </p:txBody>
      </p:sp>
      <p:sp>
        <p:nvSpPr>
          <p:cNvPr id="116" name="Google Shape;116;g3e441bb160a_1_78"/>
          <p:cNvSpPr/>
          <p:nvPr/>
        </p:nvSpPr>
        <p:spPr>
          <a:xfrm>
            <a:off x="914400" y="4920850"/>
            <a:ext cx="3876600" cy="3162300"/>
          </a:xfrm>
          <a:prstGeom prst="roundRect">
            <a:avLst>
              <a:gd fmla="val 6024" name="adj"/>
            </a:avLst>
          </a:prstGeom>
          <a:solidFill>
            <a:srgbClr val="B5D4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e441bb160a_1_78"/>
          <p:cNvSpPr/>
          <p:nvPr/>
        </p:nvSpPr>
        <p:spPr>
          <a:xfrm>
            <a:off x="1181111" y="5225650"/>
            <a:ext cx="3443700" cy="295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A1714"/>
              </a:buClr>
              <a:buSzPts val="1800"/>
              <a:buFont typeface="Courier New"/>
              <a:buNone/>
            </a:pPr>
            <a:r>
              <a:rPr lang="en-US" sz="1800">
                <a:solidFill>
                  <a:srgbClr val="1A1714"/>
                </a:solidFill>
                <a:latin typeface="Courier New"/>
                <a:ea typeface="Courier New"/>
                <a:cs typeface="Courier New"/>
                <a:sym typeface="Courier New"/>
              </a:rPr>
              <a:t>Query Encoder</a:t>
            </a:r>
            <a:endParaRPr b="0" i="0" sz="1800" u="none" cap="none" strike="noStrike">
              <a:solidFill>
                <a:schemeClr val="dk1"/>
              </a:solidFill>
              <a:latin typeface="Calibri"/>
              <a:ea typeface="Calibri"/>
              <a:cs typeface="Calibri"/>
              <a:sym typeface="Calibri"/>
            </a:endParaRPr>
          </a:p>
        </p:txBody>
      </p:sp>
      <p:sp>
        <p:nvSpPr>
          <p:cNvPr id="118" name="Google Shape;118;g3e441bb160a_1_78"/>
          <p:cNvSpPr/>
          <p:nvPr/>
        </p:nvSpPr>
        <p:spPr>
          <a:xfrm>
            <a:off x="1130862" y="5751381"/>
            <a:ext cx="3443700" cy="58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D6E4A"/>
              </a:buClr>
              <a:buSzPts val="3750"/>
              <a:buFont typeface="Georgia"/>
              <a:buNone/>
            </a:pPr>
            <a:r>
              <a:rPr lang="en-US" sz="3150">
                <a:solidFill>
                  <a:srgbClr val="2D6E4A"/>
                </a:solidFill>
                <a:latin typeface="Georgia"/>
                <a:ea typeface="Georgia"/>
                <a:cs typeface="Georgia"/>
                <a:sym typeface="Georgia"/>
              </a:rPr>
              <a:t>all-Mpnet-base-v2</a:t>
            </a:r>
            <a:endParaRPr b="0" i="0" sz="3150" u="none" cap="none" strike="noStrike">
              <a:solidFill>
                <a:schemeClr val="dk1"/>
              </a:solidFill>
              <a:latin typeface="Calibri"/>
              <a:ea typeface="Calibri"/>
              <a:cs typeface="Calibri"/>
              <a:sym typeface="Calibri"/>
            </a:endParaRPr>
          </a:p>
        </p:txBody>
      </p:sp>
      <p:sp>
        <p:nvSpPr>
          <p:cNvPr id="119" name="Google Shape;119;g3e441bb160a_1_78"/>
          <p:cNvSpPr/>
          <p:nvPr/>
        </p:nvSpPr>
        <p:spPr>
          <a:xfrm>
            <a:off x="1181100" y="6435726"/>
            <a:ext cx="3443700" cy="1399800"/>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3D352C"/>
              </a:buClr>
              <a:buSzPts val="1800"/>
              <a:buFont typeface="Arial"/>
              <a:buNone/>
            </a:pPr>
            <a:r>
              <a:rPr lang="en-US" sz="1800">
                <a:solidFill>
                  <a:srgbClr val="3D352C"/>
                </a:solidFill>
              </a:rPr>
              <a:t>Strong </a:t>
            </a:r>
            <a:r>
              <a:rPr b="0" i="0" lang="en-US" sz="1800" u="none" cap="none" strike="noStrike">
                <a:solidFill>
                  <a:srgbClr val="3D352C"/>
                </a:solidFill>
                <a:latin typeface="Arial"/>
                <a:ea typeface="Arial"/>
                <a:cs typeface="Arial"/>
                <a:sym typeface="Arial"/>
              </a:rPr>
              <a:t>general-purpose sentence encoder that runs locally, produces 768</a:t>
            </a:r>
            <a:r>
              <a:rPr lang="en-US" sz="1800">
                <a:solidFill>
                  <a:srgbClr val="3D352C"/>
                </a:solidFill>
              </a:rPr>
              <a:t>-dim query Vector</a:t>
            </a:r>
            <a:endParaRPr b="0" i="0" sz="1800" u="none" cap="none" strike="noStrike">
              <a:solidFill>
                <a:schemeClr val="dk1"/>
              </a:solidFill>
              <a:latin typeface="Calibri"/>
              <a:ea typeface="Calibri"/>
              <a:cs typeface="Calibri"/>
              <a:sym typeface="Calibri"/>
            </a:endParaRPr>
          </a:p>
        </p:txBody>
      </p:sp>
      <p:sp>
        <p:nvSpPr>
          <p:cNvPr id="120" name="Google Shape;120;g3e441bb160a_1_78"/>
          <p:cNvSpPr/>
          <p:nvPr/>
        </p:nvSpPr>
        <p:spPr>
          <a:xfrm>
            <a:off x="5086350" y="4879907"/>
            <a:ext cx="3876600" cy="3162300"/>
          </a:xfrm>
          <a:prstGeom prst="roundRect">
            <a:avLst>
              <a:gd fmla="val 6024" name="adj"/>
            </a:avLst>
          </a:prstGeom>
          <a:solidFill>
            <a:srgbClr val="F6CD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e441bb160a_1_78"/>
          <p:cNvSpPr/>
          <p:nvPr/>
        </p:nvSpPr>
        <p:spPr>
          <a:xfrm>
            <a:off x="5353050" y="5184707"/>
            <a:ext cx="3443700" cy="295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A1714"/>
              </a:buClr>
              <a:buSzPts val="1800"/>
              <a:buFont typeface="Courier New"/>
              <a:buNone/>
            </a:pPr>
            <a:r>
              <a:rPr lang="en-US" sz="1800">
                <a:solidFill>
                  <a:srgbClr val="1A1714"/>
                </a:solidFill>
                <a:latin typeface="Courier New"/>
                <a:ea typeface="Courier New"/>
                <a:cs typeface="Courier New"/>
                <a:sym typeface="Courier New"/>
              </a:rPr>
              <a:t>Retrieve </a:t>
            </a:r>
            <a:endParaRPr b="0" i="0" sz="1800" u="none" cap="none" strike="noStrike">
              <a:solidFill>
                <a:schemeClr val="dk1"/>
              </a:solidFill>
              <a:latin typeface="Calibri"/>
              <a:ea typeface="Calibri"/>
              <a:cs typeface="Calibri"/>
              <a:sym typeface="Calibri"/>
            </a:endParaRPr>
          </a:p>
        </p:txBody>
      </p:sp>
      <p:sp>
        <p:nvSpPr>
          <p:cNvPr id="122" name="Google Shape;122;g3e441bb160a_1_78"/>
          <p:cNvSpPr/>
          <p:nvPr/>
        </p:nvSpPr>
        <p:spPr>
          <a:xfrm>
            <a:off x="5300550" y="5520850"/>
            <a:ext cx="3067200" cy="58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34A26"/>
              </a:buClr>
              <a:buSzPts val="3750"/>
              <a:buFont typeface="Georgia"/>
              <a:buNone/>
            </a:pPr>
            <a:r>
              <a:rPr lang="en-US" sz="3750">
                <a:solidFill>
                  <a:srgbClr val="E34A26"/>
                </a:solidFill>
                <a:latin typeface="Georgia"/>
                <a:ea typeface="Georgia"/>
                <a:cs typeface="Georgia"/>
                <a:sym typeface="Georgia"/>
              </a:rPr>
              <a:t>Chroma DB Cosine Search</a:t>
            </a:r>
            <a:endParaRPr b="0" i="0" sz="3750" u="none" cap="none" strike="noStrike">
              <a:solidFill>
                <a:schemeClr val="dk1"/>
              </a:solidFill>
              <a:latin typeface="Calibri"/>
              <a:ea typeface="Calibri"/>
              <a:cs typeface="Calibri"/>
              <a:sym typeface="Calibri"/>
            </a:endParaRPr>
          </a:p>
        </p:txBody>
      </p:sp>
      <p:sp>
        <p:nvSpPr>
          <p:cNvPr id="123" name="Google Shape;123;g3e441bb160a_1_78"/>
          <p:cNvSpPr/>
          <p:nvPr/>
        </p:nvSpPr>
        <p:spPr>
          <a:xfrm>
            <a:off x="5247150" y="6830775"/>
            <a:ext cx="3876600" cy="963900"/>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3D352C"/>
              </a:buClr>
              <a:buSzPts val="1800"/>
              <a:buFont typeface="Arial"/>
              <a:buNone/>
            </a:pPr>
            <a:r>
              <a:rPr lang="en-US" sz="1800">
                <a:solidFill>
                  <a:srgbClr val="3D352C"/>
                </a:solidFill>
              </a:rPr>
              <a:t>top-k = 4 [adjustable]</a:t>
            </a:r>
            <a:endParaRPr sz="1800">
              <a:solidFill>
                <a:srgbClr val="3D352C"/>
              </a:solidFill>
            </a:endParaRPr>
          </a:p>
          <a:p>
            <a:pPr indent="0" lvl="0" marL="0" marR="0" rtl="0" algn="l">
              <a:lnSpc>
                <a:spcPct val="135000"/>
              </a:lnSpc>
              <a:spcBef>
                <a:spcPts val="0"/>
              </a:spcBef>
              <a:spcAft>
                <a:spcPts val="0"/>
              </a:spcAft>
              <a:buClr>
                <a:srgbClr val="3D352C"/>
              </a:buClr>
              <a:buSzPts val="1800"/>
              <a:buFont typeface="Arial"/>
              <a:buNone/>
            </a:pPr>
            <a:r>
              <a:rPr lang="en-US" sz="1800">
                <a:solidFill>
                  <a:srgbClr val="3D352C"/>
                </a:solidFill>
              </a:rPr>
              <a:t>returns text, title, URL </a:t>
            </a:r>
            <a:endParaRPr sz="1800">
              <a:solidFill>
                <a:srgbClr val="3D352C"/>
              </a:solidFill>
            </a:endParaRPr>
          </a:p>
          <a:p>
            <a:pPr indent="0" lvl="0" marL="0" marR="0" rtl="0" algn="l">
              <a:lnSpc>
                <a:spcPct val="135000"/>
              </a:lnSpc>
              <a:spcBef>
                <a:spcPts val="0"/>
              </a:spcBef>
              <a:spcAft>
                <a:spcPts val="0"/>
              </a:spcAft>
              <a:buClr>
                <a:srgbClr val="3D352C"/>
              </a:buClr>
              <a:buSzPts val="1800"/>
              <a:buFont typeface="Arial"/>
              <a:buNone/>
            </a:pPr>
            <a:r>
              <a:rPr lang="en-US" sz="1800">
                <a:solidFill>
                  <a:srgbClr val="3D352C"/>
                </a:solidFill>
              </a:rPr>
              <a:t>Assemble Context,  ≤ 3,000 chars </a:t>
            </a:r>
            <a:endParaRPr sz="1800">
              <a:solidFill>
                <a:srgbClr val="3D352C"/>
              </a:solidFill>
            </a:endParaRPr>
          </a:p>
        </p:txBody>
      </p:sp>
      <p:sp>
        <p:nvSpPr>
          <p:cNvPr id="124" name="Google Shape;124;g3e441bb160a_1_78"/>
          <p:cNvSpPr/>
          <p:nvPr/>
        </p:nvSpPr>
        <p:spPr>
          <a:xfrm>
            <a:off x="9258300" y="4879907"/>
            <a:ext cx="3876600" cy="3162300"/>
          </a:xfrm>
          <a:prstGeom prst="roundRect">
            <a:avLst>
              <a:gd fmla="val 6024" name="adj"/>
            </a:avLst>
          </a:prstGeom>
          <a:solidFill>
            <a:srgbClr val="F3DC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3e441bb160a_1_78"/>
          <p:cNvSpPr/>
          <p:nvPr/>
        </p:nvSpPr>
        <p:spPr>
          <a:xfrm>
            <a:off x="9525000" y="5184707"/>
            <a:ext cx="3443700" cy="295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A1714"/>
              </a:buClr>
              <a:buSzPts val="1800"/>
              <a:buFont typeface="Courier New"/>
              <a:buNone/>
            </a:pPr>
            <a:r>
              <a:rPr lang="en-US" sz="1800">
                <a:solidFill>
                  <a:srgbClr val="1A1714"/>
                </a:solidFill>
                <a:latin typeface="Courier New"/>
                <a:ea typeface="Courier New"/>
                <a:cs typeface="Courier New"/>
                <a:sym typeface="Courier New"/>
              </a:rPr>
              <a:t>Generate </a:t>
            </a:r>
            <a:endParaRPr b="0" i="0" sz="1800" u="none" cap="none" strike="noStrike">
              <a:solidFill>
                <a:schemeClr val="dk1"/>
              </a:solidFill>
              <a:latin typeface="Calibri"/>
              <a:ea typeface="Calibri"/>
              <a:cs typeface="Calibri"/>
              <a:sym typeface="Calibri"/>
            </a:endParaRPr>
          </a:p>
        </p:txBody>
      </p:sp>
      <p:sp>
        <p:nvSpPr>
          <p:cNvPr id="126" name="Google Shape;126;g3e441bb160a_1_78"/>
          <p:cNvSpPr/>
          <p:nvPr/>
        </p:nvSpPr>
        <p:spPr>
          <a:xfrm>
            <a:off x="9366175" y="5573750"/>
            <a:ext cx="4091400" cy="116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4815"/>
              </a:buClr>
              <a:buSzPts val="3750"/>
              <a:buFont typeface="Georgia"/>
              <a:buNone/>
            </a:pPr>
            <a:r>
              <a:rPr lang="en-US" sz="3750">
                <a:solidFill>
                  <a:srgbClr val="6E4815"/>
                </a:solidFill>
                <a:latin typeface="Georgia"/>
                <a:ea typeface="Georgia"/>
                <a:cs typeface="Georgia"/>
                <a:sym typeface="Georgia"/>
              </a:rPr>
              <a:t>GPT-4o/LLama 3.2</a:t>
            </a:r>
            <a:endParaRPr b="0" i="0" sz="3750" u="none" cap="none" strike="noStrike">
              <a:solidFill>
                <a:schemeClr val="dk1"/>
              </a:solidFill>
              <a:latin typeface="Calibri"/>
              <a:ea typeface="Calibri"/>
              <a:cs typeface="Calibri"/>
              <a:sym typeface="Calibri"/>
            </a:endParaRPr>
          </a:p>
        </p:txBody>
      </p:sp>
      <p:sp>
        <p:nvSpPr>
          <p:cNvPr id="127" name="Google Shape;127;g3e441bb160a_1_78"/>
          <p:cNvSpPr/>
          <p:nvPr/>
        </p:nvSpPr>
        <p:spPr>
          <a:xfrm>
            <a:off x="9525000" y="6830671"/>
            <a:ext cx="3443700" cy="963900"/>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3D352C"/>
              </a:buClr>
              <a:buSzPts val="1800"/>
              <a:buFont typeface="Arial"/>
              <a:buNone/>
            </a:pPr>
            <a:r>
              <a:rPr lang="en-US" sz="1800">
                <a:solidFill>
                  <a:srgbClr val="3D352C"/>
                </a:solidFill>
              </a:rPr>
              <a:t>Temp = 0.2 </a:t>
            </a:r>
            <a:endParaRPr sz="1800">
              <a:solidFill>
                <a:srgbClr val="3D352C"/>
              </a:solidFill>
            </a:endParaRPr>
          </a:p>
          <a:p>
            <a:pPr indent="0" lvl="0" marL="0" marR="0" rtl="0" algn="l">
              <a:lnSpc>
                <a:spcPct val="135000"/>
              </a:lnSpc>
              <a:spcBef>
                <a:spcPts val="0"/>
              </a:spcBef>
              <a:spcAft>
                <a:spcPts val="0"/>
              </a:spcAft>
              <a:buClr>
                <a:srgbClr val="3D352C"/>
              </a:buClr>
              <a:buSzPts val="1800"/>
              <a:buFont typeface="Arial"/>
              <a:buNone/>
            </a:pPr>
            <a:r>
              <a:rPr lang="en-US" sz="1800">
                <a:solidFill>
                  <a:srgbClr val="3D352C"/>
                </a:solidFill>
              </a:rPr>
              <a:t>Max 900 tokens</a:t>
            </a:r>
            <a:endParaRPr sz="1800">
              <a:solidFill>
                <a:srgbClr val="3D352C"/>
              </a:solidFill>
            </a:endParaRPr>
          </a:p>
          <a:p>
            <a:pPr indent="0" lvl="0" marL="0" marR="0" rtl="0" algn="l">
              <a:lnSpc>
                <a:spcPct val="135000"/>
              </a:lnSpc>
              <a:spcBef>
                <a:spcPts val="0"/>
              </a:spcBef>
              <a:spcAft>
                <a:spcPts val="0"/>
              </a:spcAft>
              <a:buClr>
                <a:srgbClr val="3D352C"/>
              </a:buClr>
              <a:buSzPts val="1800"/>
              <a:buFont typeface="Arial"/>
              <a:buNone/>
            </a:pPr>
            <a:r>
              <a:rPr lang="en-US" sz="1800">
                <a:solidFill>
                  <a:srgbClr val="3D352C"/>
                </a:solidFill>
              </a:rPr>
              <a:t>Context grounded</a:t>
            </a:r>
            <a:endParaRPr sz="1800">
              <a:solidFill>
                <a:srgbClr val="3D352C"/>
              </a:solidFill>
            </a:endParaRPr>
          </a:p>
        </p:txBody>
      </p:sp>
      <p:sp>
        <p:nvSpPr>
          <p:cNvPr id="128" name="Google Shape;128;g3e441bb160a_1_78"/>
          <p:cNvSpPr/>
          <p:nvPr/>
        </p:nvSpPr>
        <p:spPr>
          <a:xfrm>
            <a:off x="13363575" y="4879900"/>
            <a:ext cx="3802200" cy="3162300"/>
          </a:xfrm>
          <a:prstGeom prst="roundRect">
            <a:avLst>
              <a:gd fmla="val 6024" name="adj"/>
            </a:avLst>
          </a:prstGeom>
          <a:solidFill>
            <a:srgbClr val="C4D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e441bb160a_1_78"/>
          <p:cNvSpPr/>
          <p:nvPr/>
        </p:nvSpPr>
        <p:spPr>
          <a:xfrm>
            <a:off x="13625152" y="5184700"/>
            <a:ext cx="3377400" cy="295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A1714"/>
              </a:buClr>
              <a:buSzPts val="1800"/>
              <a:buFont typeface="Courier New"/>
              <a:buNone/>
            </a:pPr>
            <a:r>
              <a:rPr lang="en-US" sz="1800">
                <a:solidFill>
                  <a:srgbClr val="1A1714"/>
                </a:solidFill>
                <a:latin typeface="Courier New"/>
                <a:ea typeface="Courier New"/>
                <a:cs typeface="Courier New"/>
                <a:sym typeface="Courier New"/>
              </a:rPr>
              <a:t>Clean Up</a:t>
            </a:r>
            <a:endParaRPr b="0" i="0" sz="1800" u="none" cap="none" strike="noStrike">
              <a:solidFill>
                <a:schemeClr val="dk1"/>
              </a:solidFill>
              <a:latin typeface="Calibri"/>
              <a:ea typeface="Calibri"/>
              <a:cs typeface="Calibri"/>
              <a:sym typeface="Calibri"/>
            </a:endParaRPr>
          </a:p>
        </p:txBody>
      </p:sp>
      <p:sp>
        <p:nvSpPr>
          <p:cNvPr id="130" name="Google Shape;130;g3e441bb160a_1_78"/>
          <p:cNvSpPr/>
          <p:nvPr/>
        </p:nvSpPr>
        <p:spPr>
          <a:xfrm>
            <a:off x="13625152" y="5862068"/>
            <a:ext cx="4091400" cy="96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AA8"/>
              </a:buClr>
              <a:buSzPts val="3750"/>
              <a:buFont typeface="Georgia"/>
              <a:buNone/>
            </a:pPr>
            <a:r>
              <a:rPr lang="en-US" sz="3750">
                <a:solidFill>
                  <a:srgbClr val="1F3AA8"/>
                </a:solidFill>
                <a:latin typeface="Georgia"/>
                <a:ea typeface="Georgia"/>
                <a:cs typeface="Georgia"/>
                <a:sym typeface="Georgia"/>
              </a:rPr>
              <a:t>PII Redact</a:t>
            </a:r>
            <a:endParaRPr b="0" i="0" sz="3750" u="none" cap="none" strike="noStrike">
              <a:solidFill>
                <a:schemeClr val="dk1"/>
              </a:solidFill>
              <a:latin typeface="Calibri"/>
              <a:ea typeface="Calibri"/>
              <a:cs typeface="Calibri"/>
              <a:sym typeface="Calibri"/>
            </a:endParaRPr>
          </a:p>
        </p:txBody>
      </p:sp>
      <p:sp>
        <p:nvSpPr>
          <p:cNvPr id="131" name="Google Shape;131;g3e441bb160a_1_78"/>
          <p:cNvSpPr/>
          <p:nvPr/>
        </p:nvSpPr>
        <p:spPr>
          <a:xfrm>
            <a:off x="13625152" y="6830664"/>
            <a:ext cx="3377400" cy="963900"/>
          </a:xfrm>
          <a:prstGeom prst="rect">
            <a:avLst/>
          </a:prstGeom>
          <a:noFill/>
          <a:ln>
            <a:noFill/>
          </a:ln>
        </p:spPr>
        <p:txBody>
          <a:bodyPr anchorCtr="0" anchor="t" bIns="25400" lIns="25400" spcFirstLastPara="1" rIns="25400" wrap="square" tIns="25400">
            <a:noAutofit/>
          </a:bodyPr>
          <a:lstStyle/>
          <a:p>
            <a:pPr indent="0" lvl="0" marL="0" marR="0" rtl="0" algn="l">
              <a:lnSpc>
                <a:spcPct val="135000"/>
              </a:lnSpc>
              <a:spcBef>
                <a:spcPts val="0"/>
              </a:spcBef>
              <a:spcAft>
                <a:spcPts val="0"/>
              </a:spcAft>
              <a:buClr>
                <a:srgbClr val="3D352C"/>
              </a:buClr>
              <a:buSzPts val="1800"/>
              <a:buFont typeface="Arial"/>
              <a:buNone/>
            </a:pPr>
            <a:r>
              <a:rPr lang="en-US" sz="1800">
                <a:solidFill>
                  <a:srgbClr val="3D352C"/>
                </a:solidFill>
              </a:rPr>
              <a:t>Regex</a:t>
            </a:r>
            <a:r>
              <a:rPr lang="en-US" sz="1800">
                <a:solidFill>
                  <a:srgbClr val="3D352C"/>
                </a:solidFill>
              </a:rPr>
              <a:t> Strips all email addresses &amp; phone numbers from LLm output before display</a:t>
            </a:r>
            <a:r>
              <a:rPr b="0" i="0" lang="en-US" sz="1800" u="none" cap="none" strike="noStrike">
                <a:solidFill>
                  <a:srgbClr val="3D352C"/>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132" name="Google Shape;132;g3e441bb160a_1_78"/>
          <p:cNvSpPr/>
          <p:nvPr/>
        </p:nvSpPr>
        <p:spPr>
          <a:xfrm>
            <a:off x="654600" y="8515200"/>
            <a:ext cx="14242800" cy="866700"/>
          </a:xfrm>
          <a:prstGeom prst="roundRect">
            <a:avLst>
              <a:gd fmla="val 17582" name="adj"/>
            </a:avLst>
          </a:prstGeom>
          <a:noFill/>
          <a:ln cap="flat" cmpd="sng" w="19050">
            <a:solidFill>
              <a:srgbClr val="1A17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e441bb160a_1_78"/>
          <p:cNvSpPr/>
          <p:nvPr/>
        </p:nvSpPr>
        <p:spPr>
          <a:xfrm>
            <a:off x="1127200" y="8743857"/>
            <a:ext cx="2216100" cy="295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34A26"/>
              </a:buClr>
              <a:buSzPts val="1800"/>
              <a:buFont typeface="Courier New"/>
              <a:buNone/>
            </a:pPr>
            <a:r>
              <a:rPr b="0" i="0" lang="en-US" sz="1800" u="none" cap="none" strike="noStrike">
                <a:solidFill>
                  <a:srgbClr val="E34A26"/>
                </a:solidFill>
                <a:latin typeface="Courier New"/>
                <a:ea typeface="Courier New"/>
                <a:cs typeface="Courier New"/>
                <a:sym typeface="Courier New"/>
              </a:rPr>
              <a:t>TOOLS &amp; STACK</a:t>
            </a:r>
            <a:endParaRPr b="0" i="0" sz="1800" u="none" cap="none" strike="noStrike">
              <a:solidFill>
                <a:schemeClr val="dk1"/>
              </a:solidFill>
              <a:latin typeface="Calibri"/>
              <a:ea typeface="Calibri"/>
              <a:cs typeface="Calibri"/>
              <a:sym typeface="Calibri"/>
            </a:endParaRPr>
          </a:p>
        </p:txBody>
      </p:sp>
      <p:sp>
        <p:nvSpPr>
          <p:cNvPr id="134" name="Google Shape;134;g3e441bb160a_1_78"/>
          <p:cNvSpPr/>
          <p:nvPr/>
        </p:nvSpPr>
        <p:spPr>
          <a:xfrm>
            <a:off x="3206800" y="8762850"/>
            <a:ext cx="11423700" cy="409500"/>
          </a:xfrm>
          <a:prstGeom prst="rect">
            <a:avLst/>
          </a:prstGeom>
          <a:noFill/>
          <a:ln>
            <a:noFill/>
          </a:ln>
        </p:spPr>
        <p:txBody>
          <a:bodyPr anchorCtr="0" anchor="t" bIns="25400" lIns="25400" spcFirstLastPara="1" rIns="25400" wrap="square" tIns="25400">
            <a:noAutofit/>
          </a:bodyPr>
          <a:lstStyle/>
          <a:p>
            <a:pPr indent="0" lvl="0" marL="0" marR="0" rtl="0" algn="l">
              <a:lnSpc>
                <a:spcPct val="150000"/>
              </a:lnSpc>
              <a:spcBef>
                <a:spcPts val="0"/>
              </a:spcBef>
              <a:spcAft>
                <a:spcPts val="0"/>
              </a:spcAft>
              <a:buClr>
                <a:srgbClr val="1A1714"/>
              </a:buClr>
              <a:buSzPts val="1950"/>
              <a:buFont typeface="Arial"/>
              <a:buNone/>
            </a:pPr>
            <a:r>
              <a:rPr b="0" i="0" lang="en-US" sz="1950" u="none" cap="none" strike="noStrike">
                <a:solidFill>
                  <a:srgbClr val="1A1714"/>
                </a:solidFill>
                <a:latin typeface="Arial"/>
                <a:ea typeface="Arial"/>
                <a:cs typeface="Arial"/>
                <a:sym typeface="Arial"/>
              </a:rPr>
              <a:t>Streamlit · BeautifulSoup ·</a:t>
            </a:r>
            <a:r>
              <a:rPr lang="en-US" sz="1950">
                <a:solidFill>
                  <a:srgbClr val="1A1714"/>
                </a:solidFill>
              </a:rPr>
              <a:t>SentenceTransformer </a:t>
            </a:r>
            <a:r>
              <a:rPr lang="en-US" sz="1950">
                <a:solidFill>
                  <a:srgbClr val="1A1714"/>
                </a:solidFill>
              </a:rPr>
              <a:t>· </a:t>
            </a:r>
            <a:r>
              <a:rPr b="0" i="0" lang="en-US" sz="1950" u="none" cap="none" strike="noStrike">
                <a:solidFill>
                  <a:srgbClr val="1A1714"/>
                </a:solidFill>
                <a:latin typeface="Arial"/>
                <a:ea typeface="Arial"/>
                <a:cs typeface="Arial"/>
                <a:sym typeface="Arial"/>
              </a:rPr>
              <a:t> ChromaDB · OpenAI API · regex PII redaction</a:t>
            </a:r>
            <a:endParaRPr b="0" i="0" sz="1950" u="none" cap="none" strike="noStrike">
              <a:solidFill>
                <a:schemeClr val="dk1"/>
              </a:solidFill>
              <a:latin typeface="Calibri"/>
              <a:ea typeface="Calibri"/>
              <a:cs typeface="Calibri"/>
              <a:sym typeface="Calibri"/>
            </a:endParaRPr>
          </a:p>
        </p:txBody>
      </p:sp>
      <p:sp>
        <p:nvSpPr>
          <p:cNvPr id="135" name="Google Shape;135;g3e441bb160a_1_78"/>
          <p:cNvSpPr txBox="1"/>
          <p:nvPr/>
        </p:nvSpPr>
        <p:spPr>
          <a:xfrm>
            <a:off x="914400" y="2799625"/>
            <a:ext cx="1848000" cy="5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t> User Query </a:t>
            </a:r>
            <a:endParaRPr sz="2300"/>
          </a:p>
        </p:txBody>
      </p:sp>
      <p:cxnSp>
        <p:nvCxnSpPr>
          <p:cNvPr id="136" name="Google Shape;136;g3e441bb160a_1_78"/>
          <p:cNvCxnSpPr/>
          <p:nvPr/>
        </p:nvCxnSpPr>
        <p:spPr>
          <a:xfrm>
            <a:off x="1657350" y="3324875"/>
            <a:ext cx="0" cy="400200"/>
          </a:xfrm>
          <a:prstGeom prst="straightConnector1">
            <a:avLst/>
          </a:prstGeom>
          <a:noFill/>
          <a:ln cap="flat" cmpd="sng" w="9525">
            <a:solidFill>
              <a:schemeClr val="dk2"/>
            </a:solidFill>
            <a:prstDash val="solid"/>
            <a:round/>
            <a:headEnd len="med" w="med" type="none"/>
            <a:tailEnd len="med" w="med" type="triangle"/>
          </a:ln>
        </p:spPr>
      </p:cxnSp>
      <p:sp>
        <p:nvSpPr>
          <p:cNvPr id="137" name="Google Shape;137;g3e441bb160a_1_78"/>
          <p:cNvSpPr txBox="1"/>
          <p:nvPr/>
        </p:nvSpPr>
        <p:spPr>
          <a:xfrm>
            <a:off x="1143000" y="3733800"/>
            <a:ext cx="14478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3e441bb160a_1_78"/>
          <p:cNvSpPr txBox="1"/>
          <p:nvPr/>
        </p:nvSpPr>
        <p:spPr>
          <a:xfrm>
            <a:off x="914400" y="3679038"/>
            <a:ext cx="3067200" cy="5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t> Filter Keywords</a:t>
            </a:r>
            <a:endParaRPr sz="2300"/>
          </a:p>
        </p:txBody>
      </p:sp>
      <p:cxnSp>
        <p:nvCxnSpPr>
          <p:cNvPr id="139" name="Google Shape;139;g3e441bb160a_1_78"/>
          <p:cNvCxnSpPr/>
          <p:nvPr/>
        </p:nvCxnSpPr>
        <p:spPr>
          <a:xfrm>
            <a:off x="3371850" y="3943350"/>
            <a:ext cx="1066800" cy="0"/>
          </a:xfrm>
          <a:prstGeom prst="straightConnector1">
            <a:avLst/>
          </a:prstGeom>
          <a:noFill/>
          <a:ln cap="flat" cmpd="sng" w="9525">
            <a:solidFill>
              <a:schemeClr val="dk2"/>
            </a:solidFill>
            <a:prstDash val="solid"/>
            <a:round/>
            <a:headEnd len="med" w="med" type="none"/>
            <a:tailEnd len="med" w="med" type="triangle"/>
          </a:ln>
        </p:spPr>
      </p:cxnSp>
      <p:sp>
        <p:nvSpPr>
          <p:cNvPr id="140" name="Google Shape;140;g3e441bb160a_1_78"/>
          <p:cNvSpPr txBox="1"/>
          <p:nvPr/>
        </p:nvSpPr>
        <p:spPr>
          <a:xfrm>
            <a:off x="4610100" y="3654275"/>
            <a:ext cx="3067200" cy="5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t>Off Topic</a:t>
            </a:r>
            <a:endParaRPr sz="2300"/>
          </a:p>
        </p:txBody>
      </p:sp>
      <p:cxnSp>
        <p:nvCxnSpPr>
          <p:cNvPr id="141" name="Google Shape;141;g3e441bb160a_1_78"/>
          <p:cNvCxnSpPr/>
          <p:nvPr/>
        </p:nvCxnSpPr>
        <p:spPr>
          <a:xfrm>
            <a:off x="6324600" y="3969600"/>
            <a:ext cx="1066800" cy="0"/>
          </a:xfrm>
          <a:prstGeom prst="straightConnector1">
            <a:avLst/>
          </a:prstGeom>
          <a:noFill/>
          <a:ln cap="flat" cmpd="sng" w="9525">
            <a:solidFill>
              <a:schemeClr val="dk2"/>
            </a:solidFill>
            <a:prstDash val="solid"/>
            <a:round/>
            <a:headEnd len="med" w="med" type="none"/>
            <a:tailEnd len="med" w="med" type="triangle"/>
          </a:ln>
        </p:spPr>
      </p:cxnSp>
      <p:sp>
        <p:nvSpPr>
          <p:cNvPr id="142" name="Google Shape;142;g3e441bb160a_1_78"/>
          <p:cNvSpPr txBox="1"/>
          <p:nvPr/>
        </p:nvSpPr>
        <p:spPr>
          <a:xfrm>
            <a:off x="7610400" y="3654288"/>
            <a:ext cx="3067200" cy="5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t>Polite Redirect </a:t>
            </a:r>
            <a:endParaRPr sz="2300"/>
          </a:p>
        </p:txBody>
      </p:sp>
      <p:cxnSp>
        <p:nvCxnSpPr>
          <p:cNvPr id="143" name="Google Shape;143;g3e441bb160a_1_78"/>
          <p:cNvCxnSpPr/>
          <p:nvPr/>
        </p:nvCxnSpPr>
        <p:spPr>
          <a:xfrm>
            <a:off x="1657350" y="4333238"/>
            <a:ext cx="0" cy="400200"/>
          </a:xfrm>
          <a:prstGeom prst="straightConnector1">
            <a:avLst/>
          </a:prstGeom>
          <a:noFill/>
          <a:ln cap="flat" cmpd="sng" w="9525">
            <a:solidFill>
              <a:schemeClr val="dk2"/>
            </a:solidFill>
            <a:prstDash val="solid"/>
            <a:round/>
            <a:headEnd len="med" w="med" type="none"/>
            <a:tailEnd len="med" w="med" type="triangle"/>
          </a:ln>
        </p:spPr>
      </p:cxnSp>
      <p:cxnSp>
        <p:nvCxnSpPr>
          <p:cNvPr id="144" name="Google Shape;144;g3e441bb160a_1_78"/>
          <p:cNvCxnSpPr/>
          <p:nvPr/>
        </p:nvCxnSpPr>
        <p:spPr>
          <a:xfrm>
            <a:off x="16154400" y="8229600"/>
            <a:ext cx="0" cy="723900"/>
          </a:xfrm>
          <a:prstGeom prst="straightConnector1">
            <a:avLst/>
          </a:prstGeom>
          <a:noFill/>
          <a:ln cap="flat" cmpd="sng" w="9525">
            <a:solidFill>
              <a:schemeClr val="dk2"/>
            </a:solidFill>
            <a:prstDash val="solid"/>
            <a:round/>
            <a:headEnd len="med" w="med" type="none"/>
            <a:tailEnd len="med" w="med" type="triangle"/>
          </a:ln>
        </p:spPr>
      </p:cxnSp>
      <p:sp>
        <p:nvSpPr>
          <p:cNvPr id="145" name="Google Shape;145;g3e441bb160a_1_78"/>
          <p:cNvSpPr txBox="1"/>
          <p:nvPr/>
        </p:nvSpPr>
        <p:spPr>
          <a:xfrm>
            <a:off x="15621000" y="9182100"/>
            <a:ext cx="1848000" cy="49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e441bb160a_1_78"/>
          <p:cNvSpPr txBox="1"/>
          <p:nvPr/>
        </p:nvSpPr>
        <p:spPr>
          <a:xfrm>
            <a:off x="15230400" y="9031025"/>
            <a:ext cx="3067200" cy="5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t> Display Answer + Citation</a:t>
            </a:r>
            <a:endParaRPr sz="23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ECDE"/>
        </a:solidFill>
      </p:bgPr>
    </p:bg>
    <p:spTree>
      <p:nvGrpSpPr>
        <p:cNvPr id="151" name="Shape 151"/>
        <p:cNvGrpSpPr/>
        <p:nvPr/>
      </p:nvGrpSpPr>
      <p:grpSpPr>
        <a:xfrm>
          <a:off x="0" y="0"/>
          <a:ext cx="0" cy="0"/>
          <a:chOff x="0" y="0"/>
          <a:chExt cx="0" cy="0"/>
        </a:xfrm>
      </p:grpSpPr>
      <p:sp>
        <p:nvSpPr>
          <p:cNvPr id="152" name="Google Shape;152;g3e441bb160a_1_107"/>
          <p:cNvSpPr/>
          <p:nvPr/>
        </p:nvSpPr>
        <p:spPr>
          <a:xfrm>
            <a:off x="14478000" y="-666750"/>
            <a:ext cx="1905000" cy="1905000"/>
          </a:xfrm>
          <a:prstGeom prst="ellipse">
            <a:avLst/>
          </a:prstGeom>
          <a:solidFill>
            <a:srgbClr val="D99221">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e441bb160a_1_107"/>
          <p:cNvSpPr/>
          <p:nvPr/>
        </p:nvSpPr>
        <p:spPr>
          <a:xfrm>
            <a:off x="1047750" y="917550"/>
            <a:ext cx="3717900" cy="490500"/>
          </a:xfrm>
          <a:prstGeom prst="roundRect">
            <a:avLst>
              <a:gd fmla="val 50000" name="adj"/>
            </a:avLst>
          </a:prstGeom>
          <a:solidFill>
            <a:srgbClr val="5E1F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e441bb160a_1_107"/>
          <p:cNvSpPr/>
          <p:nvPr/>
        </p:nvSpPr>
        <p:spPr>
          <a:xfrm>
            <a:off x="1238250" y="1012800"/>
            <a:ext cx="3429300" cy="3381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3ECDE"/>
              </a:buClr>
              <a:buSzPts val="1800"/>
              <a:buFont typeface="Courier New"/>
              <a:buNone/>
            </a:pPr>
            <a:r>
              <a:rPr b="0" i="0" lang="en-US" sz="1800" u="none" cap="none" strike="noStrike">
                <a:solidFill>
                  <a:srgbClr val="F3ECDE"/>
                </a:solidFill>
                <a:latin typeface="Courier New"/>
                <a:ea typeface="Courier New"/>
                <a:cs typeface="Courier New"/>
                <a:sym typeface="Courier New"/>
              </a:rPr>
              <a:t>PROJECT 1 · MIDTERM</a:t>
            </a:r>
            <a:endParaRPr b="0" i="0" sz="1800" u="none" cap="none" strike="noStrike">
              <a:solidFill>
                <a:schemeClr val="dk1"/>
              </a:solidFill>
              <a:latin typeface="Calibri"/>
              <a:ea typeface="Calibri"/>
              <a:cs typeface="Calibri"/>
              <a:sym typeface="Calibri"/>
            </a:endParaRPr>
          </a:p>
        </p:txBody>
      </p:sp>
      <p:sp>
        <p:nvSpPr>
          <p:cNvPr id="155" name="Google Shape;155;g3e441bb160a_1_107"/>
          <p:cNvSpPr/>
          <p:nvPr/>
        </p:nvSpPr>
        <p:spPr>
          <a:xfrm>
            <a:off x="1079375" y="1840650"/>
            <a:ext cx="16268700" cy="1092900"/>
          </a:xfrm>
          <a:prstGeom prst="rect">
            <a:avLst/>
          </a:prstGeom>
          <a:noFill/>
          <a:ln>
            <a:noFill/>
          </a:ln>
        </p:spPr>
        <p:txBody>
          <a:bodyPr anchorCtr="0" anchor="t" bIns="25400" lIns="25400" spcFirstLastPara="1" rIns="25400" wrap="square" tIns="25400">
            <a:noAutofit/>
          </a:bodyPr>
          <a:lstStyle/>
          <a:p>
            <a:pPr indent="0" lvl="0" marL="0" marR="0" rtl="0" algn="l">
              <a:lnSpc>
                <a:spcPct val="98000"/>
              </a:lnSpc>
              <a:spcBef>
                <a:spcPts val="0"/>
              </a:spcBef>
              <a:spcAft>
                <a:spcPts val="0"/>
              </a:spcAft>
              <a:buClr>
                <a:srgbClr val="1A1714"/>
              </a:buClr>
              <a:buSzPts val="7200"/>
              <a:buFont typeface="Georgia"/>
              <a:buNone/>
            </a:pPr>
            <a:r>
              <a:rPr lang="en-US" sz="7200">
                <a:solidFill>
                  <a:srgbClr val="1A1714"/>
                </a:solidFill>
                <a:latin typeface="Georgia"/>
                <a:ea typeface="Georgia"/>
                <a:cs typeface="Georgia"/>
                <a:sym typeface="Georgia"/>
              </a:rPr>
              <a:t>Challenges</a:t>
            </a:r>
            <a:r>
              <a:rPr b="0" i="0" lang="en-US" sz="7200" u="none" cap="none" strike="noStrike">
                <a:solidFill>
                  <a:srgbClr val="1A1714"/>
                </a:solidFill>
                <a:latin typeface="Georgia"/>
                <a:ea typeface="Georgia"/>
                <a:cs typeface="Georgia"/>
                <a:sym typeface="Georgia"/>
              </a:rPr>
              <a:t> and </a:t>
            </a:r>
            <a:r>
              <a:rPr i="1" lang="en-US" sz="7200">
                <a:solidFill>
                  <a:srgbClr val="D99221"/>
                </a:solidFill>
                <a:latin typeface="Georgia"/>
                <a:ea typeface="Georgia"/>
                <a:cs typeface="Georgia"/>
                <a:sym typeface="Georgia"/>
              </a:rPr>
              <a:t>our </a:t>
            </a:r>
            <a:r>
              <a:rPr i="1" lang="en-US" sz="7200">
                <a:solidFill>
                  <a:srgbClr val="D99221"/>
                </a:solidFill>
                <a:latin typeface="Georgia"/>
                <a:ea typeface="Georgia"/>
                <a:cs typeface="Georgia"/>
                <a:sym typeface="Georgia"/>
              </a:rPr>
              <a:t>approaches</a:t>
            </a:r>
            <a:r>
              <a:rPr i="1" lang="en-US" sz="7200">
                <a:solidFill>
                  <a:srgbClr val="D99221"/>
                </a:solidFill>
                <a:latin typeface="Georgia"/>
                <a:ea typeface="Georgia"/>
                <a:cs typeface="Georgia"/>
                <a:sym typeface="Georgia"/>
              </a:rPr>
              <a:t>.</a:t>
            </a:r>
            <a:endParaRPr b="0" i="0" sz="7200" u="none" cap="none" strike="noStrike">
              <a:solidFill>
                <a:schemeClr val="dk1"/>
              </a:solidFill>
              <a:latin typeface="Calibri"/>
              <a:ea typeface="Calibri"/>
              <a:cs typeface="Calibri"/>
              <a:sym typeface="Calibri"/>
            </a:endParaRPr>
          </a:p>
        </p:txBody>
      </p:sp>
      <p:sp>
        <p:nvSpPr>
          <p:cNvPr id="156" name="Google Shape;156;g3e441bb160a_1_107"/>
          <p:cNvSpPr/>
          <p:nvPr/>
        </p:nvSpPr>
        <p:spPr>
          <a:xfrm>
            <a:off x="1047750" y="3873550"/>
            <a:ext cx="5219700" cy="5694600"/>
          </a:xfrm>
          <a:prstGeom prst="roundRect">
            <a:avLst>
              <a:gd fmla="val 3831" name="adj"/>
            </a:avLst>
          </a:prstGeom>
          <a:solidFill>
            <a:srgbClr val="F6CD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e441bb160a_1_107"/>
          <p:cNvSpPr/>
          <p:nvPr/>
        </p:nvSpPr>
        <p:spPr>
          <a:xfrm>
            <a:off x="1333500" y="4202857"/>
            <a:ext cx="4787700" cy="295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A1714"/>
              </a:buClr>
              <a:buSzPts val="1800"/>
              <a:buFont typeface="Courier New"/>
              <a:buNone/>
            </a:pPr>
            <a:r>
              <a:rPr b="0" i="0" lang="en-US" sz="1800" u="none" cap="none" strike="noStrike">
                <a:solidFill>
                  <a:srgbClr val="1A1714"/>
                </a:solidFill>
                <a:latin typeface="Courier New"/>
                <a:ea typeface="Courier New"/>
                <a:cs typeface="Courier New"/>
                <a:sym typeface="Courier New"/>
              </a:rPr>
              <a:t>DATA</a:t>
            </a:r>
            <a:endParaRPr b="0" i="0" sz="1800" u="none" cap="none" strike="noStrike">
              <a:solidFill>
                <a:schemeClr val="dk1"/>
              </a:solidFill>
              <a:latin typeface="Calibri"/>
              <a:ea typeface="Calibri"/>
              <a:cs typeface="Calibri"/>
              <a:sym typeface="Calibri"/>
            </a:endParaRPr>
          </a:p>
        </p:txBody>
      </p:sp>
      <p:sp>
        <p:nvSpPr>
          <p:cNvPr id="158" name="Google Shape;158;g3e441bb160a_1_107"/>
          <p:cNvSpPr/>
          <p:nvPr/>
        </p:nvSpPr>
        <p:spPr>
          <a:xfrm>
            <a:off x="1333500" y="4622457"/>
            <a:ext cx="4787700" cy="902100"/>
          </a:xfrm>
          <a:prstGeom prst="rect">
            <a:avLst/>
          </a:prstGeom>
          <a:noFill/>
          <a:ln>
            <a:noFill/>
          </a:ln>
        </p:spPr>
        <p:txBody>
          <a:bodyPr anchorCtr="0" anchor="t" bIns="25400" lIns="25400" spcFirstLastPara="1" rIns="25400" wrap="square" tIns="25400">
            <a:noAutofit/>
          </a:bodyPr>
          <a:lstStyle/>
          <a:p>
            <a:pPr indent="0" lvl="0" marL="0" marR="0" rtl="0" algn="l">
              <a:lnSpc>
                <a:spcPct val="108000"/>
              </a:lnSpc>
              <a:spcBef>
                <a:spcPts val="0"/>
              </a:spcBef>
              <a:spcAft>
                <a:spcPts val="0"/>
              </a:spcAft>
              <a:buClr>
                <a:srgbClr val="1A1714"/>
              </a:buClr>
              <a:buSzPts val="3150"/>
              <a:buFont typeface="Georgia"/>
              <a:buNone/>
            </a:pPr>
            <a:r>
              <a:rPr b="1" lang="en-US" sz="3150">
                <a:solidFill>
                  <a:srgbClr val="1A1714"/>
                </a:solidFill>
                <a:latin typeface="Georgia"/>
                <a:ea typeface="Georgia"/>
                <a:cs typeface="Georgia"/>
                <a:sym typeface="Georgia"/>
              </a:rPr>
              <a:t>Broaden knowledge base</a:t>
            </a:r>
            <a:endParaRPr b="0" i="0" sz="3150" u="none" cap="none" strike="noStrike">
              <a:solidFill>
                <a:schemeClr val="dk1"/>
              </a:solidFill>
              <a:latin typeface="Calibri"/>
              <a:ea typeface="Calibri"/>
              <a:cs typeface="Calibri"/>
              <a:sym typeface="Calibri"/>
            </a:endParaRPr>
          </a:p>
        </p:txBody>
      </p:sp>
      <p:sp>
        <p:nvSpPr>
          <p:cNvPr id="159" name="Google Shape;159;g3e441bb160a_1_107"/>
          <p:cNvSpPr/>
          <p:nvPr/>
        </p:nvSpPr>
        <p:spPr>
          <a:xfrm>
            <a:off x="1333500" y="5900200"/>
            <a:ext cx="4852800" cy="1092900"/>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3D352C"/>
              </a:buClr>
              <a:buSzPts val="1950"/>
              <a:buFont typeface="Arial"/>
              <a:buNone/>
            </a:pPr>
            <a:r>
              <a:rPr lang="en-US" sz="1950">
                <a:solidFill>
                  <a:schemeClr val="dk1"/>
                </a:solidFill>
                <a:latin typeface="Calibri"/>
                <a:ea typeface="Calibri"/>
                <a:cs typeface="Calibri"/>
                <a:sym typeface="Calibri"/>
              </a:rPr>
              <a:t>we encountered a problem that the chatbot frequently responded with 'I don't have enough information' when users posed questions</a:t>
            </a:r>
            <a:endParaRPr b="0" i="0" sz="1950" u="none" cap="none" strike="noStrike">
              <a:solidFill>
                <a:schemeClr val="dk1"/>
              </a:solidFill>
              <a:latin typeface="Calibri"/>
              <a:ea typeface="Calibri"/>
              <a:cs typeface="Calibri"/>
              <a:sym typeface="Calibri"/>
            </a:endParaRPr>
          </a:p>
        </p:txBody>
      </p:sp>
      <p:sp>
        <p:nvSpPr>
          <p:cNvPr id="160" name="Google Shape;160;g3e441bb160a_1_107"/>
          <p:cNvSpPr/>
          <p:nvPr/>
        </p:nvSpPr>
        <p:spPr>
          <a:xfrm>
            <a:off x="1302850" y="7875233"/>
            <a:ext cx="4648200" cy="14400"/>
          </a:xfrm>
          <a:prstGeom prst="rect">
            <a:avLst/>
          </a:prstGeom>
          <a:solidFill>
            <a:srgbClr val="1A1714">
              <a:alpha val="3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e441bb160a_1_107"/>
          <p:cNvSpPr/>
          <p:nvPr/>
        </p:nvSpPr>
        <p:spPr>
          <a:xfrm>
            <a:off x="1333500" y="8037609"/>
            <a:ext cx="4787700" cy="35820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E34A26"/>
              </a:buClr>
              <a:buSzPts val="1800"/>
              <a:buFont typeface="Courier New"/>
              <a:buNone/>
            </a:pPr>
            <a:r>
              <a:rPr b="1" i="0" lang="en-US" sz="1800" u="none" cap="none" strike="noStrike">
                <a:solidFill>
                  <a:srgbClr val="E34A26"/>
                </a:solidFill>
                <a:latin typeface="Courier New"/>
                <a:ea typeface="Courier New"/>
                <a:cs typeface="Courier New"/>
                <a:sym typeface="Courier New"/>
              </a:rPr>
              <a:t>FIX</a:t>
            </a:r>
            <a:endParaRPr b="0" i="0" sz="1800" u="none" cap="none" strike="noStrike">
              <a:solidFill>
                <a:schemeClr val="dk1"/>
              </a:solidFill>
              <a:latin typeface="Calibri"/>
              <a:ea typeface="Calibri"/>
              <a:cs typeface="Calibri"/>
              <a:sym typeface="Calibri"/>
            </a:endParaRPr>
          </a:p>
        </p:txBody>
      </p:sp>
      <p:sp>
        <p:nvSpPr>
          <p:cNvPr id="162" name="Google Shape;162;g3e441bb160a_1_107"/>
          <p:cNvSpPr/>
          <p:nvPr/>
        </p:nvSpPr>
        <p:spPr>
          <a:xfrm>
            <a:off x="1333500" y="8395239"/>
            <a:ext cx="4587000" cy="304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714"/>
              </a:buClr>
              <a:buSzPts val="1800"/>
              <a:buFont typeface="Arial"/>
              <a:buNone/>
            </a:pPr>
            <a:r>
              <a:rPr b="0" i="0" lang="en-US" sz="1800" u="none" cap="none" strike="noStrike">
                <a:solidFill>
                  <a:srgbClr val="1A1714"/>
                </a:solidFill>
                <a:latin typeface="Arial"/>
                <a:ea typeface="Arial"/>
                <a:cs typeface="Arial"/>
                <a:sym typeface="Arial"/>
              </a:rPr>
              <a:t>Custom cleaner + re-chunk by topic, </a:t>
            </a:r>
            <a:r>
              <a:rPr lang="en-US" sz="1800">
                <a:solidFill>
                  <a:srgbClr val="1A1714"/>
                </a:solidFill>
              </a:rPr>
              <a:t>expanding our data corpus (from webscraping only 9 —&gt; 14 pages)</a:t>
            </a:r>
            <a:endParaRPr b="0" i="0" sz="1800" u="none" cap="none" strike="noStrike">
              <a:solidFill>
                <a:schemeClr val="dk1"/>
              </a:solidFill>
              <a:latin typeface="Calibri"/>
              <a:ea typeface="Calibri"/>
              <a:cs typeface="Calibri"/>
              <a:sym typeface="Calibri"/>
            </a:endParaRPr>
          </a:p>
        </p:txBody>
      </p:sp>
      <p:sp>
        <p:nvSpPr>
          <p:cNvPr id="163" name="Google Shape;163;g3e441bb160a_1_107"/>
          <p:cNvSpPr/>
          <p:nvPr/>
        </p:nvSpPr>
        <p:spPr>
          <a:xfrm>
            <a:off x="6534150" y="3873550"/>
            <a:ext cx="5219700" cy="5694600"/>
          </a:xfrm>
          <a:prstGeom prst="roundRect">
            <a:avLst>
              <a:gd fmla="val 3831" name="adj"/>
            </a:avLst>
          </a:prstGeom>
          <a:solidFill>
            <a:srgbClr val="F3DC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e441bb160a_1_107"/>
          <p:cNvSpPr/>
          <p:nvPr/>
        </p:nvSpPr>
        <p:spPr>
          <a:xfrm>
            <a:off x="6750175" y="4104607"/>
            <a:ext cx="4787700" cy="295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A1714"/>
              </a:buClr>
              <a:buSzPts val="1800"/>
              <a:buFont typeface="Courier New"/>
              <a:buNone/>
            </a:pPr>
            <a:r>
              <a:rPr b="0" i="0" lang="en-US" sz="1800" u="none" cap="none" strike="noStrike">
                <a:solidFill>
                  <a:srgbClr val="1A1714"/>
                </a:solidFill>
                <a:latin typeface="Courier New"/>
                <a:ea typeface="Courier New"/>
                <a:cs typeface="Courier New"/>
                <a:sym typeface="Courier New"/>
              </a:rPr>
              <a:t>LLM BEHAVIOR</a:t>
            </a:r>
            <a:endParaRPr b="0" i="0" sz="1800" u="none" cap="none" strike="noStrike">
              <a:solidFill>
                <a:schemeClr val="dk1"/>
              </a:solidFill>
              <a:latin typeface="Calibri"/>
              <a:ea typeface="Calibri"/>
              <a:cs typeface="Calibri"/>
              <a:sym typeface="Calibri"/>
            </a:endParaRPr>
          </a:p>
        </p:txBody>
      </p:sp>
      <p:sp>
        <p:nvSpPr>
          <p:cNvPr id="165" name="Google Shape;165;g3e441bb160a_1_107"/>
          <p:cNvSpPr/>
          <p:nvPr/>
        </p:nvSpPr>
        <p:spPr>
          <a:xfrm>
            <a:off x="6750150" y="4622450"/>
            <a:ext cx="4787700" cy="902100"/>
          </a:xfrm>
          <a:prstGeom prst="rect">
            <a:avLst/>
          </a:prstGeom>
          <a:noFill/>
          <a:ln>
            <a:noFill/>
          </a:ln>
        </p:spPr>
        <p:txBody>
          <a:bodyPr anchorCtr="0" anchor="t" bIns="25400" lIns="25400" spcFirstLastPara="1" rIns="25400" wrap="square" tIns="25400">
            <a:noAutofit/>
          </a:bodyPr>
          <a:lstStyle/>
          <a:p>
            <a:pPr indent="0" lvl="0" marL="0" marR="0" rtl="0" algn="l">
              <a:lnSpc>
                <a:spcPct val="108000"/>
              </a:lnSpc>
              <a:spcBef>
                <a:spcPts val="0"/>
              </a:spcBef>
              <a:spcAft>
                <a:spcPts val="0"/>
              </a:spcAft>
              <a:buClr>
                <a:srgbClr val="1A1714"/>
              </a:buClr>
              <a:buSzPts val="3150"/>
              <a:buFont typeface="Georgia"/>
              <a:buNone/>
            </a:pPr>
            <a:r>
              <a:rPr b="1" i="0" lang="en-US" sz="3150" u="none" cap="none" strike="noStrike">
                <a:solidFill>
                  <a:srgbClr val="1A1714"/>
                </a:solidFill>
                <a:latin typeface="Georgia"/>
                <a:ea typeface="Georgia"/>
                <a:cs typeface="Georgia"/>
                <a:sym typeface="Georgia"/>
              </a:rPr>
              <a:t>Prompts </a:t>
            </a:r>
            <a:r>
              <a:rPr b="1" lang="en-US" sz="3150">
                <a:solidFill>
                  <a:srgbClr val="1A1714"/>
                </a:solidFill>
                <a:latin typeface="Georgia"/>
                <a:ea typeface="Georgia"/>
                <a:cs typeface="Georgia"/>
                <a:sym typeface="Georgia"/>
              </a:rPr>
              <a:t>allow limited questions</a:t>
            </a:r>
            <a:endParaRPr b="0" i="0" sz="3150" u="none" cap="none" strike="noStrike">
              <a:solidFill>
                <a:schemeClr val="dk1"/>
              </a:solidFill>
              <a:latin typeface="Calibri"/>
              <a:ea typeface="Calibri"/>
              <a:cs typeface="Calibri"/>
              <a:sym typeface="Calibri"/>
            </a:endParaRPr>
          </a:p>
        </p:txBody>
      </p:sp>
      <p:sp>
        <p:nvSpPr>
          <p:cNvPr id="166" name="Google Shape;166;g3e441bb160a_1_107"/>
          <p:cNvSpPr/>
          <p:nvPr/>
        </p:nvSpPr>
        <p:spPr>
          <a:xfrm>
            <a:off x="6750175" y="5959686"/>
            <a:ext cx="4787700" cy="1795800"/>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3D352C"/>
              </a:buClr>
              <a:buSzPts val="1950"/>
              <a:buFont typeface="Arial"/>
              <a:buNone/>
            </a:pPr>
            <a:r>
              <a:rPr lang="en-US" sz="1950">
                <a:solidFill>
                  <a:schemeClr val="dk1"/>
                </a:solidFill>
                <a:latin typeface="Calibri"/>
                <a:ea typeface="Calibri"/>
                <a:cs typeface="Calibri"/>
                <a:sym typeface="Calibri"/>
              </a:rPr>
              <a:t>There would be an error when the user asked two questions in one prompt, because of the way our retriever embeds the entire multi-question prompt as one vector</a:t>
            </a:r>
            <a:endParaRPr b="0" i="0" sz="1950" u="none" cap="none" strike="noStrike">
              <a:solidFill>
                <a:schemeClr val="dk1"/>
              </a:solidFill>
              <a:latin typeface="Calibri"/>
              <a:ea typeface="Calibri"/>
              <a:cs typeface="Calibri"/>
              <a:sym typeface="Calibri"/>
            </a:endParaRPr>
          </a:p>
        </p:txBody>
      </p:sp>
      <p:sp>
        <p:nvSpPr>
          <p:cNvPr id="167" name="Google Shape;167;g3e441bb160a_1_107"/>
          <p:cNvSpPr/>
          <p:nvPr/>
        </p:nvSpPr>
        <p:spPr>
          <a:xfrm>
            <a:off x="6819900" y="7889528"/>
            <a:ext cx="4648200" cy="14288"/>
          </a:xfrm>
          <a:prstGeom prst="rect">
            <a:avLst/>
          </a:prstGeom>
          <a:solidFill>
            <a:srgbClr val="1A1714">
              <a:alpha val="3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e441bb160a_1_107"/>
          <p:cNvSpPr/>
          <p:nvPr/>
        </p:nvSpPr>
        <p:spPr>
          <a:xfrm>
            <a:off x="6819900" y="8075265"/>
            <a:ext cx="4787646" cy="35808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E34A26"/>
              </a:buClr>
              <a:buSzPts val="1800"/>
              <a:buFont typeface="Courier New"/>
              <a:buNone/>
            </a:pPr>
            <a:r>
              <a:rPr b="1" i="0" lang="en-US" sz="1800" u="none" cap="none" strike="noStrike">
                <a:solidFill>
                  <a:srgbClr val="E34A26"/>
                </a:solidFill>
                <a:latin typeface="Courier New"/>
                <a:ea typeface="Courier New"/>
                <a:cs typeface="Courier New"/>
                <a:sym typeface="Courier New"/>
              </a:rPr>
              <a:t>FIX</a:t>
            </a:r>
            <a:endParaRPr b="0" i="0" sz="1800" u="none" cap="none" strike="noStrike">
              <a:solidFill>
                <a:schemeClr val="dk1"/>
              </a:solidFill>
              <a:latin typeface="Calibri"/>
              <a:ea typeface="Calibri"/>
              <a:cs typeface="Calibri"/>
              <a:sym typeface="Calibri"/>
            </a:endParaRPr>
          </a:p>
        </p:txBody>
      </p:sp>
      <p:sp>
        <p:nvSpPr>
          <p:cNvPr id="169" name="Google Shape;169;g3e441bb160a_1_107"/>
          <p:cNvSpPr/>
          <p:nvPr/>
        </p:nvSpPr>
        <p:spPr>
          <a:xfrm>
            <a:off x="6819900" y="8476200"/>
            <a:ext cx="4718100" cy="624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714"/>
              </a:buClr>
              <a:buSzPts val="1800"/>
              <a:buFont typeface="Arial"/>
              <a:buNone/>
            </a:pPr>
            <a:r>
              <a:rPr lang="en-US" sz="1800">
                <a:solidFill>
                  <a:srgbClr val="1A1714"/>
                </a:solidFill>
              </a:rPr>
              <a:t>Multi-query retrieval + Query decomposition</a:t>
            </a:r>
            <a:endParaRPr b="0" i="0" sz="1800" u="none" cap="none" strike="noStrike">
              <a:solidFill>
                <a:schemeClr val="dk1"/>
              </a:solidFill>
              <a:latin typeface="Calibri"/>
              <a:ea typeface="Calibri"/>
              <a:cs typeface="Calibri"/>
              <a:sym typeface="Calibri"/>
            </a:endParaRPr>
          </a:p>
        </p:txBody>
      </p:sp>
      <p:sp>
        <p:nvSpPr>
          <p:cNvPr id="170" name="Google Shape;170;g3e441bb160a_1_107"/>
          <p:cNvSpPr/>
          <p:nvPr/>
        </p:nvSpPr>
        <p:spPr>
          <a:xfrm>
            <a:off x="12020550" y="3873550"/>
            <a:ext cx="5219700" cy="5694600"/>
          </a:xfrm>
          <a:prstGeom prst="roundRect">
            <a:avLst>
              <a:gd fmla="val 3831" name="adj"/>
            </a:avLst>
          </a:prstGeom>
          <a:solidFill>
            <a:srgbClr val="B5D4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3e441bb160a_1_107"/>
          <p:cNvSpPr/>
          <p:nvPr/>
        </p:nvSpPr>
        <p:spPr>
          <a:xfrm>
            <a:off x="12306300" y="4202820"/>
            <a:ext cx="4787700" cy="295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A1714"/>
              </a:buClr>
              <a:buSzPts val="1800"/>
              <a:buFont typeface="Courier New"/>
              <a:buNone/>
            </a:pPr>
            <a:r>
              <a:rPr lang="en-US" sz="1800">
                <a:solidFill>
                  <a:srgbClr val="1A1714"/>
                </a:solidFill>
                <a:latin typeface="Courier New"/>
                <a:ea typeface="Courier New"/>
                <a:cs typeface="Courier New"/>
                <a:sym typeface="Courier New"/>
              </a:rPr>
              <a:t>Evaluation</a:t>
            </a:r>
            <a:endParaRPr b="0" i="0" sz="1800" u="none" cap="none" strike="noStrike">
              <a:solidFill>
                <a:schemeClr val="dk1"/>
              </a:solidFill>
              <a:latin typeface="Calibri"/>
              <a:ea typeface="Calibri"/>
              <a:cs typeface="Calibri"/>
              <a:sym typeface="Calibri"/>
            </a:endParaRPr>
          </a:p>
        </p:txBody>
      </p:sp>
      <p:sp>
        <p:nvSpPr>
          <p:cNvPr id="172" name="Google Shape;172;g3e441bb160a_1_107"/>
          <p:cNvSpPr/>
          <p:nvPr/>
        </p:nvSpPr>
        <p:spPr>
          <a:xfrm>
            <a:off x="12306300" y="4688482"/>
            <a:ext cx="4787700" cy="902100"/>
          </a:xfrm>
          <a:prstGeom prst="rect">
            <a:avLst/>
          </a:prstGeom>
          <a:noFill/>
          <a:ln>
            <a:noFill/>
          </a:ln>
        </p:spPr>
        <p:txBody>
          <a:bodyPr anchorCtr="0" anchor="t" bIns="25400" lIns="25400" spcFirstLastPara="1" rIns="25400" wrap="square" tIns="25400">
            <a:noAutofit/>
          </a:bodyPr>
          <a:lstStyle/>
          <a:p>
            <a:pPr indent="0" lvl="0" marL="0" marR="0" rtl="0" algn="l">
              <a:lnSpc>
                <a:spcPct val="108000"/>
              </a:lnSpc>
              <a:spcBef>
                <a:spcPts val="0"/>
              </a:spcBef>
              <a:spcAft>
                <a:spcPts val="0"/>
              </a:spcAft>
              <a:buClr>
                <a:srgbClr val="1A1714"/>
              </a:buClr>
              <a:buSzPts val="3150"/>
              <a:buFont typeface="Georgia"/>
              <a:buNone/>
            </a:pPr>
            <a:r>
              <a:rPr b="1" i="0" lang="en-US" sz="3150" u="none" cap="none" strike="noStrike">
                <a:solidFill>
                  <a:srgbClr val="1A1714"/>
                </a:solidFill>
                <a:latin typeface="Georgia"/>
                <a:ea typeface="Georgia"/>
                <a:cs typeface="Georgia"/>
                <a:sym typeface="Georgia"/>
              </a:rPr>
              <a:t>Evaluating behavior, not recall</a:t>
            </a:r>
            <a:endParaRPr b="0" i="0" sz="3150" u="none" cap="none" strike="noStrike">
              <a:solidFill>
                <a:schemeClr val="dk1"/>
              </a:solidFill>
              <a:latin typeface="Calibri"/>
              <a:ea typeface="Calibri"/>
              <a:cs typeface="Calibri"/>
              <a:sym typeface="Calibri"/>
            </a:endParaRPr>
          </a:p>
        </p:txBody>
      </p:sp>
      <p:sp>
        <p:nvSpPr>
          <p:cNvPr id="173" name="Google Shape;173;g3e441bb160a_1_107"/>
          <p:cNvSpPr/>
          <p:nvPr/>
        </p:nvSpPr>
        <p:spPr>
          <a:xfrm>
            <a:off x="12306300" y="5900200"/>
            <a:ext cx="4787700" cy="2309400"/>
          </a:xfrm>
          <a:prstGeom prst="rect">
            <a:avLst/>
          </a:prstGeom>
          <a:noFill/>
          <a:ln>
            <a:noFill/>
          </a:ln>
        </p:spPr>
        <p:txBody>
          <a:bodyPr anchorCtr="0" anchor="t" bIns="25400" lIns="25400" spcFirstLastPara="1" rIns="25400" wrap="square" tIns="25400">
            <a:noAutofit/>
          </a:bodyPr>
          <a:lstStyle/>
          <a:p>
            <a:pPr indent="0" lvl="0" marL="0" marR="0" rtl="0" algn="l">
              <a:lnSpc>
                <a:spcPct val="142000"/>
              </a:lnSpc>
              <a:spcBef>
                <a:spcPts val="0"/>
              </a:spcBef>
              <a:spcAft>
                <a:spcPts val="0"/>
              </a:spcAft>
              <a:buClr>
                <a:srgbClr val="3D352C"/>
              </a:buClr>
              <a:buSzPts val="1950"/>
              <a:buFont typeface="Arial"/>
              <a:buNone/>
            </a:pPr>
            <a:r>
              <a:rPr i="0" lang="en-US" sz="1950" u="none" cap="none" strike="noStrike">
                <a:solidFill>
                  <a:srgbClr val="3D352C"/>
                </a:solidFill>
                <a:latin typeface="Calibri"/>
                <a:ea typeface="Calibri"/>
                <a:cs typeface="Calibri"/>
                <a:sym typeface="Calibri"/>
              </a:rPr>
              <a:t>Retrieval recall alone doesn't catch hallucinations or bad refusals. We </a:t>
            </a:r>
            <a:r>
              <a:rPr lang="en-US" sz="1950">
                <a:solidFill>
                  <a:srgbClr val="3D352C"/>
                </a:solidFill>
                <a:latin typeface="Calibri"/>
                <a:ea typeface="Calibri"/>
                <a:cs typeface="Calibri"/>
                <a:sym typeface="Calibri"/>
              </a:rPr>
              <a:t>used the</a:t>
            </a:r>
            <a:r>
              <a:rPr i="0" lang="en-US" sz="1950" u="none" cap="none" strike="noStrike">
                <a:solidFill>
                  <a:srgbClr val="3D352C"/>
                </a:solidFill>
                <a:latin typeface="Calibri"/>
                <a:ea typeface="Calibri"/>
                <a:cs typeface="Calibri"/>
                <a:sym typeface="Calibri"/>
              </a:rPr>
              <a:t>  </a:t>
            </a:r>
            <a:r>
              <a:rPr b="1" i="0" lang="en-US" sz="1950" u="none" cap="none" strike="noStrike">
                <a:solidFill>
                  <a:srgbClr val="3D352C"/>
                </a:solidFill>
                <a:latin typeface="Calibri"/>
                <a:ea typeface="Calibri"/>
                <a:cs typeface="Calibri"/>
                <a:sym typeface="Calibri"/>
              </a:rPr>
              <a:t>harness agent </a:t>
            </a:r>
            <a:r>
              <a:rPr i="0" lang="en-US" sz="1950" u="none" cap="none" strike="noStrike">
                <a:solidFill>
                  <a:srgbClr val="3D352C"/>
                </a:solidFill>
                <a:latin typeface="Calibri"/>
                <a:ea typeface="Calibri"/>
                <a:cs typeface="Calibri"/>
                <a:sym typeface="Calibri"/>
              </a:rPr>
              <a:t>that probes the bot and scores faithfulness, relevance, refusal quality, and citation accuracy.</a:t>
            </a:r>
            <a:endParaRPr i="0" sz="1950" u="none" cap="none" strike="noStrike">
              <a:solidFill>
                <a:schemeClr val="dk1"/>
              </a:solidFill>
              <a:latin typeface="Calibri"/>
              <a:ea typeface="Calibri"/>
              <a:cs typeface="Calibri"/>
              <a:sym typeface="Calibri"/>
            </a:endParaRPr>
          </a:p>
        </p:txBody>
      </p:sp>
      <p:sp>
        <p:nvSpPr>
          <p:cNvPr id="174" name="Google Shape;174;g3e441bb160a_1_107"/>
          <p:cNvSpPr/>
          <p:nvPr/>
        </p:nvSpPr>
        <p:spPr>
          <a:xfrm>
            <a:off x="12306300" y="8209508"/>
            <a:ext cx="4648200" cy="14288"/>
          </a:xfrm>
          <a:prstGeom prst="rect">
            <a:avLst/>
          </a:prstGeom>
          <a:solidFill>
            <a:srgbClr val="1A1714">
              <a:alpha val="3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e441bb160a_1_107"/>
          <p:cNvSpPr/>
          <p:nvPr/>
        </p:nvSpPr>
        <p:spPr>
          <a:xfrm>
            <a:off x="12306300" y="8395246"/>
            <a:ext cx="4787646" cy="35808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E34A26"/>
              </a:buClr>
              <a:buSzPts val="1800"/>
              <a:buFont typeface="Courier New"/>
              <a:buNone/>
            </a:pPr>
            <a:r>
              <a:rPr b="1" i="0" lang="en-US" sz="1800" u="none" cap="none" strike="noStrike">
                <a:solidFill>
                  <a:srgbClr val="E34A26"/>
                </a:solidFill>
                <a:latin typeface="Courier New"/>
                <a:ea typeface="Courier New"/>
                <a:cs typeface="Courier New"/>
                <a:sym typeface="Courier New"/>
              </a:rPr>
              <a:t>SIGNAL</a:t>
            </a:r>
            <a:endParaRPr b="0" i="0" sz="1800" u="none" cap="none" strike="noStrike">
              <a:solidFill>
                <a:schemeClr val="dk1"/>
              </a:solidFill>
              <a:latin typeface="Calibri"/>
              <a:ea typeface="Calibri"/>
              <a:cs typeface="Calibri"/>
              <a:sym typeface="Calibri"/>
            </a:endParaRPr>
          </a:p>
        </p:txBody>
      </p:sp>
      <p:sp>
        <p:nvSpPr>
          <p:cNvPr id="176" name="Google Shape;176;g3e441bb160a_1_107"/>
          <p:cNvSpPr/>
          <p:nvPr/>
        </p:nvSpPr>
        <p:spPr>
          <a:xfrm>
            <a:off x="12306300" y="8796200"/>
            <a:ext cx="4852800" cy="304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714"/>
              </a:buClr>
              <a:buSzPts val="1800"/>
              <a:buFont typeface="Arial"/>
              <a:buNone/>
            </a:pPr>
            <a:r>
              <a:rPr lang="en-US" sz="1800">
                <a:solidFill>
                  <a:srgbClr val="1A1714"/>
                </a:solidFill>
              </a:rPr>
              <a:t>Our model passed all the tests by Harness!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ECDE"/>
        </a:solidFill>
      </p:bgPr>
    </p:bg>
    <p:spTree>
      <p:nvGrpSpPr>
        <p:cNvPr id="181" name="Shape 181"/>
        <p:cNvGrpSpPr/>
        <p:nvPr/>
      </p:nvGrpSpPr>
      <p:grpSpPr>
        <a:xfrm>
          <a:off x="0" y="0"/>
          <a:ext cx="0" cy="0"/>
          <a:chOff x="0" y="0"/>
          <a:chExt cx="0" cy="0"/>
        </a:xfrm>
      </p:grpSpPr>
      <p:sp>
        <p:nvSpPr>
          <p:cNvPr id="182" name="Google Shape;182;g3e441bb160a_1_139"/>
          <p:cNvSpPr/>
          <p:nvPr/>
        </p:nvSpPr>
        <p:spPr>
          <a:xfrm>
            <a:off x="13144500" y="-762000"/>
            <a:ext cx="2095500" cy="2095500"/>
          </a:xfrm>
          <a:prstGeom prst="ellipse">
            <a:avLst/>
          </a:prstGeom>
          <a:solidFill>
            <a:srgbClr val="E34A26">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e441bb160a_1_139"/>
          <p:cNvSpPr/>
          <p:nvPr/>
        </p:nvSpPr>
        <p:spPr>
          <a:xfrm>
            <a:off x="15240000" y="2286000"/>
            <a:ext cx="2286000" cy="2286000"/>
          </a:xfrm>
          <a:prstGeom prst="rect">
            <a:avLst/>
          </a:prstGeom>
          <a:solidFill>
            <a:srgbClr val="1F3AA8">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e441bb160a_1_139"/>
          <p:cNvSpPr/>
          <p:nvPr/>
        </p:nvSpPr>
        <p:spPr>
          <a:xfrm>
            <a:off x="1162050" y="514350"/>
            <a:ext cx="2014761" cy="414338"/>
          </a:xfrm>
          <a:prstGeom prst="roundRect">
            <a:avLst>
              <a:gd fmla="val 50000" name="adj"/>
            </a:avLst>
          </a:prstGeom>
          <a:solidFill>
            <a:srgbClr val="5E1F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e441bb160a_1_139"/>
          <p:cNvSpPr/>
          <p:nvPr/>
        </p:nvSpPr>
        <p:spPr>
          <a:xfrm>
            <a:off x="1333500" y="571500"/>
            <a:ext cx="1748061" cy="338138"/>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3ECDE"/>
              </a:buClr>
              <a:buSzPts val="1800"/>
              <a:buFont typeface="Courier New"/>
              <a:buNone/>
            </a:pPr>
            <a:r>
              <a:rPr b="0" i="0" lang="en-US" sz="1800" u="none" cap="none" strike="noStrike">
                <a:solidFill>
                  <a:srgbClr val="F3ECDE"/>
                </a:solidFill>
                <a:latin typeface="Courier New"/>
                <a:ea typeface="Courier New"/>
                <a:cs typeface="Courier New"/>
                <a:sym typeface="Courier New"/>
              </a:rPr>
              <a:t>PROJECT 1</a:t>
            </a:r>
            <a:endParaRPr b="0" i="0" sz="1800" u="none" cap="none" strike="noStrike">
              <a:solidFill>
                <a:schemeClr val="dk1"/>
              </a:solidFill>
              <a:latin typeface="Calibri"/>
              <a:ea typeface="Calibri"/>
              <a:cs typeface="Calibri"/>
              <a:sym typeface="Calibri"/>
            </a:endParaRPr>
          </a:p>
        </p:txBody>
      </p:sp>
      <p:sp>
        <p:nvSpPr>
          <p:cNvPr id="186" name="Google Shape;186;g3e441bb160a_1_139"/>
          <p:cNvSpPr/>
          <p:nvPr/>
        </p:nvSpPr>
        <p:spPr>
          <a:xfrm>
            <a:off x="16278448" y="533400"/>
            <a:ext cx="1228502" cy="295275"/>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A1714"/>
              </a:buClr>
              <a:buSzPts val="1800"/>
              <a:buFont typeface="Courier New"/>
              <a:buNone/>
            </a:pPr>
            <a:r>
              <a:rPr b="0" i="0" lang="en-US" sz="1800" u="none" cap="none" strike="noStrike">
                <a:solidFill>
                  <a:srgbClr val="1A1714"/>
                </a:solidFill>
                <a:latin typeface="Courier New"/>
                <a:ea typeface="Courier New"/>
                <a:cs typeface="Courier New"/>
                <a:sym typeface="Courier New"/>
              </a:rPr>
              <a:t>05 / 10</a:t>
            </a:r>
            <a:endParaRPr b="0" i="0" sz="1800" u="none" cap="none" strike="noStrike">
              <a:solidFill>
                <a:schemeClr val="dk1"/>
              </a:solidFill>
              <a:latin typeface="Calibri"/>
              <a:ea typeface="Calibri"/>
              <a:cs typeface="Calibri"/>
              <a:sym typeface="Calibri"/>
            </a:endParaRPr>
          </a:p>
        </p:txBody>
      </p:sp>
      <p:sp>
        <p:nvSpPr>
          <p:cNvPr id="187" name="Google Shape;187;g3e441bb160a_1_139"/>
          <p:cNvSpPr/>
          <p:nvPr/>
        </p:nvSpPr>
        <p:spPr>
          <a:xfrm>
            <a:off x="1047750" y="914400"/>
            <a:ext cx="16678275" cy="1634430"/>
          </a:xfrm>
          <a:prstGeom prst="rect">
            <a:avLst/>
          </a:prstGeom>
          <a:noFill/>
          <a:ln>
            <a:noFill/>
          </a:ln>
        </p:spPr>
        <p:txBody>
          <a:bodyPr anchorCtr="0" anchor="t" bIns="25400" lIns="25400" spcFirstLastPara="1" rIns="25400" wrap="square" tIns="25400">
            <a:noAutofit/>
          </a:bodyPr>
          <a:lstStyle/>
          <a:p>
            <a:pPr indent="0" lvl="0" marL="0" marR="0" rtl="0" algn="l">
              <a:lnSpc>
                <a:spcPct val="92000"/>
              </a:lnSpc>
              <a:spcBef>
                <a:spcPts val="0"/>
              </a:spcBef>
              <a:spcAft>
                <a:spcPts val="0"/>
              </a:spcAft>
              <a:buClr>
                <a:srgbClr val="1A1714"/>
              </a:buClr>
              <a:buSzPts val="13500"/>
              <a:buFont typeface="Georgia"/>
              <a:buNone/>
            </a:pPr>
            <a:r>
              <a:rPr b="1" i="0" lang="en-US" sz="13500" u="none" cap="none" strike="noStrike">
                <a:solidFill>
                  <a:srgbClr val="1A1714"/>
                </a:solidFill>
                <a:latin typeface="Georgia"/>
                <a:ea typeface="Georgia"/>
                <a:cs typeface="Georgia"/>
                <a:sym typeface="Georgia"/>
              </a:rPr>
              <a:t>Live </a:t>
            </a:r>
            <a:r>
              <a:rPr b="1" i="1" lang="en-US" sz="13500" u="none" cap="none" strike="noStrike">
                <a:solidFill>
                  <a:srgbClr val="E34A26"/>
                </a:solidFill>
                <a:latin typeface="Georgia"/>
                <a:ea typeface="Georgia"/>
                <a:cs typeface="Georgia"/>
                <a:sym typeface="Georgia"/>
              </a:rPr>
              <a:t>Demo</a:t>
            </a:r>
            <a:r>
              <a:rPr b="1" i="0" lang="en-US" sz="13500" u="none" cap="none" strike="noStrike">
                <a:solidFill>
                  <a:srgbClr val="1A1714"/>
                </a:solidFill>
                <a:latin typeface="Georgia"/>
                <a:ea typeface="Georgia"/>
                <a:cs typeface="Georgia"/>
                <a:sym typeface="Georgia"/>
              </a:rPr>
              <a:t>.</a:t>
            </a:r>
            <a:endParaRPr b="0" i="0" sz="13500" u="none" cap="none" strike="noStrike">
              <a:solidFill>
                <a:schemeClr val="dk1"/>
              </a:solidFill>
              <a:latin typeface="Calibri"/>
              <a:ea typeface="Calibri"/>
              <a:cs typeface="Calibri"/>
              <a:sym typeface="Calibri"/>
            </a:endParaRPr>
          </a:p>
        </p:txBody>
      </p:sp>
      <p:sp>
        <p:nvSpPr>
          <p:cNvPr id="188" name="Google Shape;188;g3e441bb160a_1_139"/>
          <p:cNvSpPr/>
          <p:nvPr/>
        </p:nvSpPr>
        <p:spPr>
          <a:xfrm>
            <a:off x="1047750" y="2739330"/>
            <a:ext cx="16678275" cy="63341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52C"/>
              </a:buClr>
              <a:buSzPts val="3600"/>
              <a:buFont typeface="Georgia"/>
              <a:buNone/>
            </a:pPr>
            <a:r>
              <a:rPr b="0" i="1" lang="en-US" sz="3600" u="none" cap="none" strike="noStrike">
                <a:solidFill>
                  <a:srgbClr val="3D352C"/>
                </a:solidFill>
                <a:latin typeface="Georgia"/>
                <a:ea typeface="Georgia"/>
                <a:cs typeface="Georgia"/>
                <a:sym typeface="Georgia"/>
              </a:rPr>
              <a:t>MSADS chatbot in Streamlit · quick walkthrough.</a:t>
            </a:r>
            <a:endParaRPr b="0" i="0" sz="3600" u="none" cap="none" strike="noStrike">
              <a:solidFill>
                <a:schemeClr val="dk1"/>
              </a:solidFill>
              <a:latin typeface="Calibri"/>
              <a:ea typeface="Calibri"/>
              <a:cs typeface="Calibri"/>
              <a:sym typeface="Calibri"/>
            </a:endParaRPr>
          </a:p>
        </p:txBody>
      </p:sp>
      <p:sp>
        <p:nvSpPr>
          <p:cNvPr id="189" name="Google Shape;189;g3e441bb160a_1_139"/>
          <p:cNvSpPr/>
          <p:nvPr/>
        </p:nvSpPr>
        <p:spPr>
          <a:xfrm>
            <a:off x="1047750" y="4905821"/>
            <a:ext cx="5257800" cy="2457450"/>
          </a:xfrm>
          <a:prstGeom prst="roundRect">
            <a:avLst>
              <a:gd fmla="val 6977" name="adj"/>
            </a:avLst>
          </a:prstGeom>
          <a:solidFill>
            <a:srgbClr val="F3ECDE"/>
          </a:solidFill>
          <a:ln cap="flat" cmpd="sng" w="19050">
            <a:solidFill>
              <a:srgbClr val="1A17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e441bb160a_1_139"/>
          <p:cNvSpPr/>
          <p:nvPr/>
        </p:nvSpPr>
        <p:spPr>
          <a:xfrm>
            <a:off x="1333500" y="5191571"/>
            <a:ext cx="4826889"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34A26"/>
              </a:buClr>
              <a:buSzPts val="1800"/>
              <a:buFont typeface="Courier New"/>
              <a:buNone/>
            </a:pPr>
            <a:r>
              <a:rPr b="1" i="0" lang="en-US" sz="1800" u="none" cap="none" strike="noStrike">
                <a:solidFill>
                  <a:srgbClr val="E34A26"/>
                </a:solidFill>
                <a:latin typeface="Courier New"/>
                <a:ea typeface="Courier New"/>
                <a:cs typeface="Courier New"/>
                <a:sym typeface="Courier New"/>
              </a:rPr>
              <a:t>01</a:t>
            </a:r>
            <a:endParaRPr b="0" i="0" sz="1800" u="none" cap="none" strike="noStrike">
              <a:solidFill>
                <a:schemeClr val="dk1"/>
              </a:solidFill>
              <a:latin typeface="Calibri"/>
              <a:ea typeface="Calibri"/>
              <a:cs typeface="Calibri"/>
              <a:sym typeface="Calibri"/>
            </a:endParaRPr>
          </a:p>
        </p:txBody>
      </p:sp>
      <p:sp>
        <p:nvSpPr>
          <p:cNvPr id="191" name="Google Shape;191;g3e441bb160a_1_139"/>
          <p:cNvSpPr/>
          <p:nvPr/>
        </p:nvSpPr>
        <p:spPr>
          <a:xfrm>
            <a:off x="1333500" y="5644009"/>
            <a:ext cx="4826889" cy="398115"/>
          </a:xfrm>
          <a:prstGeom prst="rect">
            <a:avLst/>
          </a:prstGeom>
          <a:noFill/>
          <a:ln>
            <a:noFill/>
          </a:ln>
        </p:spPr>
        <p:txBody>
          <a:bodyPr anchorCtr="0" anchor="t" bIns="25400" lIns="25400" spcFirstLastPara="1" rIns="25400" wrap="square" tIns="25400">
            <a:noAutofit/>
          </a:bodyPr>
          <a:lstStyle/>
          <a:p>
            <a:pPr indent="0" lvl="0" marL="0" marR="0" rtl="0" algn="l">
              <a:lnSpc>
                <a:spcPct val="105000"/>
              </a:lnSpc>
              <a:spcBef>
                <a:spcPts val="0"/>
              </a:spcBef>
              <a:spcAft>
                <a:spcPts val="0"/>
              </a:spcAft>
              <a:buClr>
                <a:srgbClr val="1A1714"/>
              </a:buClr>
              <a:buSzPts val="2700"/>
              <a:buFont typeface="Georgia"/>
              <a:buNone/>
            </a:pPr>
            <a:r>
              <a:rPr b="0" i="0" lang="en-US" sz="2700" u="none" cap="none" strike="noStrike">
                <a:solidFill>
                  <a:srgbClr val="1A1714"/>
                </a:solidFill>
                <a:latin typeface="Georgia"/>
                <a:ea typeface="Georgia"/>
                <a:cs typeface="Georgia"/>
                <a:sym typeface="Georgia"/>
              </a:rPr>
              <a:t>Ask a real </a:t>
            </a:r>
            <a:r>
              <a:rPr b="0" i="1" lang="en-US" sz="2700" u="none" cap="none" strike="noStrike">
                <a:solidFill>
                  <a:srgbClr val="E34A26"/>
                </a:solidFill>
                <a:latin typeface="Georgia"/>
                <a:ea typeface="Georgia"/>
                <a:cs typeface="Georgia"/>
                <a:sym typeface="Georgia"/>
              </a:rPr>
              <a:t>program question</a:t>
            </a:r>
            <a:endParaRPr b="0" i="0" sz="2700" u="none" cap="none" strike="noStrike">
              <a:solidFill>
                <a:schemeClr val="dk1"/>
              </a:solidFill>
              <a:latin typeface="Calibri"/>
              <a:ea typeface="Calibri"/>
              <a:cs typeface="Calibri"/>
              <a:sym typeface="Calibri"/>
            </a:endParaRPr>
          </a:p>
        </p:txBody>
      </p:sp>
      <p:sp>
        <p:nvSpPr>
          <p:cNvPr id="192" name="Google Shape;192;g3e441bb160a_1_139"/>
          <p:cNvSpPr/>
          <p:nvPr/>
        </p:nvSpPr>
        <p:spPr>
          <a:xfrm>
            <a:off x="1333500" y="6456611"/>
            <a:ext cx="4826889" cy="67806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3D352C"/>
              </a:buClr>
              <a:buSzPts val="1800"/>
              <a:buFont typeface="Arial"/>
              <a:buNone/>
            </a:pPr>
            <a:r>
              <a:rPr b="0" i="0" lang="en-US" sz="1800" u="none" cap="none" strike="noStrike">
                <a:solidFill>
                  <a:srgbClr val="3D352C"/>
                </a:solidFill>
                <a:latin typeface="Arial"/>
                <a:ea typeface="Arial"/>
                <a:cs typeface="Arial"/>
                <a:sym typeface="Arial"/>
              </a:rPr>
              <a:t>Watch the retrieved passages render alongside the answer.</a:t>
            </a:r>
            <a:endParaRPr b="0" i="0" sz="1800" u="none" cap="none" strike="noStrike">
              <a:solidFill>
                <a:schemeClr val="dk1"/>
              </a:solidFill>
              <a:latin typeface="Calibri"/>
              <a:ea typeface="Calibri"/>
              <a:cs typeface="Calibri"/>
              <a:sym typeface="Calibri"/>
            </a:endParaRPr>
          </a:p>
        </p:txBody>
      </p:sp>
      <p:sp>
        <p:nvSpPr>
          <p:cNvPr id="193" name="Google Shape;193;g3e441bb160a_1_139"/>
          <p:cNvSpPr/>
          <p:nvPr/>
        </p:nvSpPr>
        <p:spPr>
          <a:xfrm>
            <a:off x="6515100" y="4905821"/>
            <a:ext cx="5257800" cy="2457450"/>
          </a:xfrm>
          <a:prstGeom prst="roundRect">
            <a:avLst>
              <a:gd fmla="val 6977" name="adj"/>
            </a:avLst>
          </a:prstGeom>
          <a:solidFill>
            <a:srgbClr val="F3ECDE"/>
          </a:solidFill>
          <a:ln cap="flat" cmpd="sng" w="19050">
            <a:solidFill>
              <a:srgbClr val="1A17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e441bb160a_1_139"/>
          <p:cNvSpPr/>
          <p:nvPr/>
        </p:nvSpPr>
        <p:spPr>
          <a:xfrm>
            <a:off x="6800850" y="5191571"/>
            <a:ext cx="4826889"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34A26"/>
              </a:buClr>
              <a:buSzPts val="1800"/>
              <a:buFont typeface="Courier New"/>
              <a:buNone/>
            </a:pPr>
            <a:r>
              <a:rPr b="1" i="0" lang="en-US" sz="1800" u="none" cap="none" strike="noStrike">
                <a:solidFill>
                  <a:srgbClr val="E34A26"/>
                </a:solidFill>
                <a:latin typeface="Courier New"/>
                <a:ea typeface="Courier New"/>
                <a:cs typeface="Courier New"/>
                <a:sym typeface="Courier New"/>
              </a:rPr>
              <a:t>02</a:t>
            </a:r>
            <a:endParaRPr b="0" i="0" sz="1800" u="none" cap="none" strike="noStrike">
              <a:solidFill>
                <a:schemeClr val="dk1"/>
              </a:solidFill>
              <a:latin typeface="Calibri"/>
              <a:ea typeface="Calibri"/>
              <a:cs typeface="Calibri"/>
              <a:sym typeface="Calibri"/>
            </a:endParaRPr>
          </a:p>
        </p:txBody>
      </p:sp>
      <p:sp>
        <p:nvSpPr>
          <p:cNvPr id="195" name="Google Shape;195;g3e441bb160a_1_139"/>
          <p:cNvSpPr/>
          <p:nvPr/>
        </p:nvSpPr>
        <p:spPr>
          <a:xfrm>
            <a:off x="6800850" y="5644009"/>
            <a:ext cx="4826889" cy="398115"/>
          </a:xfrm>
          <a:prstGeom prst="rect">
            <a:avLst/>
          </a:prstGeom>
          <a:noFill/>
          <a:ln>
            <a:noFill/>
          </a:ln>
        </p:spPr>
        <p:txBody>
          <a:bodyPr anchorCtr="0" anchor="t" bIns="25400" lIns="25400" spcFirstLastPara="1" rIns="25400" wrap="square" tIns="25400">
            <a:noAutofit/>
          </a:bodyPr>
          <a:lstStyle/>
          <a:p>
            <a:pPr indent="0" lvl="0" marL="0" marR="0" rtl="0" algn="l">
              <a:lnSpc>
                <a:spcPct val="105000"/>
              </a:lnSpc>
              <a:spcBef>
                <a:spcPts val="0"/>
              </a:spcBef>
              <a:spcAft>
                <a:spcPts val="0"/>
              </a:spcAft>
              <a:buClr>
                <a:srgbClr val="1A1714"/>
              </a:buClr>
              <a:buSzPts val="2700"/>
              <a:buFont typeface="Georgia"/>
              <a:buNone/>
            </a:pPr>
            <a:r>
              <a:rPr b="0" i="0" lang="en-US" sz="2700" u="none" cap="none" strike="noStrike">
                <a:solidFill>
                  <a:srgbClr val="1A1714"/>
                </a:solidFill>
                <a:latin typeface="Georgia"/>
                <a:ea typeface="Georgia"/>
                <a:cs typeface="Georgia"/>
                <a:sym typeface="Georgia"/>
              </a:rPr>
              <a:t>Try an </a:t>
            </a:r>
            <a:r>
              <a:rPr b="0" i="1" lang="en-US" sz="2700" u="none" cap="none" strike="noStrike">
                <a:solidFill>
                  <a:srgbClr val="E34A26"/>
                </a:solidFill>
                <a:latin typeface="Georgia"/>
                <a:ea typeface="Georgia"/>
                <a:cs typeface="Georgia"/>
                <a:sym typeface="Georgia"/>
              </a:rPr>
              <a:t>off-topic </a:t>
            </a:r>
            <a:r>
              <a:rPr b="0" i="0" lang="en-US" sz="2700" u="none" cap="none" strike="noStrike">
                <a:solidFill>
                  <a:srgbClr val="1A1714"/>
                </a:solidFill>
                <a:latin typeface="Georgia"/>
                <a:ea typeface="Georgia"/>
                <a:cs typeface="Georgia"/>
                <a:sym typeface="Georgia"/>
              </a:rPr>
              <a:t>query</a:t>
            </a:r>
            <a:endParaRPr b="0" i="0" sz="2700" u="none" cap="none" strike="noStrike">
              <a:solidFill>
                <a:schemeClr val="dk1"/>
              </a:solidFill>
              <a:latin typeface="Calibri"/>
              <a:ea typeface="Calibri"/>
              <a:cs typeface="Calibri"/>
              <a:sym typeface="Calibri"/>
            </a:endParaRPr>
          </a:p>
        </p:txBody>
      </p:sp>
      <p:sp>
        <p:nvSpPr>
          <p:cNvPr id="196" name="Google Shape;196;g3e441bb160a_1_139"/>
          <p:cNvSpPr/>
          <p:nvPr/>
        </p:nvSpPr>
        <p:spPr>
          <a:xfrm>
            <a:off x="6800850" y="6456611"/>
            <a:ext cx="4826889" cy="67806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3D352C"/>
              </a:buClr>
              <a:buSzPts val="1800"/>
              <a:buFont typeface="Arial"/>
              <a:buNone/>
            </a:pPr>
            <a:r>
              <a:rPr b="0" i="0" lang="en-US" sz="1800" u="none" cap="none" strike="noStrike">
                <a:solidFill>
                  <a:srgbClr val="3D352C"/>
                </a:solidFill>
                <a:latin typeface="Arial"/>
                <a:ea typeface="Arial"/>
                <a:cs typeface="Arial"/>
                <a:sym typeface="Arial"/>
              </a:rPr>
              <a:t>Scope filter politely refuses before any API call.</a:t>
            </a:r>
            <a:endParaRPr b="0" i="0" sz="1800" u="none" cap="none" strike="noStrike">
              <a:solidFill>
                <a:schemeClr val="dk1"/>
              </a:solidFill>
              <a:latin typeface="Calibri"/>
              <a:ea typeface="Calibri"/>
              <a:cs typeface="Calibri"/>
              <a:sym typeface="Calibri"/>
            </a:endParaRPr>
          </a:p>
        </p:txBody>
      </p:sp>
      <p:sp>
        <p:nvSpPr>
          <p:cNvPr id="197" name="Google Shape;197;g3e441bb160a_1_139"/>
          <p:cNvSpPr/>
          <p:nvPr/>
        </p:nvSpPr>
        <p:spPr>
          <a:xfrm>
            <a:off x="11982450" y="4905821"/>
            <a:ext cx="5257800" cy="2457450"/>
          </a:xfrm>
          <a:prstGeom prst="roundRect">
            <a:avLst>
              <a:gd fmla="val 6977" name="adj"/>
            </a:avLst>
          </a:prstGeom>
          <a:solidFill>
            <a:srgbClr val="F3ECDE"/>
          </a:solidFill>
          <a:ln cap="flat" cmpd="sng" w="19050">
            <a:solidFill>
              <a:srgbClr val="1A17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e441bb160a_1_139"/>
          <p:cNvSpPr/>
          <p:nvPr/>
        </p:nvSpPr>
        <p:spPr>
          <a:xfrm>
            <a:off x="12268200" y="5191571"/>
            <a:ext cx="4826889"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34A26"/>
              </a:buClr>
              <a:buSzPts val="1800"/>
              <a:buFont typeface="Courier New"/>
              <a:buNone/>
            </a:pPr>
            <a:r>
              <a:rPr b="1" i="0" lang="en-US" sz="1800" u="none" cap="none" strike="noStrike">
                <a:solidFill>
                  <a:srgbClr val="E34A26"/>
                </a:solidFill>
                <a:latin typeface="Courier New"/>
                <a:ea typeface="Courier New"/>
                <a:cs typeface="Courier New"/>
                <a:sym typeface="Courier New"/>
              </a:rPr>
              <a:t>03</a:t>
            </a:r>
            <a:endParaRPr b="0" i="0" sz="1800" u="none" cap="none" strike="noStrike">
              <a:solidFill>
                <a:schemeClr val="dk1"/>
              </a:solidFill>
              <a:latin typeface="Calibri"/>
              <a:ea typeface="Calibri"/>
              <a:cs typeface="Calibri"/>
              <a:sym typeface="Calibri"/>
            </a:endParaRPr>
          </a:p>
        </p:txBody>
      </p:sp>
      <p:sp>
        <p:nvSpPr>
          <p:cNvPr id="199" name="Google Shape;199;g3e441bb160a_1_139"/>
          <p:cNvSpPr/>
          <p:nvPr/>
        </p:nvSpPr>
        <p:spPr>
          <a:xfrm>
            <a:off x="12268200" y="5644009"/>
            <a:ext cx="4826889" cy="398115"/>
          </a:xfrm>
          <a:prstGeom prst="rect">
            <a:avLst/>
          </a:prstGeom>
          <a:noFill/>
          <a:ln>
            <a:noFill/>
          </a:ln>
        </p:spPr>
        <p:txBody>
          <a:bodyPr anchorCtr="0" anchor="t" bIns="25400" lIns="25400" spcFirstLastPara="1" rIns="25400" wrap="square" tIns="25400">
            <a:noAutofit/>
          </a:bodyPr>
          <a:lstStyle/>
          <a:p>
            <a:pPr indent="0" lvl="0" marL="0" marR="0" rtl="0" algn="l">
              <a:lnSpc>
                <a:spcPct val="105000"/>
              </a:lnSpc>
              <a:spcBef>
                <a:spcPts val="0"/>
              </a:spcBef>
              <a:spcAft>
                <a:spcPts val="0"/>
              </a:spcAft>
              <a:buClr>
                <a:srgbClr val="1A1714"/>
              </a:buClr>
              <a:buSzPts val="2700"/>
              <a:buFont typeface="Georgia"/>
              <a:buNone/>
            </a:pPr>
            <a:r>
              <a:rPr b="0" i="0" lang="en-US" sz="2700" u="none" cap="none" strike="noStrike">
                <a:solidFill>
                  <a:srgbClr val="1A1714"/>
                </a:solidFill>
                <a:latin typeface="Georgia"/>
                <a:ea typeface="Georgia"/>
                <a:cs typeface="Georgia"/>
                <a:sym typeface="Georgia"/>
              </a:rPr>
              <a:t>Inspect the </a:t>
            </a:r>
            <a:r>
              <a:rPr b="0" i="1" lang="en-US" sz="2700" u="none" cap="none" strike="noStrike">
                <a:solidFill>
                  <a:srgbClr val="E34A26"/>
                </a:solidFill>
                <a:latin typeface="Georgia"/>
                <a:ea typeface="Georgia"/>
                <a:cs typeface="Georgia"/>
                <a:sym typeface="Georgia"/>
              </a:rPr>
              <a:t>citations</a:t>
            </a:r>
            <a:endParaRPr b="0" i="0" sz="2700" u="none" cap="none" strike="noStrike">
              <a:solidFill>
                <a:schemeClr val="dk1"/>
              </a:solidFill>
              <a:latin typeface="Calibri"/>
              <a:ea typeface="Calibri"/>
              <a:cs typeface="Calibri"/>
              <a:sym typeface="Calibri"/>
            </a:endParaRPr>
          </a:p>
        </p:txBody>
      </p:sp>
      <p:sp>
        <p:nvSpPr>
          <p:cNvPr id="200" name="Google Shape;200;g3e441bb160a_1_139"/>
          <p:cNvSpPr/>
          <p:nvPr/>
        </p:nvSpPr>
        <p:spPr>
          <a:xfrm>
            <a:off x="12268200" y="6456611"/>
            <a:ext cx="4826889" cy="67806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3D352C"/>
              </a:buClr>
              <a:buSzPts val="1800"/>
              <a:buFont typeface="Arial"/>
              <a:buNone/>
            </a:pPr>
            <a:r>
              <a:rPr b="0" i="0" lang="en-US" sz="1800" u="none" cap="none" strike="noStrike">
                <a:solidFill>
                  <a:srgbClr val="3D352C"/>
                </a:solidFill>
                <a:latin typeface="Arial"/>
                <a:ea typeface="Arial"/>
                <a:cs typeface="Arial"/>
                <a:sym typeface="Arial"/>
              </a:rPr>
              <a:t>Every claim ties back to a specific MSADS page.</a:t>
            </a:r>
            <a:endParaRPr b="0" i="0" sz="1800" u="none" cap="none" strike="noStrike">
              <a:solidFill>
                <a:schemeClr val="dk1"/>
              </a:solidFill>
              <a:latin typeface="Calibri"/>
              <a:ea typeface="Calibri"/>
              <a:cs typeface="Calibri"/>
              <a:sym typeface="Calibri"/>
            </a:endParaRPr>
          </a:p>
        </p:txBody>
      </p:sp>
      <p:sp>
        <p:nvSpPr>
          <p:cNvPr id="201" name="Google Shape;201;g3e441bb160a_1_139"/>
          <p:cNvSpPr/>
          <p:nvPr/>
        </p:nvSpPr>
        <p:spPr>
          <a:xfrm>
            <a:off x="1047750" y="8553450"/>
            <a:ext cx="16192500" cy="19050"/>
          </a:xfrm>
          <a:prstGeom prst="rect">
            <a:avLst/>
          </a:prstGeom>
          <a:solidFill>
            <a:srgbClr val="1A17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e441bb160a_1_139"/>
          <p:cNvSpPr/>
          <p:nvPr/>
        </p:nvSpPr>
        <p:spPr>
          <a:xfrm>
            <a:off x="15607233" y="8877300"/>
            <a:ext cx="1709217" cy="533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34A26"/>
              </a:buClr>
              <a:buSzPts val="3000"/>
              <a:buFont typeface="Georgia"/>
              <a:buNone/>
            </a:pPr>
            <a:r>
              <a:rPr b="0" i="1" lang="en-US" sz="3000" u="none" cap="none" strike="noStrike">
                <a:solidFill>
                  <a:srgbClr val="E34A26"/>
                </a:solidFill>
                <a:latin typeface="Georgia"/>
                <a:ea typeface="Georgia"/>
                <a:cs typeface="Georgia"/>
                <a:sym typeface="Georgia"/>
              </a:rPr>
              <a:t>Quick demo</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6EF"/>
        </a:solidFill>
      </p:bgPr>
    </p:bg>
    <p:spTree>
      <p:nvGrpSpPr>
        <p:cNvPr id="207" name="Shape 207"/>
        <p:cNvGrpSpPr/>
        <p:nvPr/>
      </p:nvGrpSpPr>
      <p:grpSpPr>
        <a:xfrm>
          <a:off x="0" y="0"/>
          <a:ext cx="0" cy="0"/>
          <a:chOff x="0" y="0"/>
          <a:chExt cx="0" cy="0"/>
        </a:xfrm>
      </p:grpSpPr>
      <p:sp>
        <p:nvSpPr>
          <p:cNvPr id="208" name="Google Shape;208;g3e47607800b_1_158"/>
          <p:cNvSpPr/>
          <p:nvPr/>
        </p:nvSpPr>
        <p:spPr>
          <a:xfrm>
            <a:off x="16287750" y="-952500"/>
            <a:ext cx="2476500" cy="2476500"/>
          </a:xfrm>
          <a:prstGeom prst="ellipse">
            <a:avLst/>
          </a:prstGeom>
          <a:solidFill>
            <a:srgbClr val="1F3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e47607800b_1_158"/>
          <p:cNvSpPr/>
          <p:nvPr/>
        </p:nvSpPr>
        <p:spPr>
          <a:xfrm>
            <a:off x="1047750" y="533400"/>
            <a:ext cx="4833000" cy="295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A1714"/>
              </a:buClr>
              <a:buSzPts val="1800"/>
              <a:buFont typeface="Courier New"/>
              <a:buNone/>
            </a:pPr>
            <a:r>
              <a:rPr b="0" i="0" lang="en-US" sz="1800" u="none" cap="none" strike="noStrike">
                <a:solidFill>
                  <a:srgbClr val="1A1714"/>
                </a:solidFill>
                <a:latin typeface="Courier New"/>
                <a:ea typeface="Courier New"/>
                <a:cs typeface="Courier New"/>
                <a:sym typeface="Courier New"/>
              </a:rPr>
              <a:t>PROJECT 2 · GOAL &amp; OVERVIEW</a:t>
            </a:r>
            <a:endParaRPr b="0" i="0" sz="1800" u="none" cap="none" strike="noStrike">
              <a:solidFill>
                <a:schemeClr val="dk1"/>
              </a:solidFill>
              <a:latin typeface="Calibri"/>
              <a:ea typeface="Calibri"/>
              <a:cs typeface="Calibri"/>
              <a:sym typeface="Calibri"/>
            </a:endParaRPr>
          </a:p>
        </p:txBody>
      </p:sp>
      <p:sp>
        <p:nvSpPr>
          <p:cNvPr id="210" name="Google Shape;210;g3e47607800b_1_158"/>
          <p:cNvSpPr/>
          <p:nvPr/>
        </p:nvSpPr>
        <p:spPr>
          <a:xfrm>
            <a:off x="1047750" y="1171832"/>
            <a:ext cx="3388500" cy="490500"/>
          </a:xfrm>
          <a:prstGeom prst="roundRect">
            <a:avLst>
              <a:gd fmla="val 50000" name="adj"/>
            </a:avLst>
          </a:prstGeom>
          <a:solidFill>
            <a:srgbClr val="1F3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3e47607800b_1_158"/>
          <p:cNvSpPr/>
          <p:nvPr/>
        </p:nvSpPr>
        <p:spPr>
          <a:xfrm>
            <a:off x="1238250" y="1267082"/>
            <a:ext cx="3090300" cy="3381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3ECDE"/>
              </a:buClr>
              <a:buSzPts val="1800"/>
              <a:buFont typeface="Courier New"/>
              <a:buNone/>
            </a:pPr>
            <a:r>
              <a:rPr b="0" i="0" lang="en-US" sz="1800" u="none" cap="none" strike="noStrike">
                <a:solidFill>
                  <a:srgbClr val="F3ECDE"/>
                </a:solidFill>
                <a:latin typeface="Courier New"/>
                <a:ea typeface="Courier New"/>
                <a:cs typeface="Courier New"/>
                <a:sym typeface="Courier New"/>
              </a:rPr>
              <a:t>PROJECT 2 · FINAL</a:t>
            </a:r>
            <a:endParaRPr b="0" i="0" sz="1800" u="none" cap="none" strike="noStrike">
              <a:solidFill>
                <a:schemeClr val="dk1"/>
              </a:solidFill>
              <a:latin typeface="Calibri"/>
              <a:ea typeface="Calibri"/>
              <a:cs typeface="Calibri"/>
              <a:sym typeface="Calibri"/>
            </a:endParaRPr>
          </a:p>
        </p:txBody>
      </p:sp>
      <p:sp>
        <p:nvSpPr>
          <p:cNvPr id="212" name="Google Shape;212;g3e47607800b_1_158"/>
          <p:cNvSpPr/>
          <p:nvPr/>
        </p:nvSpPr>
        <p:spPr>
          <a:xfrm>
            <a:off x="1047750" y="1630476"/>
            <a:ext cx="15697200" cy="943800"/>
          </a:xfrm>
          <a:prstGeom prst="rect">
            <a:avLst/>
          </a:prstGeom>
          <a:noFill/>
          <a:ln>
            <a:noFill/>
          </a:ln>
        </p:spPr>
        <p:txBody>
          <a:bodyPr anchorCtr="0" anchor="t" bIns="25400" lIns="25400" spcFirstLastPara="1" rIns="25400" wrap="square" tIns="25400">
            <a:noAutofit/>
          </a:bodyPr>
          <a:lstStyle/>
          <a:p>
            <a:pPr indent="0" lvl="0" marL="0" marR="0" rtl="0" algn="l">
              <a:lnSpc>
                <a:spcPct val="98000"/>
              </a:lnSpc>
              <a:spcBef>
                <a:spcPts val="0"/>
              </a:spcBef>
              <a:spcAft>
                <a:spcPts val="0"/>
              </a:spcAft>
              <a:buClr>
                <a:srgbClr val="1A1714"/>
              </a:buClr>
              <a:buSzPts val="7200"/>
              <a:buFont typeface="Georgia"/>
              <a:buNone/>
            </a:pPr>
            <a:r>
              <a:rPr lang="en-US" sz="6200">
                <a:solidFill>
                  <a:srgbClr val="1A1714"/>
                </a:solidFill>
                <a:latin typeface="Georgia"/>
                <a:ea typeface="Georgia"/>
                <a:cs typeface="Georgia"/>
                <a:sym typeface="Georgia"/>
              </a:rPr>
              <a:t>Grounded </a:t>
            </a:r>
            <a:r>
              <a:rPr i="1" lang="en-US" sz="6200">
                <a:solidFill>
                  <a:srgbClr val="1F3AA8"/>
                </a:solidFill>
                <a:latin typeface="Georgia"/>
                <a:ea typeface="Georgia"/>
                <a:cs typeface="Georgia"/>
                <a:sym typeface="Georgia"/>
              </a:rPr>
              <a:t>multimodal</a:t>
            </a:r>
            <a:r>
              <a:rPr lang="en-US" sz="6200">
                <a:solidFill>
                  <a:srgbClr val="1A1714"/>
                </a:solidFill>
                <a:latin typeface="Georgia"/>
                <a:ea typeface="Georgia"/>
                <a:cs typeface="Georgia"/>
                <a:sym typeface="Georgia"/>
              </a:rPr>
              <a:t> retrieval</a:t>
            </a:r>
            <a:endParaRPr b="0" i="0" sz="6200" u="none" cap="none" strike="noStrike">
              <a:solidFill>
                <a:schemeClr val="dk1"/>
              </a:solidFill>
              <a:latin typeface="Calibri"/>
              <a:ea typeface="Calibri"/>
              <a:cs typeface="Calibri"/>
              <a:sym typeface="Calibri"/>
            </a:endParaRPr>
          </a:p>
        </p:txBody>
      </p:sp>
      <p:sp>
        <p:nvSpPr>
          <p:cNvPr id="213" name="Google Shape;213;g3e47607800b_1_158"/>
          <p:cNvSpPr/>
          <p:nvPr/>
        </p:nvSpPr>
        <p:spPr>
          <a:xfrm>
            <a:off x="1091137" y="2499412"/>
            <a:ext cx="16227600" cy="388500"/>
          </a:xfrm>
          <a:prstGeom prst="rect">
            <a:avLst/>
          </a:prstGeom>
          <a:noFill/>
          <a:ln>
            <a:noFill/>
          </a:ln>
        </p:spPr>
        <p:txBody>
          <a:bodyPr anchorCtr="0" anchor="t" bIns="25400" lIns="25400" spcFirstLastPara="1" rIns="25400" wrap="square" tIns="25400">
            <a:noAutofit/>
          </a:bodyPr>
          <a:lstStyle/>
          <a:p>
            <a:pPr indent="0" lvl="0" marL="0" marR="0" rtl="0" algn="l">
              <a:lnSpc>
                <a:spcPct val="115000"/>
              </a:lnSpc>
              <a:spcBef>
                <a:spcPts val="0"/>
              </a:spcBef>
              <a:spcAft>
                <a:spcPts val="0"/>
              </a:spcAft>
              <a:buClr>
                <a:srgbClr val="1A1714"/>
              </a:buClr>
              <a:buSzPts val="2400"/>
              <a:buFont typeface="Georgia"/>
              <a:buNone/>
            </a:pPr>
            <a:r>
              <a:rPr lang="en-US" sz="2400">
                <a:solidFill>
                  <a:srgbClr val="666666"/>
                </a:solidFill>
                <a:latin typeface="Georgia"/>
                <a:ea typeface="Georgia"/>
                <a:cs typeface="Georgia"/>
                <a:sym typeface="Georgia"/>
              </a:rPr>
              <a:t>One assistant for image, text, and hybrid queries.</a:t>
            </a:r>
            <a:endParaRPr b="0" i="0" sz="2400" u="none" cap="none" strike="noStrike">
              <a:solidFill>
                <a:srgbClr val="666666"/>
              </a:solidFill>
              <a:latin typeface="Calibri"/>
              <a:ea typeface="Calibri"/>
              <a:cs typeface="Calibri"/>
              <a:sym typeface="Calibri"/>
            </a:endParaRPr>
          </a:p>
        </p:txBody>
      </p:sp>
      <p:pic>
        <p:nvPicPr>
          <p:cNvPr id="214" name="Google Shape;214;g3e47607800b_1_158"/>
          <p:cNvPicPr preferRelativeResize="0"/>
          <p:nvPr/>
        </p:nvPicPr>
        <p:blipFill>
          <a:blip r:embed="rId3">
            <a:alphaModFix/>
          </a:blip>
          <a:stretch>
            <a:fillRect/>
          </a:stretch>
        </p:blipFill>
        <p:spPr>
          <a:xfrm>
            <a:off x="1038284" y="3040312"/>
            <a:ext cx="4002723" cy="4322189"/>
          </a:xfrm>
          <a:prstGeom prst="rect">
            <a:avLst/>
          </a:prstGeom>
          <a:noFill/>
          <a:ln>
            <a:noFill/>
          </a:ln>
        </p:spPr>
      </p:pic>
      <p:pic>
        <p:nvPicPr>
          <p:cNvPr id="215" name="Google Shape;215;g3e47607800b_1_158"/>
          <p:cNvPicPr preferRelativeResize="0"/>
          <p:nvPr/>
        </p:nvPicPr>
        <p:blipFill>
          <a:blip r:embed="rId4">
            <a:alphaModFix/>
          </a:blip>
          <a:stretch>
            <a:fillRect/>
          </a:stretch>
        </p:blipFill>
        <p:spPr>
          <a:xfrm>
            <a:off x="5692287" y="3040312"/>
            <a:ext cx="5900728" cy="4322189"/>
          </a:xfrm>
          <a:prstGeom prst="rect">
            <a:avLst/>
          </a:prstGeom>
          <a:noFill/>
          <a:ln>
            <a:noFill/>
          </a:ln>
        </p:spPr>
      </p:pic>
      <p:pic>
        <p:nvPicPr>
          <p:cNvPr id="216" name="Google Shape;216;g3e47607800b_1_158"/>
          <p:cNvPicPr preferRelativeResize="0"/>
          <p:nvPr/>
        </p:nvPicPr>
        <p:blipFill>
          <a:blip r:embed="rId5">
            <a:alphaModFix/>
          </a:blip>
          <a:stretch>
            <a:fillRect/>
          </a:stretch>
        </p:blipFill>
        <p:spPr>
          <a:xfrm>
            <a:off x="12296862" y="3040312"/>
            <a:ext cx="5302088" cy="4322189"/>
          </a:xfrm>
          <a:prstGeom prst="rect">
            <a:avLst/>
          </a:prstGeom>
          <a:noFill/>
          <a:ln>
            <a:noFill/>
          </a:ln>
        </p:spPr>
      </p:pic>
      <p:pic>
        <p:nvPicPr>
          <p:cNvPr id="217" name="Google Shape;217;g3e47607800b_1_158"/>
          <p:cNvPicPr preferRelativeResize="0"/>
          <p:nvPr/>
        </p:nvPicPr>
        <p:blipFill>
          <a:blip r:embed="rId6">
            <a:alphaModFix/>
          </a:blip>
          <a:stretch>
            <a:fillRect/>
          </a:stretch>
        </p:blipFill>
        <p:spPr>
          <a:xfrm>
            <a:off x="2290563" y="7514901"/>
            <a:ext cx="13211572" cy="26196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3EB"/>
        </a:solidFill>
      </p:bgPr>
    </p:bg>
    <p:spTree>
      <p:nvGrpSpPr>
        <p:cNvPr id="222" name="Shape 222"/>
        <p:cNvGrpSpPr/>
        <p:nvPr/>
      </p:nvGrpSpPr>
      <p:grpSpPr>
        <a:xfrm>
          <a:off x="0" y="0"/>
          <a:ext cx="0" cy="0"/>
          <a:chOff x="0" y="0"/>
          <a:chExt cx="0" cy="0"/>
        </a:xfrm>
      </p:grpSpPr>
      <p:sp>
        <p:nvSpPr>
          <p:cNvPr id="223" name="Google Shape;223;g3e441bb160a_1_205"/>
          <p:cNvSpPr/>
          <p:nvPr/>
        </p:nvSpPr>
        <p:spPr>
          <a:xfrm>
            <a:off x="16440150" y="-1428750"/>
            <a:ext cx="3276600" cy="3276600"/>
          </a:xfrm>
          <a:prstGeom prst="ellipse">
            <a:avLst/>
          </a:prstGeom>
          <a:noFill/>
          <a:ln cap="flat" cmpd="sng" w="114300">
            <a:solidFill>
              <a:srgbClr val="D99221">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g3e441bb160a_1_205"/>
          <p:cNvSpPr/>
          <p:nvPr/>
        </p:nvSpPr>
        <p:spPr>
          <a:xfrm>
            <a:off x="1047750" y="693354"/>
            <a:ext cx="3388500" cy="490500"/>
          </a:xfrm>
          <a:prstGeom prst="roundRect">
            <a:avLst>
              <a:gd fmla="val 50000" name="adj"/>
            </a:avLst>
          </a:prstGeom>
          <a:solidFill>
            <a:srgbClr val="1F3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g3e441bb160a_1_205"/>
          <p:cNvSpPr/>
          <p:nvPr/>
        </p:nvSpPr>
        <p:spPr>
          <a:xfrm>
            <a:off x="1238250" y="788604"/>
            <a:ext cx="3090300" cy="3381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3ECDE"/>
              </a:buClr>
              <a:buSzPts val="1800"/>
              <a:buFont typeface="Courier New"/>
              <a:buNone/>
            </a:pPr>
            <a:r>
              <a:rPr b="0" i="0" lang="en-US" sz="1800" u="none" cap="none" strike="noStrike">
                <a:solidFill>
                  <a:srgbClr val="F3ECDE"/>
                </a:solidFill>
                <a:latin typeface="Courier New"/>
                <a:ea typeface="Courier New"/>
                <a:cs typeface="Courier New"/>
                <a:sym typeface="Courier New"/>
              </a:rPr>
              <a:t>PROJECT 2 · FINAL</a:t>
            </a:r>
            <a:endParaRPr b="0" i="0" sz="1800" u="none" cap="none" strike="noStrike">
              <a:solidFill>
                <a:schemeClr val="dk1"/>
              </a:solidFill>
              <a:latin typeface="Calibri"/>
              <a:ea typeface="Calibri"/>
              <a:cs typeface="Calibri"/>
              <a:sym typeface="Calibri"/>
            </a:endParaRPr>
          </a:p>
        </p:txBody>
      </p:sp>
      <p:sp>
        <p:nvSpPr>
          <p:cNvPr id="226" name="Google Shape;226;g3e441bb160a_1_205"/>
          <p:cNvSpPr/>
          <p:nvPr/>
        </p:nvSpPr>
        <p:spPr>
          <a:xfrm>
            <a:off x="1047750" y="1559343"/>
            <a:ext cx="15697200" cy="943800"/>
          </a:xfrm>
          <a:prstGeom prst="rect">
            <a:avLst/>
          </a:prstGeom>
          <a:noFill/>
          <a:ln>
            <a:noFill/>
          </a:ln>
        </p:spPr>
        <p:txBody>
          <a:bodyPr anchorCtr="0" anchor="t" bIns="25400" lIns="25400" spcFirstLastPara="1" rIns="25400" wrap="square" tIns="25400">
            <a:noAutofit/>
          </a:bodyPr>
          <a:lstStyle/>
          <a:p>
            <a:pPr indent="0" lvl="0" marL="0" marR="0" rtl="0" algn="l">
              <a:lnSpc>
                <a:spcPct val="98000"/>
              </a:lnSpc>
              <a:spcBef>
                <a:spcPts val="0"/>
              </a:spcBef>
              <a:spcAft>
                <a:spcPts val="0"/>
              </a:spcAft>
              <a:buClr>
                <a:srgbClr val="1A1714"/>
              </a:buClr>
              <a:buSzPts val="7200"/>
              <a:buFont typeface="Georgia"/>
              <a:buNone/>
            </a:pPr>
            <a:r>
              <a:rPr b="0" i="0" lang="en-US" sz="6200" u="none" cap="none" strike="noStrike">
                <a:solidFill>
                  <a:srgbClr val="1A1714"/>
                </a:solidFill>
                <a:latin typeface="Georgia"/>
                <a:ea typeface="Georgia"/>
                <a:cs typeface="Georgia"/>
                <a:sym typeface="Georgia"/>
              </a:rPr>
              <a:t>Four decisions, </a:t>
            </a:r>
            <a:r>
              <a:rPr b="0" i="1" lang="en-US" sz="6200" u="none" cap="none" strike="noStrike">
                <a:solidFill>
                  <a:srgbClr val="E34A26"/>
                </a:solidFill>
                <a:latin typeface="Georgia"/>
                <a:ea typeface="Georgia"/>
                <a:cs typeface="Georgia"/>
                <a:sym typeface="Georgia"/>
              </a:rPr>
              <a:t>multimodal edition</a:t>
            </a:r>
            <a:endParaRPr b="0" i="0" sz="6200" u="none" cap="none" strike="noStrike">
              <a:solidFill>
                <a:schemeClr val="dk1"/>
              </a:solidFill>
              <a:latin typeface="Calibri"/>
              <a:ea typeface="Calibri"/>
              <a:cs typeface="Calibri"/>
              <a:sym typeface="Calibri"/>
            </a:endParaRPr>
          </a:p>
        </p:txBody>
      </p:sp>
      <p:pic>
        <p:nvPicPr>
          <p:cNvPr id="227" name="Google Shape;227;g3e441bb160a_1_205"/>
          <p:cNvPicPr preferRelativeResize="0"/>
          <p:nvPr/>
        </p:nvPicPr>
        <p:blipFill>
          <a:blip r:embed="rId3">
            <a:alphaModFix/>
          </a:blip>
          <a:stretch>
            <a:fillRect/>
          </a:stretch>
        </p:blipFill>
        <p:spPr>
          <a:xfrm>
            <a:off x="367375" y="2774702"/>
            <a:ext cx="17553251" cy="6777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6EF"/>
        </a:solidFill>
      </p:bgPr>
    </p:bg>
    <p:spTree>
      <p:nvGrpSpPr>
        <p:cNvPr id="232" name="Shape 232"/>
        <p:cNvGrpSpPr/>
        <p:nvPr/>
      </p:nvGrpSpPr>
      <p:grpSpPr>
        <a:xfrm>
          <a:off x="0" y="0"/>
          <a:ext cx="0" cy="0"/>
          <a:chOff x="0" y="0"/>
          <a:chExt cx="0" cy="0"/>
        </a:xfrm>
      </p:grpSpPr>
      <p:sp>
        <p:nvSpPr>
          <p:cNvPr id="233" name="Google Shape;233;g3e47607800b_1_231"/>
          <p:cNvSpPr/>
          <p:nvPr/>
        </p:nvSpPr>
        <p:spPr>
          <a:xfrm>
            <a:off x="14478000" y="-666750"/>
            <a:ext cx="1905000" cy="1905000"/>
          </a:xfrm>
          <a:prstGeom prst="ellipse">
            <a:avLst/>
          </a:prstGeom>
          <a:solidFill>
            <a:srgbClr val="E34A26">
              <a:alpha val="902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e47607800b_1_231"/>
          <p:cNvSpPr/>
          <p:nvPr/>
        </p:nvSpPr>
        <p:spPr>
          <a:xfrm>
            <a:off x="1047750" y="939466"/>
            <a:ext cx="3388500" cy="490500"/>
          </a:xfrm>
          <a:prstGeom prst="roundRect">
            <a:avLst>
              <a:gd fmla="val 50000" name="adj"/>
            </a:avLst>
          </a:prstGeom>
          <a:solidFill>
            <a:srgbClr val="1F3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g3e47607800b_1_231"/>
          <p:cNvSpPr/>
          <p:nvPr/>
        </p:nvSpPr>
        <p:spPr>
          <a:xfrm>
            <a:off x="1238250" y="1034716"/>
            <a:ext cx="3090300" cy="33810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3ECDE"/>
              </a:buClr>
              <a:buSzPts val="1800"/>
              <a:buFont typeface="Courier New"/>
              <a:buNone/>
            </a:pPr>
            <a:r>
              <a:rPr b="0" i="0" lang="en-US" sz="1800" u="none" cap="none" strike="noStrike">
                <a:solidFill>
                  <a:srgbClr val="F3ECDE"/>
                </a:solidFill>
                <a:latin typeface="Courier New"/>
                <a:ea typeface="Courier New"/>
                <a:cs typeface="Courier New"/>
                <a:sym typeface="Courier New"/>
              </a:rPr>
              <a:t>PROJECT 2 · FINAL</a:t>
            </a:r>
            <a:endParaRPr b="0" i="0" sz="1800" u="none" cap="none" strike="noStrike">
              <a:solidFill>
                <a:schemeClr val="dk1"/>
              </a:solidFill>
              <a:latin typeface="Calibri"/>
              <a:ea typeface="Calibri"/>
              <a:cs typeface="Calibri"/>
              <a:sym typeface="Calibri"/>
            </a:endParaRPr>
          </a:p>
        </p:txBody>
      </p:sp>
      <p:sp>
        <p:nvSpPr>
          <p:cNvPr id="236" name="Google Shape;236;g3e47607800b_1_231"/>
          <p:cNvSpPr/>
          <p:nvPr/>
        </p:nvSpPr>
        <p:spPr>
          <a:xfrm>
            <a:off x="1047750" y="1408961"/>
            <a:ext cx="16660200" cy="1092900"/>
          </a:xfrm>
          <a:prstGeom prst="rect">
            <a:avLst/>
          </a:prstGeom>
          <a:noFill/>
          <a:ln>
            <a:noFill/>
          </a:ln>
        </p:spPr>
        <p:txBody>
          <a:bodyPr anchorCtr="0" anchor="t" bIns="25400" lIns="25400" spcFirstLastPara="1" rIns="25400" wrap="square" tIns="25400">
            <a:noAutofit/>
          </a:bodyPr>
          <a:lstStyle/>
          <a:p>
            <a:pPr indent="0" lvl="0" marL="0" marR="0" rtl="0" algn="l">
              <a:lnSpc>
                <a:spcPct val="98000"/>
              </a:lnSpc>
              <a:spcBef>
                <a:spcPts val="0"/>
              </a:spcBef>
              <a:spcAft>
                <a:spcPts val="0"/>
              </a:spcAft>
              <a:buClr>
                <a:srgbClr val="1A1714"/>
              </a:buClr>
              <a:buSzPts val="7200"/>
              <a:buFont typeface="Georgia"/>
              <a:buNone/>
            </a:pPr>
            <a:r>
              <a:rPr lang="en-US" sz="6200">
                <a:solidFill>
                  <a:srgbClr val="1A1714"/>
                </a:solidFill>
                <a:latin typeface="Georgia"/>
                <a:ea typeface="Georgia"/>
                <a:cs typeface="Georgia"/>
                <a:sym typeface="Georgia"/>
              </a:rPr>
              <a:t>Failure modes &amp; </a:t>
            </a:r>
            <a:r>
              <a:rPr lang="en-US" sz="6200">
                <a:solidFill>
                  <a:srgbClr val="E34A26"/>
                </a:solidFill>
                <a:latin typeface="Georgia"/>
                <a:ea typeface="Georgia"/>
                <a:cs typeface="Georgia"/>
                <a:sym typeface="Georgia"/>
              </a:rPr>
              <a:t>fixes</a:t>
            </a:r>
            <a:endParaRPr b="0" i="0" sz="6200" u="none" cap="none" strike="noStrike">
              <a:solidFill>
                <a:srgbClr val="E34A26"/>
              </a:solidFill>
              <a:latin typeface="Calibri"/>
              <a:ea typeface="Calibri"/>
              <a:cs typeface="Calibri"/>
              <a:sym typeface="Calibri"/>
            </a:endParaRPr>
          </a:p>
        </p:txBody>
      </p:sp>
      <p:pic>
        <p:nvPicPr>
          <p:cNvPr id="237" name="Google Shape;237;g3e47607800b_1_231"/>
          <p:cNvPicPr preferRelativeResize="0"/>
          <p:nvPr/>
        </p:nvPicPr>
        <p:blipFill>
          <a:blip r:embed="rId3">
            <a:alphaModFix/>
          </a:blip>
          <a:stretch>
            <a:fillRect/>
          </a:stretch>
        </p:blipFill>
        <p:spPr>
          <a:xfrm>
            <a:off x="1047750" y="2522200"/>
            <a:ext cx="15963664" cy="76123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6EF"/>
        </a:solidFill>
      </p:bgPr>
    </p:bg>
    <p:spTree>
      <p:nvGrpSpPr>
        <p:cNvPr id="242" name="Shape 242"/>
        <p:cNvGrpSpPr/>
        <p:nvPr/>
      </p:nvGrpSpPr>
      <p:grpSpPr>
        <a:xfrm>
          <a:off x="0" y="0"/>
          <a:ext cx="0" cy="0"/>
          <a:chOff x="0" y="0"/>
          <a:chExt cx="0" cy="0"/>
        </a:xfrm>
      </p:grpSpPr>
      <p:sp>
        <p:nvSpPr>
          <p:cNvPr id="243" name="Google Shape;243;g3e441bb160a_1_266"/>
          <p:cNvSpPr/>
          <p:nvPr/>
        </p:nvSpPr>
        <p:spPr>
          <a:xfrm>
            <a:off x="13525500" y="-762000"/>
            <a:ext cx="2095500" cy="2095500"/>
          </a:xfrm>
          <a:prstGeom prst="ellipse">
            <a:avLst/>
          </a:prstGeom>
          <a:solidFill>
            <a:srgbClr val="1F3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3e441bb160a_1_266"/>
          <p:cNvSpPr/>
          <p:nvPr/>
        </p:nvSpPr>
        <p:spPr>
          <a:xfrm>
            <a:off x="15811500" y="476250"/>
            <a:ext cx="1143000" cy="1143000"/>
          </a:xfrm>
          <a:prstGeom prst="ellipse">
            <a:avLst/>
          </a:prstGeom>
          <a:solidFill>
            <a:srgbClr val="D99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e441bb160a_1_266"/>
          <p:cNvSpPr/>
          <p:nvPr/>
        </p:nvSpPr>
        <p:spPr>
          <a:xfrm>
            <a:off x="15240000" y="2286000"/>
            <a:ext cx="2286000" cy="2286000"/>
          </a:xfrm>
          <a:prstGeom prst="rect">
            <a:avLst/>
          </a:prstGeom>
          <a:solidFill>
            <a:srgbClr val="2D6E4A">
              <a:alpha val="5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e441bb160a_1_266"/>
          <p:cNvSpPr/>
          <p:nvPr/>
        </p:nvSpPr>
        <p:spPr>
          <a:xfrm>
            <a:off x="1162050" y="514350"/>
            <a:ext cx="2014761" cy="414338"/>
          </a:xfrm>
          <a:prstGeom prst="roundRect">
            <a:avLst>
              <a:gd fmla="val 50000" name="adj"/>
            </a:avLst>
          </a:prstGeom>
          <a:solidFill>
            <a:srgbClr val="1F3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3e441bb160a_1_266"/>
          <p:cNvSpPr/>
          <p:nvPr/>
        </p:nvSpPr>
        <p:spPr>
          <a:xfrm>
            <a:off x="1333500" y="571500"/>
            <a:ext cx="1748061" cy="338138"/>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3ECDE"/>
              </a:buClr>
              <a:buSzPts val="1800"/>
              <a:buFont typeface="Courier New"/>
              <a:buNone/>
            </a:pPr>
            <a:r>
              <a:rPr b="0" i="0" lang="en-US" sz="1800" u="none" cap="none" strike="noStrike">
                <a:solidFill>
                  <a:srgbClr val="F3ECDE"/>
                </a:solidFill>
                <a:latin typeface="Courier New"/>
                <a:ea typeface="Courier New"/>
                <a:cs typeface="Courier New"/>
                <a:sym typeface="Courier New"/>
              </a:rPr>
              <a:t>PROJECT 2</a:t>
            </a:r>
            <a:endParaRPr b="0" i="0" sz="1800" u="none" cap="none" strike="noStrike">
              <a:solidFill>
                <a:schemeClr val="dk1"/>
              </a:solidFill>
              <a:latin typeface="Calibri"/>
              <a:ea typeface="Calibri"/>
              <a:cs typeface="Calibri"/>
              <a:sym typeface="Calibri"/>
            </a:endParaRPr>
          </a:p>
        </p:txBody>
      </p:sp>
      <p:sp>
        <p:nvSpPr>
          <p:cNvPr id="248" name="Google Shape;248;g3e441bb160a_1_266"/>
          <p:cNvSpPr/>
          <p:nvPr/>
        </p:nvSpPr>
        <p:spPr>
          <a:xfrm>
            <a:off x="1047750" y="914400"/>
            <a:ext cx="16678275" cy="1634430"/>
          </a:xfrm>
          <a:prstGeom prst="rect">
            <a:avLst/>
          </a:prstGeom>
          <a:noFill/>
          <a:ln>
            <a:noFill/>
          </a:ln>
        </p:spPr>
        <p:txBody>
          <a:bodyPr anchorCtr="0" anchor="t" bIns="25400" lIns="25400" spcFirstLastPara="1" rIns="25400" wrap="square" tIns="25400">
            <a:noAutofit/>
          </a:bodyPr>
          <a:lstStyle/>
          <a:p>
            <a:pPr indent="0" lvl="0" marL="0" marR="0" rtl="0" algn="l">
              <a:lnSpc>
                <a:spcPct val="92000"/>
              </a:lnSpc>
              <a:spcBef>
                <a:spcPts val="0"/>
              </a:spcBef>
              <a:spcAft>
                <a:spcPts val="0"/>
              </a:spcAft>
              <a:buClr>
                <a:srgbClr val="1A1714"/>
              </a:buClr>
              <a:buSzPts val="13500"/>
              <a:buFont typeface="Georgia"/>
              <a:buNone/>
            </a:pPr>
            <a:r>
              <a:rPr b="1" i="0" lang="en-US" sz="13500" u="none" cap="none" strike="noStrike">
                <a:solidFill>
                  <a:srgbClr val="1A1714"/>
                </a:solidFill>
                <a:latin typeface="Georgia"/>
                <a:ea typeface="Georgia"/>
                <a:cs typeface="Georgia"/>
                <a:sym typeface="Georgia"/>
              </a:rPr>
              <a:t>Live </a:t>
            </a:r>
            <a:r>
              <a:rPr b="1" i="1" lang="en-US" sz="13500" u="none" cap="none" strike="noStrike">
                <a:solidFill>
                  <a:srgbClr val="1F3AA8"/>
                </a:solidFill>
                <a:latin typeface="Georgia"/>
                <a:ea typeface="Georgia"/>
                <a:cs typeface="Georgia"/>
                <a:sym typeface="Georgia"/>
              </a:rPr>
              <a:t>Demo Two</a:t>
            </a:r>
            <a:r>
              <a:rPr b="1" i="0" lang="en-US" sz="13500" u="none" cap="none" strike="noStrike">
                <a:solidFill>
                  <a:srgbClr val="1A1714"/>
                </a:solidFill>
                <a:latin typeface="Georgia"/>
                <a:ea typeface="Georgia"/>
                <a:cs typeface="Georgia"/>
                <a:sym typeface="Georgia"/>
              </a:rPr>
              <a:t>.</a:t>
            </a:r>
            <a:endParaRPr b="0" i="0" sz="13500" u="none" cap="none" strike="noStrike">
              <a:solidFill>
                <a:schemeClr val="dk1"/>
              </a:solidFill>
              <a:latin typeface="Calibri"/>
              <a:ea typeface="Calibri"/>
              <a:cs typeface="Calibri"/>
              <a:sym typeface="Calibri"/>
            </a:endParaRPr>
          </a:p>
        </p:txBody>
      </p:sp>
      <p:sp>
        <p:nvSpPr>
          <p:cNvPr id="249" name="Google Shape;249;g3e441bb160a_1_266"/>
          <p:cNvSpPr/>
          <p:nvPr/>
        </p:nvSpPr>
        <p:spPr>
          <a:xfrm>
            <a:off x="1047750" y="2739330"/>
            <a:ext cx="16678275" cy="633412"/>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3D352C"/>
              </a:buClr>
              <a:buSzPts val="3600"/>
              <a:buFont typeface="Georgia"/>
              <a:buNone/>
            </a:pPr>
            <a:r>
              <a:rPr b="0" i="1" lang="en-US" sz="3600" u="none" cap="none" strike="noStrike">
                <a:solidFill>
                  <a:srgbClr val="3D352C"/>
                </a:solidFill>
                <a:latin typeface="Georgia"/>
                <a:ea typeface="Georgia"/>
                <a:cs typeface="Georgia"/>
                <a:sym typeface="Georgia"/>
              </a:rPr>
              <a:t>Multimodal assistant — text, image, both.</a:t>
            </a:r>
            <a:endParaRPr b="0" i="0" sz="3600" u="none" cap="none" strike="noStrike">
              <a:solidFill>
                <a:schemeClr val="dk1"/>
              </a:solidFill>
              <a:latin typeface="Calibri"/>
              <a:ea typeface="Calibri"/>
              <a:cs typeface="Calibri"/>
              <a:sym typeface="Calibri"/>
            </a:endParaRPr>
          </a:p>
        </p:txBody>
      </p:sp>
      <p:sp>
        <p:nvSpPr>
          <p:cNvPr id="250" name="Google Shape;250;g3e441bb160a_1_266"/>
          <p:cNvSpPr/>
          <p:nvPr/>
        </p:nvSpPr>
        <p:spPr>
          <a:xfrm>
            <a:off x="1047750" y="4905821"/>
            <a:ext cx="5257800" cy="2457450"/>
          </a:xfrm>
          <a:prstGeom prst="roundRect">
            <a:avLst>
              <a:gd fmla="val 6977" name="adj"/>
            </a:avLst>
          </a:prstGeom>
          <a:solidFill>
            <a:srgbClr val="F3ECDE"/>
          </a:solidFill>
          <a:ln cap="flat" cmpd="sng" w="19050">
            <a:solidFill>
              <a:srgbClr val="1F3A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e441bb160a_1_266"/>
          <p:cNvSpPr/>
          <p:nvPr/>
        </p:nvSpPr>
        <p:spPr>
          <a:xfrm>
            <a:off x="1333500" y="5191571"/>
            <a:ext cx="4826889"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3AA8"/>
              </a:buClr>
              <a:buSzPts val="1800"/>
              <a:buFont typeface="Courier New"/>
              <a:buNone/>
            </a:pPr>
            <a:r>
              <a:rPr b="1" i="0" lang="en-US" sz="1800" u="none" cap="none" strike="noStrike">
                <a:solidFill>
                  <a:srgbClr val="1F3AA8"/>
                </a:solidFill>
                <a:latin typeface="Courier New"/>
                <a:ea typeface="Courier New"/>
                <a:cs typeface="Courier New"/>
                <a:sym typeface="Courier New"/>
              </a:rPr>
              <a:t>01</a:t>
            </a:r>
            <a:endParaRPr b="0" i="0" sz="1800" u="none" cap="none" strike="noStrike">
              <a:solidFill>
                <a:schemeClr val="dk1"/>
              </a:solidFill>
              <a:latin typeface="Calibri"/>
              <a:ea typeface="Calibri"/>
              <a:cs typeface="Calibri"/>
              <a:sym typeface="Calibri"/>
            </a:endParaRPr>
          </a:p>
        </p:txBody>
      </p:sp>
      <p:sp>
        <p:nvSpPr>
          <p:cNvPr id="252" name="Google Shape;252;g3e441bb160a_1_266"/>
          <p:cNvSpPr/>
          <p:nvPr/>
        </p:nvSpPr>
        <p:spPr>
          <a:xfrm>
            <a:off x="1333500" y="5644009"/>
            <a:ext cx="4826889" cy="398115"/>
          </a:xfrm>
          <a:prstGeom prst="rect">
            <a:avLst/>
          </a:prstGeom>
          <a:noFill/>
          <a:ln>
            <a:noFill/>
          </a:ln>
        </p:spPr>
        <p:txBody>
          <a:bodyPr anchorCtr="0" anchor="t" bIns="25400" lIns="25400" spcFirstLastPara="1" rIns="25400" wrap="square" tIns="25400">
            <a:noAutofit/>
          </a:bodyPr>
          <a:lstStyle/>
          <a:p>
            <a:pPr indent="0" lvl="0" marL="0" marR="0" rtl="0" algn="l">
              <a:lnSpc>
                <a:spcPct val="105000"/>
              </a:lnSpc>
              <a:spcBef>
                <a:spcPts val="0"/>
              </a:spcBef>
              <a:spcAft>
                <a:spcPts val="0"/>
              </a:spcAft>
              <a:buClr>
                <a:srgbClr val="1A1714"/>
              </a:buClr>
              <a:buSzPts val="2700"/>
              <a:buFont typeface="Georgia"/>
              <a:buNone/>
            </a:pPr>
            <a:r>
              <a:rPr b="0" i="0" lang="en-US" sz="2700" u="none" cap="none" strike="noStrike">
                <a:solidFill>
                  <a:srgbClr val="1A1714"/>
                </a:solidFill>
                <a:latin typeface="Georgia"/>
                <a:ea typeface="Georgia"/>
                <a:cs typeface="Georgia"/>
                <a:sym typeface="Georgia"/>
              </a:rPr>
              <a:t>Upload an </a:t>
            </a:r>
            <a:r>
              <a:rPr b="0" i="1" lang="en-US" sz="2700" u="none" cap="none" strike="noStrike">
                <a:solidFill>
                  <a:srgbClr val="1F3AA8"/>
                </a:solidFill>
                <a:latin typeface="Georgia"/>
                <a:ea typeface="Georgia"/>
                <a:cs typeface="Georgia"/>
                <a:sym typeface="Georgia"/>
              </a:rPr>
              <a:t>image </a:t>
            </a:r>
            <a:r>
              <a:rPr b="0" i="0" lang="en-US" sz="2700" u="none" cap="none" strike="noStrike">
                <a:solidFill>
                  <a:srgbClr val="1A1714"/>
                </a:solidFill>
                <a:latin typeface="Georgia"/>
                <a:ea typeface="Georgia"/>
                <a:cs typeface="Georgia"/>
                <a:sym typeface="Georgia"/>
              </a:rPr>
              <a:t>· ask about it</a:t>
            </a:r>
            <a:endParaRPr b="0" i="0" sz="2700" u="none" cap="none" strike="noStrike">
              <a:solidFill>
                <a:schemeClr val="dk1"/>
              </a:solidFill>
              <a:latin typeface="Calibri"/>
              <a:ea typeface="Calibri"/>
              <a:cs typeface="Calibri"/>
              <a:sym typeface="Calibri"/>
            </a:endParaRPr>
          </a:p>
        </p:txBody>
      </p:sp>
      <p:sp>
        <p:nvSpPr>
          <p:cNvPr id="253" name="Google Shape;253;g3e441bb160a_1_266"/>
          <p:cNvSpPr/>
          <p:nvPr/>
        </p:nvSpPr>
        <p:spPr>
          <a:xfrm>
            <a:off x="1333500" y="6456611"/>
            <a:ext cx="4826889" cy="67806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3D352C"/>
              </a:buClr>
              <a:buSzPts val="1800"/>
              <a:buFont typeface="Arial"/>
              <a:buNone/>
            </a:pPr>
            <a:r>
              <a:rPr b="0" i="0" lang="en-US" sz="1800" u="none" cap="none" strike="noStrike">
                <a:solidFill>
                  <a:srgbClr val="3D352C"/>
                </a:solidFill>
                <a:latin typeface="Arial"/>
                <a:ea typeface="Arial"/>
                <a:cs typeface="Arial"/>
                <a:sym typeface="Arial"/>
              </a:rPr>
              <a:t>CLIP retrieves matching products. Llama identifies and describes.</a:t>
            </a:r>
            <a:endParaRPr b="0" i="0" sz="1800" u="none" cap="none" strike="noStrike">
              <a:solidFill>
                <a:schemeClr val="dk1"/>
              </a:solidFill>
              <a:latin typeface="Calibri"/>
              <a:ea typeface="Calibri"/>
              <a:cs typeface="Calibri"/>
              <a:sym typeface="Calibri"/>
            </a:endParaRPr>
          </a:p>
        </p:txBody>
      </p:sp>
      <p:sp>
        <p:nvSpPr>
          <p:cNvPr id="254" name="Google Shape;254;g3e441bb160a_1_266"/>
          <p:cNvSpPr/>
          <p:nvPr/>
        </p:nvSpPr>
        <p:spPr>
          <a:xfrm>
            <a:off x="6515100" y="4905821"/>
            <a:ext cx="5257800" cy="2457450"/>
          </a:xfrm>
          <a:prstGeom prst="roundRect">
            <a:avLst>
              <a:gd fmla="val 6977" name="adj"/>
            </a:avLst>
          </a:prstGeom>
          <a:solidFill>
            <a:srgbClr val="F3ECDE"/>
          </a:solidFill>
          <a:ln cap="flat" cmpd="sng" w="19050">
            <a:solidFill>
              <a:srgbClr val="1F3A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e441bb160a_1_266"/>
          <p:cNvSpPr/>
          <p:nvPr/>
        </p:nvSpPr>
        <p:spPr>
          <a:xfrm>
            <a:off x="6800850" y="5191571"/>
            <a:ext cx="4826889"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3AA8"/>
              </a:buClr>
              <a:buSzPts val="1800"/>
              <a:buFont typeface="Courier New"/>
              <a:buNone/>
            </a:pPr>
            <a:r>
              <a:rPr b="1" i="0" lang="en-US" sz="1800" u="none" cap="none" strike="noStrike">
                <a:solidFill>
                  <a:srgbClr val="1F3AA8"/>
                </a:solidFill>
                <a:latin typeface="Courier New"/>
                <a:ea typeface="Courier New"/>
                <a:cs typeface="Courier New"/>
                <a:sym typeface="Courier New"/>
              </a:rPr>
              <a:t>02</a:t>
            </a:r>
            <a:endParaRPr b="0" i="0" sz="1800" u="none" cap="none" strike="noStrike">
              <a:solidFill>
                <a:schemeClr val="dk1"/>
              </a:solidFill>
              <a:latin typeface="Calibri"/>
              <a:ea typeface="Calibri"/>
              <a:cs typeface="Calibri"/>
              <a:sym typeface="Calibri"/>
            </a:endParaRPr>
          </a:p>
        </p:txBody>
      </p:sp>
      <p:sp>
        <p:nvSpPr>
          <p:cNvPr id="256" name="Google Shape;256;g3e441bb160a_1_266"/>
          <p:cNvSpPr/>
          <p:nvPr/>
        </p:nvSpPr>
        <p:spPr>
          <a:xfrm>
            <a:off x="6800850" y="5644009"/>
            <a:ext cx="4826889" cy="398115"/>
          </a:xfrm>
          <a:prstGeom prst="rect">
            <a:avLst/>
          </a:prstGeom>
          <a:noFill/>
          <a:ln>
            <a:noFill/>
          </a:ln>
        </p:spPr>
        <p:txBody>
          <a:bodyPr anchorCtr="0" anchor="t" bIns="25400" lIns="25400" spcFirstLastPara="1" rIns="25400" wrap="square" tIns="25400">
            <a:noAutofit/>
          </a:bodyPr>
          <a:lstStyle/>
          <a:p>
            <a:pPr indent="0" lvl="0" marL="0" marR="0" rtl="0" algn="l">
              <a:lnSpc>
                <a:spcPct val="105000"/>
              </a:lnSpc>
              <a:spcBef>
                <a:spcPts val="0"/>
              </a:spcBef>
              <a:spcAft>
                <a:spcPts val="0"/>
              </a:spcAft>
              <a:buClr>
                <a:srgbClr val="1A1714"/>
              </a:buClr>
              <a:buSzPts val="2700"/>
              <a:buFont typeface="Georgia"/>
              <a:buNone/>
            </a:pPr>
            <a:r>
              <a:rPr b="0" i="0" lang="en-US" sz="2700" u="none" cap="none" strike="noStrike">
                <a:solidFill>
                  <a:srgbClr val="1A1714"/>
                </a:solidFill>
                <a:latin typeface="Georgia"/>
                <a:ea typeface="Georgia"/>
                <a:cs typeface="Georgia"/>
                <a:sym typeface="Georgia"/>
              </a:rPr>
              <a:t>"Five products for a </a:t>
            </a:r>
            <a:r>
              <a:rPr b="0" i="1" lang="en-US" sz="2700" u="none" cap="none" strike="noStrike">
                <a:solidFill>
                  <a:srgbClr val="1F3AA8"/>
                </a:solidFill>
                <a:latin typeface="Georgia"/>
                <a:ea typeface="Georgia"/>
                <a:cs typeface="Georgia"/>
                <a:sym typeface="Georgia"/>
              </a:rPr>
              <a:t>5-year-old</a:t>
            </a:r>
            <a:r>
              <a:rPr b="0" i="0" lang="en-US" sz="2700" u="none" cap="none" strike="noStrike">
                <a:solidFill>
                  <a:srgbClr val="1A1714"/>
                </a:solidFill>
                <a:latin typeface="Georgia"/>
                <a:ea typeface="Georgia"/>
                <a:cs typeface="Georgia"/>
                <a:sym typeface="Georgia"/>
              </a:rPr>
              <a:t>"</a:t>
            </a:r>
            <a:endParaRPr b="0" i="0" sz="2700" u="none" cap="none" strike="noStrike">
              <a:solidFill>
                <a:schemeClr val="dk1"/>
              </a:solidFill>
              <a:latin typeface="Calibri"/>
              <a:ea typeface="Calibri"/>
              <a:cs typeface="Calibri"/>
              <a:sym typeface="Calibri"/>
            </a:endParaRPr>
          </a:p>
        </p:txBody>
      </p:sp>
      <p:sp>
        <p:nvSpPr>
          <p:cNvPr id="257" name="Google Shape;257;g3e441bb160a_1_266"/>
          <p:cNvSpPr/>
          <p:nvPr/>
        </p:nvSpPr>
        <p:spPr>
          <a:xfrm>
            <a:off x="6800850" y="6456611"/>
            <a:ext cx="4826889" cy="67806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3D352C"/>
              </a:buClr>
              <a:buSzPts val="1800"/>
              <a:buFont typeface="Arial"/>
              <a:buNone/>
            </a:pPr>
            <a:r>
              <a:rPr b="0" i="0" lang="en-US" sz="1800" u="none" cap="none" strike="noStrike">
                <a:solidFill>
                  <a:srgbClr val="3D352C"/>
                </a:solidFill>
                <a:latin typeface="Arial"/>
                <a:ea typeface="Arial"/>
                <a:cs typeface="Arial"/>
                <a:sym typeface="Arial"/>
              </a:rPr>
              <a:t>Open-ended query — retriever surfaces five, Llama explains why.</a:t>
            </a:r>
            <a:endParaRPr b="0" i="0" sz="1800" u="none" cap="none" strike="noStrike">
              <a:solidFill>
                <a:schemeClr val="dk1"/>
              </a:solidFill>
              <a:latin typeface="Calibri"/>
              <a:ea typeface="Calibri"/>
              <a:cs typeface="Calibri"/>
              <a:sym typeface="Calibri"/>
            </a:endParaRPr>
          </a:p>
        </p:txBody>
      </p:sp>
      <p:sp>
        <p:nvSpPr>
          <p:cNvPr id="258" name="Google Shape;258;g3e441bb160a_1_266"/>
          <p:cNvSpPr/>
          <p:nvPr/>
        </p:nvSpPr>
        <p:spPr>
          <a:xfrm>
            <a:off x="11982450" y="4905821"/>
            <a:ext cx="5257800" cy="2457450"/>
          </a:xfrm>
          <a:prstGeom prst="roundRect">
            <a:avLst>
              <a:gd fmla="val 6977" name="adj"/>
            </a:avLst>
          </a:prstGeom>
          <a:solidFill>
            <a:srgbClr val="F3ECDE"/>
          </a:solidFill>
          <a:ln cap="flat" cmpd="sng" w="19050">
            <a:solidFill>
              <a:srgbClr val="1F3A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e441bb160a_1_266"/>
          <p:cNvSpPr/>
          <p:nvPr/>
        </p:nvSpPr>
        <p:spPr>
          <a:xfrm>
            <a:off x="12268200" y="5191571"/>
            <a:ext cx="4826889" cy="338138"/>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3AA8"/>
              </a:buClr>
              <a:buSzPts val="1800"/>
              <a:buFont typeface="Courier New"/>
              <a:buNone/>
            </a:pPr>
            <a:r>
              <a:rPr b="1" i="0" lang="en-US" sz="1800" u="none" cap="none" strike="noStrike">
                <a:solidFill>
                  <a:srgbClr val="1F3AA8"/>
                </a:solidFill>
                <a:latin typeface="Courier New"/>
                <a:ea typeface="Courier New"/>
                <a:cs typeface="Courier New"/>
                <a:sym typeface="Courier New"/>
              </a:rPr>
              <a:t>03</a:t>
            </a:r>
            <a:endParaRPr b="0" i="0" sz="1800" u="none" cap="none" strike="noStrike">
              <a:solidFill>
                <a:schemeClr val="dk1"/>
              </a:solidFill>
              <a:latin typeface="Calibri"/>
              <a:ea typeface="Calibri"/>
              <a:cs typeface="Calibri"/>
              <a:sym typeface="Calibri"/>
            </a:endParaRPr>
          </a:p>
        </p:txBody>
      </p:sp>
      <p:sp>
        <p:nvSpPr>
          <p:cNvPr id="260" name="Google Shape;260;g3e441bb160a_1_266"/>
          <p:cNvSpPr/>
          <p:nvPr/>
        </p:nvSpPr>
        <p:spPr>
          <a:xfrm>
            <a:off x="12268200" y="5644009"/>
            <a:ext cx="4826889" cy="398115"/>
          </a:xfrm>
          <a:prstGeom prst="rect">
            <a:avLst/>
          </a:prstGeom>
          <a:noFill/>
          <a:ln>
            <a:noFill/>
          </a:ln>
        </p:spPr>
        <p:txBody>
          <a:bodyPr anchorCtr="0" anchor="t" bIns="25400" lIns="25400" spcFirstLastPara="1" rIns="25400" wrap="square" tIns="25400">
            <a:noAutofit/>
          </a:bodyPr>
          <a:lstStyle/>
          <a:p>
            <a:pPr indent="0" lvl="0" marL="0" marR="0" rtl="0" algn="l">
              <a:lnSpc>
                <a:spcPct val="105000"/>
              </a:lnSpc>
              <a:spcBef>
                <a:spcPts val="0"/>
              </a:spcBef>
              <a:spcAft>
                <a:spcPts val="0"/>
              </a:spcAft>
              <a:buClr>
                <a:srgbClr val="1A1714"/>
              </a:buClr>
              <a:buSzPts val="2700"/>
              <a:buFont typeface="Georgia"/>
              <a:buNone/>
            </a:pPr>
            <a:r>
              <a:rPr lang="en-US" sz="2700">
                <a:solidFill>
                  <a:srgbClr val="1A1714"/>
                </a:solidFill>
                <a:latin typeface="Georgia"/>
                <a:ea typeface="Georgia"/>
                <a:cs typeface="Georgia"/>
                <a:sym typeface="Georgia"/>
              </a:rPr>
              <a:t>Ask a </a:t>
            </a:r>
            <a:r>
              <a:rPr i="1" lang="en-US" sz="2700">
                <a:solidFill>
                  <a:srgbClr val="1F3AA8"/>
                </a:solidFill>
                <a:latin typeface="Georgia"/>
                <a:ea typeface="Georgia"/>
                <a:cs typeface="Georgia"/>
                <a:sym typeface="Georgia"/>
              </a:rPr>
              <a:t>follow-up</a:t>
            </a:r>
            <a:endParaRPr b="0" i="1" sz="2700" u="none" cap="none" strike="noStrike">
              <a:solidFill>
                <a:srgbClr val="1F3AA8"/>
              </a:solidFill>
              <a:latin typeface="Calibri"/>
              <a:ea typeface="Calibri"/>
              <a:cs typeface="Calibri"/>
              <a:sym typeface="Calibri"/>
            </a:endParaRPr>
          </a:p>
        </p:txBody>
      </p:sp>
      <p:sp>
        <p:nvSpPr>
          <p:cNvPr id="261" name="Google Shape;261;g3e441bb160a_1_266"/>
          <p:cNvSpPr/>
          <p:nvPr/>
        </p:nvSpPr>
        <p:spPr>
          <a:xfrm>
            <a:off x="12268200" y="6456611"/>
            <a:ext cx="4826889" cy="67806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3D352C"/>
              </a:buClr>
              <a:buSzPts val="1800"/>
              <a:buFont typeface="Arial"/>
              <a:buNone/>
            </a:pPr>
            <a:r>
              <a:rPr lang="en-US" sz="1800">
                <a:solidFill>
                  <a:srgbClr val="3D352C"/>
                </a:solidFill>
              </a:rPr>
              <a:t>'How much does it cost?' — memory resolves 'it' to the previous product.</a:t>
            </a:r>
            <a:endParaRPr b="0" i="0" sz="1800" u="none" cap="none" strike="noStrike">
              <a:solidFill>
                <a:schemeClr val="dk1"/>
              </a:solidFill>
              <a:latin typeface="Calibri"/>
              <a:ea typeface="Calibri"/>
              <a:cs typeface="Calibri"/>
              <a:sym typeface="Calibri"/>
            </a:endParaRPr>
          </a:p>
        </p:txBody>
      </p:sp>
      <p:sp>
        <p:nvSpPr>
          <p:cNvPr id="262" name="Google Shape;262;g3e441bb160a_1_266"/>
          <p:cNvSpPr/>
          <p:nvPr/>
        </p:nvSpPr>
        <p:spPr>
          <a:xfrm>
            <a:off x="1047750" y="8553450"/>
            <a:ext cx="16192500" cy="19050"/>
          </a:xfrm>
          <a:prstGeom prst="rect">
            <a:avLst/>
          </a:prstGeom>
          <a:solidFill>
            <a:srgbClr val="1A17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g3e441bb160a_1_266"/>
          <p:cNvSpPr/>
          <p:nvPr/>
        </p:nvSpPr>
        <p:spPr>
          <a:xfrm>
            <a:off x="15607233" y="8877300"/>
            <a:ext cx="1709217" cy="533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3AA8"/>
              </a:buClr>
              <a:buSzPts val="3000"/>
              <a:buFont typeface="Georgia"/>
              <a:buNone/>
            </a:pPr>
            <a:r>
              <a:rPr b="0" i="1" lang="en-US" sz="3000" u="none" cap="none" strike="noStrike">
                <a:solidFill>
                  <a:srgbClr val="1F3AA8"/>
                </a:solidFill>
                <a:latin typeface="Georgia"/>
                <a:ea typeface="Georgia"/>
                <a:cs typeface="Georgia"/>
                <a:sym typeface="Georgia"/>
              </a:rPr>
              <a:t>Quick demo</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6EF"/>
        </a:solidFill>
      </p:bgPr>
    </p:bg>
    <p:spTree>
      <p:nvGrpSpPr>
        <p:cNvPr id="268" name="Shape 268"/>
        <p:cNvGrpSpPr/>
        <p:nvPr/>
      </p:nvGrpSpPr>
      <p:grpSpPr>
        <a:xfrm>
          <a:off x="0" y="0"/>
          <a:ext cx="0" cy="0"/>
          <a:chOff x="0" y="0"/>
          <a:chExt cx="0" cy="0"/>
        </a:xfrm>
      </p:grpSpPr>
      <p:sp>
        <p:nvSpPr>
          <p:cNvPr id="269" name="Google Shape;269;g3e441bb160a_1_294"/>
          <p:cNvSpPr/>
          <p:nvPr/>
        </p:nvSpPr>
        <p:spPr>
          <a:xfrm>
            <a:off x="14097000" y="-762000"/>
            <a:ext cx="2095500" cy="2095500"/>
          </a:xfrm>
          <a:prstGeom prst="ellipse">
            <a:avLst/>
          </a:prstGeom>
          <a:solidFill>
            <a:srgbClr val="D99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e441bb160a_1_294"/>
          <p:cNvSpPr/>
          <p:nvPr/>
        </p:nvSpPr>
        <p:spPr>
          <a:xfrm>
            <a:off x="16097250" y="762000"/>
            <a:ext cx="1143000" cy="1143000"/>
          </a:xfrm>
          <a:prstGeom prst="ellipse">
            <a:avLst/>
          </a:prstGeom>
          <a:solidFill>
            <a:srgbClr val="2D6E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g3e441bb160a_1_294"/>
          <p:cNvSpPr/>
          <p:nvPr/>
        </p:nvSpPr>
        <p:spPr>
          <a:xfrm>
            <a:off x="1047750" y="1866900"/>
            <a:ext cx="2071911" cy="490538"/>
          </a:xfrm>
          <a:prstGeom prst="roundRect">
            <a:avLst>
              <a:gd fmla="val 50000" name="adj"/>
            </a:avLst>
          </a:prstGeom>
          <a:solidFill>
            <a:srgbClr val="5E1F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g3e441bb160a_1_294"/>
          <p:cNvSpPr/>
          <p:nvPr/>
        </p:nvSpPr>
        <p:spPr>
          <a:xfrm>
            <a:off x="1238250" y="1962150"/>
            <a:ext cx="1748061" cy="338138"/>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3ECDE"/>
              </a:buClr>
              <a:buSzPts val="1800"/>
              <a:buFont typeface="Courier New"/>
              <a:buNone/>
            </a:pPr>
            <a:r>
              <a:rPr b="0" i="0" lang="en-US" sz="1800" u="none" cap="none" strike="noStrike">
                <a:solidFill>
                  <a:srgbClr val="F3ECDE"/>
                </a:solidFill>
                <a:latin typeface="Courier New"/>
                <a:ea typeface="Courier New"/>
                <a:cs typeface="Courier New"/>
                <a:sym typeface="Courier New"/>
              </a:rPr>
              <a:t>PROJECT 1</a:t>
            </a:r>
            <a:endParaRPr b="0" i="0" sz="1800" u="none" cap="none" strike="noStrike">
              <a:solidFill>
                <a:schemeClr val="dk1"/>
              </a:solidFill>
              <a:latin typeface="Calibri"/>
              <a:ea typeface="Calibri"/>
              <a:cs typeface="Calibri"/>
              <a:sym typeface="Calibri"/>
            </a:endParaRPr>
          </a:p>
        </p:txBody>
      </p:sp>
      <p:sp>
        <p:nvSpPr>
          <p:cNvPr id="273" name="Google Shape;273;g3e441bb160a_1_294"/>
          <p:cNvSpPr/>
          <p:nvPr/>
        </p:nvSpPr>
        <p:spPr>
          <a:xfrm>
            <a:off x="3253011" y="1866900"/>
            <a:ext cx="2071911" cy="490538"/>
          </a:xfrm>
          <a:prstGeom prst="roundRect">
            <a:avLst>
              <a:gd fmla="val 50000" name="adj"/>
            </a:avLst>
          </a:prstGeom>
          <a:solidFill>
            <a:srgbClr val="1F3A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e441bb160a_1_294"/>
          <p:cNvSpPr/>
          <p:nvPr/>
        </p:nvSpPr>
        <p:spPr>
          <a:xfrm>
            <a:off x="3443511" y="1962150"/>
            <a:ext cx="1748061" cy="338138"/>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3ECDE"/>
              </a:buClr>
              <a:buSzPts val="1800"/>
              <a:buFont typeface="Courier New"/>
              <a:buNone/>
            </a:pPr>
            <a:r>
              <a:rPr b="0" i="0" lang="en-US" sz="1800" u="none" cap="none" strike="noStrike">
                <a:solidFill>
                  <a:srgbClr val="F3ECDE"/>
                </a:solidFill>
                <a:latin typeface="Courier New"/>
                <a:ea typeface="Courier New"/>
                <a:cs typeface="Courier New"/>
                <a:sym typeface="Courier New"/>
              </a:rPr>
              <a:t>PROJECT 2</a:t>
            </a:r>
            <a:endParaRPr b="0" i="0" sz="1800" u="none" cap="none" strike="noStrike">
              <a:solidFill>
                <a:schemeClr val="dk1"/>
              </a:solidFill>
              <a:latin typeface="Calibri"/>
              <a:ea typeface="Calibri"/>
              <a:cs typeface="Calibri"/>
              <a:sym typeface="Calibri"/>
            </a:endParaRPr>
          </a:p>
        </p:txBody>
      </p:sp>
      <p:sp>
        <p:nvSpPr>
          <p:cNvPr id="275" name="Google Shape;275;g3e441bb160a_1_294"/>
          <p:cNvSpPr/>
          <p:nvPr/>
        </p:nvSpPr>
        <p:spPr>
          <a:xfrm>
            <a:off x="5458271" y="1866900"/>
            <a:ext cx="1084362" cy="490538"/>
          </a:xfrm>
          <a:prstGeom prst="roundRect">
            <a:avLst>
              <a:gd fmla="val 50000" name="adj"/>
            </a:avLst>
          </a:prstGeom>
          <a:solidFill>
            <a:srgbClr val="E34A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e441bb160a_1_294"/>
          <p:cNvSpPr/>
          <p:nvPr/>
        </p:nvSpPr>
        <p:spPr>
          <a:xfrm>
            <a:off x="5648771" y="1962150"/>
            <a:ext cx="760512" cy="338138"/>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3ECDE"/>
              </a:buClr>
              <a:buSzPts val="1800"/>
              <a:buFont typeface="Courier New"/>
              <a:buNone/>
            </a:pPr>
            <a:r>
              <a:rPr b="0" i="0" lang="en-US" sz="1800" u="none" cap="none" strike="noStrike">
                <a:solidFill>
                  <a:srgbClr val="F3ECDE"/>
                </a:solidFill>
                <a:latin typeface="Courier New"/>
                <a:ea typeface="Courier New"/>
                <a:cs typeface="Courier New"/>
                <a:sym typeface="Courier New"/>
              </a:rPr>
              <a:t>Q&amp;A</a:t>
            </a:r>
            <a:endParaRPr b="0" i="0" sz="1800" u="none" cap="none" strike="noStrike">
              <a:solidFill>
                <a:schemeClr val="dk1"/>
              </a:solidFill>
              <a:latin typeface="Calibri"/>
              <a:ea typeface="Calibri"/>
              <a:cs typeface="Calibri"/>
              <a:sym typeface="Calibri"/>
            </a:endParaRPr>
          </a:p>
        </p:txBody>
      </p:sp>
      <p:sp>
        <p:nvSpPr>
          <p:cNvPr id="277" name="Google Shape;277;g3e441bb160a_1_294"/>
          <p:cNvSpPr/>
          <p:nvPr/>
        </p:nvSpPr>
        <p:spPr>
          <a:xfrm>
            <a:off x="1047750" y="2776538"/>
            <a:ext cx="16678275" cy="2635746"/>
          </a:xfrm>
          <a:prstGeom prst="rect">
            <a:avLst/>
          </a:prstGeom>
          <a:noFill/>
          <a:ln>
            <a:noFill/>
          </a:ln>
        </p:spPr>
        <p:txBody>
          <a:bodyPr anchorCtr="0" anchor="t" bIns="25400" lIns="25400" spcFirstLastPara="1" rIns="25400" wrap="square" tIns="25400">
            <a:noAutofit/>
          </a:bodyPr>
          <a:lstStyle/>
          <a:p>
            <a:pPr indent="0" lvl="0" marL="0" marR="0" rtl="0" algn="l">
              <a:lnSpc>
                <a:spcPct val="94000"/>
              </a:lnSpc>
              <a:spcBef>
                <a:spcPts val="0"/>
              </a:spcBef>
              <a:spcAft>
                <a:spcPts val="0"/>
              </a:spcAft>
              <a:buClr>
                <a:srgbClr val="1A1714"/>
              </a:buClr>
              <a:buSzPts val="10800"/>
              <a:buFont typeface="Georgia"/>
              <a:buNone/>
            </a:pPr>
            <a:r>
              <a:rPr b="0" i="0" lang="en-US" sz="10800" u="none" cap="none" strike="noStrike">
                <a:solidFill>
                  <a:srgbClr val="1A1714"/>
                </a:solidFill>
                <a:latin typeface="Georgia"/>
                <a:ea typeface="Georgia"/>
                <a:cs typeface="Georgia"/>
                <a:sym typeface="Georgia"/>
              </a:rPr>
              <a:t>Thank </a:t>
            </a:r>
            <a:r>
              <a:rPr b="0" i="1" lang="en-US" sz="10800" u="none" cap="none" strike="noStrike">
                <a:solidFill>
                  <a:srgbClr val="E34A26"/>
                </a:solidFill>
                <a:latin typeface="Georgia"/>
                <a:ea typeface="Georgia"/>
                <a:cs typeface="Georgia"/>
                <a:sym typeface="Georgia"/>
              </a:rPr>
              <a:t>you</a:t>
            </a:r>
            <a:r>
              <a:rPr b="0" i="0" lang="en-US" sz="10800" u="none" cap="none" strike="noStrike">
                <a:solidFill>
                  <a:srgbClr val="1A1714"/>
                </a:solidFill>
                <a:latin typeface="Georgia"/>
                <a:ea typeface="Georgia"/>
                <a:cs typeface="Georgia"/>
                <a:sym typeface="Georgia"/>
              </a:rPr>
              <a:t>. </a:t>
            </a:r>
            <a:r>
              <a:rPr b="0" i="1" lang="en-US" sz="10800" u="none" cap="none" strike="noStrike">
                <a:solidFill>
                  <a:srgbClr val="1F3AA8"/>
                </a:solidFill>
                <a:latin typeface="Georgia"/>
                <a:ea typeface="Georgia"/>
                <a:cs typeface="Georgia"/>
                <a:sym typeface="Georgia"/>
              </a:rPr>
              <a:t>Questions?</a:t>
            </a:r>
            <a:endParaRPr b="0" i="0" sz="10800" u="none" cap="none" strike="noStrike">
              <a:solidFill>
                <a:schemeClr val="dk1"/>
              </a:solidFill>
              <a:latin typeface="Calibri"/>
              <a:ea typeface="Calibri"/>
              <a:cs typeface="Calibri"/>
              <a:sym typeface="Calibri"/>
            </a:endParaRPr>
          </a:p>
        </p:txBody>
      </p:sp>
      <p:sp>
        <p:nvSpPr>
          <p:cNvPr id="278" name="Google Shape;278;g3e441bb160a_1_294"/>
          <p:cNvSpPr/>
          <p:nvPr/>
        </p:nvSpPr>
        <p:spPr>
          <a:xfrm>
            <a:off x="1047750" y="7839075"/>
            <a:ext cx="16192500" cy="19200"/>
          </a:xfrm>
          <a:prstGeom prst="rect">
            <a:avLst/>
          </a:prstGeom>
          <a:solidFill>
            <a:srgbClr val="1A17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3e441bb160a_1_294"/>
          <p:cNvSpPr/>
          <p:nvPr/>
        </p:nvSpPr>
        <p:spPr>
          <a:xfrm>
            <a:off x="1047750" y="8291500"/>
            <a:ext cx="7951500" cy="490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E34A26"/>
              </a:buClr>
              <a:buSzPts val="1800"/>
              <a:buFont typeface="Courier New"/>
              <a:buNone/>
            </a:pPr>
            <a:r>
              <a:rPr b="0" i="0" lang="en-US" sz="1800" u="none" cap="none" strike="noStrike">
                <a:solidFill>
                  <a:srgbClr val="E34A26"/>
                </a:solidFill>
                <a:latin typeface="Courier New"/>
                <a:ea typeface="Courier New"/>
                <a:cs typeface="Courier New"/>
                <a:sym typeface="Courier New"/>
              </a:rPr>
              <a:t>THE TEAM</a:t>
            </a:r>
            <a:endParaRPr b="0" i="0" sz="1800" u="none" cap="none" strike="noStrike">
              <a:solidFill>
                <a:schemeClr val="dk1"/>
              </a:solidFill>
              <a:latin typeface="Calibri"/>
              <a:ea typeface="Calibri"/>
              <a:cs typeface="Calibri"/>
              <a:sym typeface="Calibri"/>
            </a:endParaRPr>
          </a:p>
        </p:txBody>
      </p:sp>
      <p:sp>
        <p:nvSpPr>
          <p:cNvPr id="280" name="Google Shape;280;g3e441bb160a_1_294"/>
          <p:cNvSpPr/>
          <p:nvPr/>
        </p:nvSpPr>
        <p:spPr>
          <a:xfrm>
            <a:off x="1047750" y="8877300"/>
            <a:ext cx="7951460" cy="533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A1714"/>
              </a:buClr>
              <a:buSzPts val="3000"/>
              <a:buFont typeface="Georgia"/>
              <a:buNone/>
            </a:pPr>
            <a:r>
              <a:rPr b="0" i="1" lang="en-US" sz="3000" u="none" cap="none" strike="noStrike">
                <a:solidFill>
                  <a:srgbClr val="1A1714"/>
                </a:solidFill>
                <a:latin typeface="Georgia"/>
                <a:ea typeface="Georgia"/>
                <a:cs typeface="Georgia"/>
                <a:sym typeface="Georgia"/>
              </a:rPr>
              <a:t>Matteo Mirgone · Dora Jiayue Li · Zehui Luo · Danq</a:t>
            </a:r>
            <a:r>
              <a:rPr i="1" lang="en-US" sz="3000">
                <a:solidFill>
                  <a:srgbClr val="1A1714"/>
                </a:solidFill>
                <a:latin typeface="Georgia"/>
                <a:ea typeface="Georgia"/>
                <a:cs typeface="Georgia"/>
                <a:sym typeface="Georgia"/>
              </a:rPr>
              <a:t>ing</a:t>
            </a:r>
            <a:r>
              <a:rPr b="0" i="1" lang="en-US" sz="3000" u="none" cap="none" strike="noStrike">
                <a:solidFill>
                  <a:srgbClr val="1A1714"/>
                </a:solidFill>
                <a:latin typeface="Georgia"/>
                <a:ea typeface="Georgia"/>
                <a:cs typeface="Georgia"/>
                <a:sym typeface="Georgia"/>
              </a:rPr>
              <a:t> Chen </a:t>
            </a:r>
            <a:r>
              <a:rPr i="1" lang="en-US" sz="3000">
                <a:solidFill>
                  <a:srgbClr val="1A1714"/>
                </a:solidFill>
                <a:latin typeface="Georgia"/>
                <a:ea typeface="Georgia"/>
                <a:cs typeface="Georgia"/>
                <a:sym typeface="Georgia"/>
              </a:rPr>
              <a:t>· Xiaoyang Zhang</a:t>
            </a:r>
            <a:endParaRPr b="0" i="0" sz="3000" u="none" cap="none" strike="noStrike">
              <a:solidFill>
                <a:schemeClr val="dk1"/>
              </a:solidFill>
              <a:latin typeface="Calibri"/>
              <a:ea typeface="Calibri"/>
              <a:cs typeface="Calibri"/>
              <a:sym typeface="Calibri"/>
            </a:endParaRPr>
          </a:p>
        </p:txBody>
      </p:sp>
      <p:sp>
        <p:nvSpPr>
          <p:cNvPr id="281" name="Google Shape;281;g3e441bb160a_1_294"/>
          <p:cNvSpPr/>
          <p:nvPr/>
        </p:nvSpPr>
        <p:spPr>
          <a:xfrm>
            <a:off x="10926800" y="8124825"/>
            <a:ext cx="7085700" cy="338100"/>
          </a:xfrm>
          <a:prstGeom prst="rect">
            <a:avLst/>
          </a:prstGeom>
          <a:noFill/>
          <a:ln>
            <a:noFill/>
          </a:ln>
        </p:spPr>
        <p:txBody>
          <a:bodyPr anchorCtr="0" anchor="t" bIns="25400" lIns="25400" spcFirstLastPara="1" rIns="25400" wrap="square" tIns="25400">
            <a:noAutofit/>
          </a:bodyPr>
          <a:lstStyle/>
          <a:p>
            <a:pPr indent="0" lvl="0" marL="0" marR="0" rtl="0" algn="r">
              <a:lnSpc>
                <a:spcPct val="160000"/>
              </a:lnSpc>
              <a:spcBef>
                <a:spcPts val="0"/>
              </a:spcBef>
              <a:spcAft>
                <a:spcPts val="0"/>
              </a:spcAft>
              <a:buClr>
                <a:srgbClr val="1A1714"/>
              </a:buClr>
              <a:buSzPts val="1800"/>
              <a:buFont typeface="Courier New"/>
              <a:buNone/>
            </a:pPr>
            <a:r>
              <a:rPr b="0" i="0" lang="en-US" sz="1800" u="none" cap="none" strike="noStrike">
                <a:solidFill>
                  <a:srgbClr val="1A1714"/>
                </a:solidFill>
                <a:latin typeface="Courier New"/>
                <a:ea typeface="Courier New"/>
                <a:cs typeface="Courier New"/>
                <a:sym typeface="Courier New"/>
              </a:rPr>
              <a:t>CODE ON GITHUB</a:t>
            </a:r>
            <a:r>
              <a:rPr lang="en-US" sz="1800">
                <a:solidFill>
                  <a:srgbClr val="1A1714"/>
                </a:solidFill>
                <a:latin typeface="Courier New"/>
                <a:ea typeface="Courier New"/>
                <a:cs typeface="Courier New"/>
                <a:sym typeface="Courier New"/>
              </a:rPr>
              <a:t>:</a:t>
            </a:r>
            <a:endParaRPr sz="1800">
              <a:solidFill>
                <a:srgbClr val="1A1714"/>
              </a:solidFill>
              <a:latin typeface="Courier New"/>
              <a:ea typeface="Courier New"/>
              <a:cs typeface="Courier New"/>
              <a:sym typeface="Courier New"/>
            </a:endParaRPr>
          </a:p>
          <a:p>
            <a:pPr indent="0" lvl="0" marL="0" marR="0" rtl="0" algn="l">
              <a:lnSpc>
                <a:spcPct val="160000"/>
              </a:lnSpc>
              <a:spcBef>
                <a:spcPts val="0"/>
              </a:spcBef>
              <a:spcAft>
                <a:spcPts val="0"/>
              </a:spcAft>
              <a:buClr>
                <a:srgbClr val="1A1714"/>
              </a:buClr>
              <a:buSzPts val="1800"/>
              <a:buFont typeface="Courier New"/>
              <a:buNone/>
            </a:pPr>
            <a:r>
              <a:rPr lang="en-US" sz="1800" u="sng">
                <a:solidFill>
                  <a:schemeClr val="hlink"/>
                </a:solidFill>
                <a:latin typeface="Courier New"/>
                <a:ea typeface="Courier New"/>
                <a:cs typeface="Courier New"/>
                <a:sym typeface="Courier New"/>
                <a:hlinkClick r:id="rId3"/>
              </a:rPr>
              <a:t>https://github.com/dorajy8/RAG_interactiveAI_MSADS</a:t>
            </a:r>
            <a:endParaRPr sz="1800">
              <a:solidFill>
                <a:srgbClr val="1A1714"/>
              </a:solidFill>
              <a:latin typeface="Courier New"/>
              <a:ea typeface="Courier New"/>
              <a:cs typeface="Courier New"/>
              <a:sym typeface="Courier New"/>
            </a:endParaRPr>
          </a:p>
          <a:p>
            <a:pPr indent="0" lvl="0" marL="0" marR="0" rtl="0" algn="l">
              <a:lnSpc>
                <a:spcPct val="160000"/>
              </a:lnSpc>
              <a:spcBef>
                <a:spcPts val="0"/>
              </a:spcBef>
              <a:spcAft>
                <a:spcPts val="0"/>
              </a:spcAft>
              <a:buClr>
                <a:srgbClr val="1A1714"/>
              </a:buClr>
              <a:buSzPts val="1800"/>
              <a:buFont typeface="Courier New"/>
              <a:buNone/>
            </a:pPr>
            <a:r>
              <a:rPr lang="en-US" sz="1800" u="sng">
                <a:solidFill>
                  <a:schemeClr val="hlink"/>
                </a:solidFill>
                <a:latin typeface="Courier New"/>
                <a:ea typeface="Courier New"/>
                <a:cs typeface="Courier New"/>
                <a:sym typeface="Courier New"/>
                <a:hlinkClick r:id="rId4"/>
              </a:rPr>
              <a:t>https://github.com/MatteoMirgone/multimodal-rag-ecommerce</a:t>
            </a:r>
            <a:endParaRPr sz="1800">
              <a:solidFill>
                <a:srgbClr val="1A1714"/>
              </a:solidFill>
              <a:latin typeface="Courier New"/>
              <a:ea typeface="Courier New"/>
              <a:cs typeface="Courier New"/>
              <a:sym typeface="Courier New"/>
            </a:endParaRPr>
          </a:p>
          <a:p>
            <a:pPr indent="0" lvl="0" marL="0" marR="0" rtl="0" algn="l">
              <a:lnSpc>
                <a:spcPct val="160000"/>
              </a:lnSpc>
              <a:spcBef>
                <a:spcPts val="0"/>
              </a:spcBef>
              <a:spcAft>
                <a:spcPts val="0"/>
              </a:spcAft>
              <a:buClr>
                <a:srgbClr val="1A1714"/>
              </a:buClr>
              <a:buSzPts val="1800"/>
              <a:buFont typeface="Courier New"/>
              <a:buNone/>
            </a:pPr>
            <a:r>
              <a:t/>
            </a:r>
            <a:endParaRPr sz="1800">
              <a:solidFill>
                <a:srgbClr val="1A1714"/>
              </a:solidFill>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2026-05-19T21:05:08Z</dcterms:created>
  <dc:creator>PptxGenJS</dc:creator>
</cp:coreProperties>
</file>