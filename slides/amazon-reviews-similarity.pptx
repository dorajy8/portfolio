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Nunito"/>
      <p:regular r:id="rId20"/>
      <p:bold r:id="rId21"/>
      <p:italic r:id="rId22"/>
      <p:boldItalic r:id="rId23"/>
    </p:embeddedFont>
    <p:embeddedFont>
      <p:font typeface="Outfit"/>
      <p:regular r:id="rId24"/>
      <p:bold r:id="rId25"/>
    </p:embeddedFont>
    <p:embeddedFont>
      <p:font typeface="Outfit Medium"/>
      <p:regular r:id="rId26"/>
      <p:bold r:id="rId27"/>
    </p:embeddedFont>
    <p:embeddedFont>
      <p:font typeface="DM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Outfit-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utfitMedium-regular.fntdata"/><Relationship Id="rId25" Type="http://schemas.openxmlformats.org/officeDocument/2006/relationships/font" Target="fonts/Outfit-bold.fntdata"/><Relationship Id="rId28" Type="http://schemas.openxmlformats.org/officeDocument/2006/relationships/font" Target="fonts/DMSans-regular.fntdata"/><Relationship Id="rId27" Type="http://schemas.openxmlformats.org/officeDocument/2006/relationships/font" Target="fonts/OutfitMedium-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DMSa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54dda194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54dda194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54dda1946d_4_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54dda1946d_4_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f1509e0d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af1509e0d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af1509e0d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af1509e0d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f1509e0d1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f1509e0d1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f1509e0d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f1509e0d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f1509e0d1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af1509e0d1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f1509e0d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f1509e0d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f1509e0d1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af1509e0d1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algn="l">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 name="Google Shape;26;p4"/>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grpSp>
        <p:nvGrpSpPr>
          <p:cNvPr id="28" name="Google Shape;28;p5"/>
          <p:cNvGrpSpPr/>
          <p:nvPr/>
        </p:nvGrpSpPr>
        <p:grpSpPr>
          <a:xfrm>
            <a:off x="-247298" y="-446215"/>
            <a:ext cx="9638600" cy="6030088"/>
            <a:chOff x="-247298" y="-446215"/>
            <a:chExt cx="9638600" cy="6030088"/>
          </a:xfrm>
        </p:grpSpPr>
        <p:sp>
          <p:nvSpPr>
            <p:cNvPr id="29" name="Google Shape;29;p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8" name="Google Shape;38;p5"/>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5"/>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1" name="Google Shape;41;p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grpSp>
        <p:nvGrpSpPr>
          <p:cNvPr id="43" name="Google Shape;43;p6"/>
          <p:cNvGrpSpPr/>
          <p:nvPr/>
        </p:nvGrpSpPr>
        <p:grpSpPr>
          <a:xfrm>
            <a:off x="-247298" y="-284290"/>
            <a:ext cx="9638600" cy="5868163"/>
            <a:chOff x="-247298" y="-284290"/>
            <a:chExt cx="9638600" cy="5868163"/>
          </a:xfrm>
        </p:grpSpPr>
        <p:sp>
          <p:nvSpPr>
            <p:cNvPr id="44" name="Google Shape;44;p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5" name="Google Shape;55;p7"/>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60" name="Google Shape;60;p9"/>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p:nvPr>
            <p:ph idx="2" type="pic"/>
          </p:nvPr>
        </p:nvSpPr>
        <p:spPr>
          <a:xfrm>
            <a:off x="-25" y="-13725"/>
            <a:ext cx="9144000" cy="5157300"/>
          </a:xfrm>
          <a:prstGeom prst="rect">
            <a:avLst/>
          </a:prstGeom>
          <a:noFill/>
          <a:ln>
            <a:noFill/>
          </a:ln>
        </p:spPr>
      </p:sp>
      <p:sp>
        <p:nvSpPr>
          <p:cNvPr id="63" name="Google Shape;63;p10"/>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9" name="Google Shape;79;p13"/>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13"/>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13"/>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2" name="Google Shape;82;p13"/>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13"/>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4" name="Google Shape;84;p13"/>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 name="Google Shape;85;p13"/>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6" name="Google Shape;86;p13"/>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7" name="Google Shape;87;p13"/>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8" name="Google Shape;88;p13"/>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1" name="Google Shape;91;p13"/>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 name="Google Shape;92;p13"/>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 name="Google Shape;93;p13"/>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4" name="Google Shape;94;p13"/>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5" name="Google Shape;95;p13"/>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6" name="Google Shape;96;p13"/>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nSpc>
                <a:spcPct val="100000"/>
              </a:lnSpc>
              <a:spcBef>
                <a:spcPts val="0"/>
              </a:spcBef>
              <a:spcAft>
                <a:spcPts val="0"/>
              </a:spcAft>
              <a:buSzPts val="2400"/>
              <a:buFont typeface="DM Sans"/>
              <a:buNone/>
              <a:defRPr b="1" sz="2400">
                <a:latin typeface="DM Sans"/>
                <a:ea typeface="DM Sans"/>
                <a:cs typeface="DM Sans"/>
                <a:sym typeface="DM Sans"/>
              </a:defRPr>
            </a:lvl2pPr>
            <a:lvl3pPr lvl="2">
              <a:lnSpc>
                <a:spcPct val="100000"/>
              </a:lnSpc>
              <a:spcBef>
                <a:spcPts val="0"/>
              </a:spcBef>
              <a:spcAft>
                <a:spcPts val="0"/>
              </a:spcAft>
              <a:buSzPts val="2400"/>
              <a:buFont typeface="DM Sans"/>
              <a:buNone/>
              <a:defRPr b="1" sz="2400">
                <a:latin typeface="DM Sans"/>
                <a:ea typeface="DM Sans"/>
                <a:cs typeface="DM Sans"/>
                <a:sym typeface="DM Sans"/>
              </a:defRPr>
            </a:lvl3pPr>
            <a:lvl4pPr lvl="3">
              <a:lnSpc>
                <a:spcPct val="100000"/>
              </a:lnSpc>
              <a:spcBef>
                <a:spcPts val="0"/>
              </a:spcBef>
              <a:spcAft>
                <a:spcPts val="0"/>
              </a:spcAft>
              <a:buSzPts val="2400"/>
              <a:buFont typeface="DM Sans"/>
              <a:buNone/>
              <a:defRPr b="1" sz="2400">
                <a:latin typeface="DM Sans"/>
                <a:ea typeface="DM Sans"/>
                <a:cs typeface="DM Sans"/>
                <a:sym typeface="DM Sans"/>
              </a:defRPr>
            </a:lvl4pPr>
            <a:lvl5pPr lvl="4">
              <a:lnSpc>
                <a:spcPct val="100000"/>
              </a:lnSpc>
              <a:spcBef>
                <a:spcPts val="0"/>
              </a:spcBef>
              <a:spcAft>
                <a:spcPts val="0"/>
              </a:spcAft>
              <a:buSzPts val="2400"/>
              <a:buFont typeface="DM Sans"/>
              <a:buNone/>
              <a:defRPr b="1" sz="2400">
                <a:latin typeface="DM Sans"/>
                <a:ea typeface="DM Sans"/>
                <a:cs typeface="DM Sans"/>
                <a:sym typeface="DM Sans"/>
              </a:defRPr>
            </a:lvl5pPr>
            <a:lvl6pPr lvl="5">
              <a:lnSpc>
                <a:spcPct val="100000"/>
              </a:lnSpc>
              <a:spcBef>
                <a:spcPts val="0"/>
              </a:spcBef>
              <a:spcAft>
                <a:spcPts val="0"/>
              </a:spcAft>
              <a:buSzPts val="2400"/>
              <a:buFont typeface="DM Sans"/>
              <a:buNone/>
              <a:defRPr b="1" sz="2400">
                <a:latin typeface="DM Sans"/>
                <a:ea typeface="DM Sans"/>
                <a:cs typeface="DM Sans"/>
                <a:sym typeface="DM Sans"/>
              </a:defRPr>
            </a:lvl6pPr>
            <a:lvl7pPr lvl="6">
              <a:lnSpc>
                <a:spcPct val="100000"/>
              </a:lnSpc>
              <a:spcBef>
                <a:spcPts val="0"/>
              </a:spcBef>
              <a:spcAft>
                <a:spcPts val="0"/>
              </a:spcAft>
              <a:buSzPts val="2400"/>
              <a:buFont typeface="DM Sans"/>
              <a:buNone/>
              <a:defRPr b="1" sz="2400">
                <a:latin typeface="DM Sans"/>
                <a:ea typeface="DM Sans"/>
                <a:cs typeface="DM Sans"/>
                <a:sym typeface="DM Sans"/>
              </a:defRPr>
            </a:lvl7pPr>
            <a:lvl8pPr lvl="7">
              <a:lnSpc>
                <a:spcPct val="100000"/>
              </a:lnSpc>
              <a:spcBef>
                <a:spcPts val="0"/>
              </a:spcBef>
              <a:spcAft>
                <a:spcPts val="0"/>
              </a:spcAft>
              <a:buSzPts val="2400"/>
              <a:buFont typeface="DM Sans"/>
              <a:buNone/>
              <a:defRPr b="1" sz="2400">
                <a:latin typeface="DM Sans"/>
                <a:ea typeface="DM Sans"/>
                <a:cs typeface="DM Sans"/>
                <a:sym typeface="DM Sans"/>
              </a:defRPr>
            </a:lvl8pPr>
            <a:lvl9pPr lvl="8">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08" name="Google Shape;108;p14"/>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 name="Shape 109"/>
        <p:cNvGrpSpPr/>
        <p:nvPr/>
      </p:nvGrpSpPr>
      <p:grpSpPr>
        <a:xfrm>
          <a:off x="0" y="0"/>
          <a:ext cx="0" cy="0"/>
          <a:chOff x="0" y="0"/>
          <a:chExt cx="0" cy="0"/>
        </a:xfrm>
      </p:grpSpPr>
      <p:grpSp>
        <p:nvGrpSpPr>
          <p:cNvPr id="110" name="Google Shape;110;p15"/>
          <p:cNvGrpSpPr/>
          <p:nvPr/>
        </p:nvGrpSpPr>
        <p:grpSpPr>
          <a:xfrm>
            <a:off x="-535133" y="-37823"/>
            <a:ext cx="10207495" cy="5621696"/>
            <a:chOff x="-535133" y="-37823"/>
            <a:chExt cx="10207495" cy="5621696"/>
          </a:xfrm>
        </p:grpSpPr>
        <p:sp>
          <p:nvSpPr>
            <p:cNvPr id="111" name="Google Shape;111;p1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20" name="Shape 120"/>
        <p:cNvGrpSpPr/>
        <p:nvPr/>
      </p:nvGrpSpPr>
      <p:grpSpPr>
        <a:xfrm>
          <a:off x="0" y="0"/>
          <a:ext cx="0" cy="0"/>
          <a:chOff x="0" y="0"/>
          <a:chExt cx="0" cy="0"/>
        </a:xfrm>
      </p:grpSpPr>
      <p:grpSp>
        <p:nvGrpSpPr>
          <p:cNvPr id="121" name="Google Shape;121;p16"/>
          <p:cNvGrpSpPr/>
          <p:nvPr/>
        </p:nvGrpSpPr>
        <p:grpSpPr>
          <a:xfrm>
            <a:off x="-247298" y="-446215"/>
            <a:ext cx="9638610" cy="6030088"/>
            <a:chOff x="-247298" y="-446215"/>
            <a:chExt cx="9638610" cy="6030088"/>
          </a:xfrm>
        </p:grpSpPr>
        <p:sp>
          <p:nvSpPr>
            <p:cNvPr id="122" name="Google Shape;122;p16"/>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42" name="Shape 142"/>
        <p:cNvGrpSpPr/>
        <p:nvPr/>
      </p:nvGrpSpPr>
      <p:grpSpPr>
        <a:xfrm>
          <a:off x="0" y="0"/>
          <a:ext cx="0" cy="0"/>
          <a:chOff x="0" y="0"/>
          <a:chExt cx="0" cy="0"/>
        </a:xfrm>
      </p:grpSpPr>
      <p:sp>
        <p:nvSpPr>
          <p:cNvPr id="143" name="Google Shape;14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44" name="Google Shape;144;p18"/>
          <p:cNvGrpSpPr/>
          <p:nvPr/>
        </p:nvGrpSpPr>
        <p:grpSpPr>
          <a:xfrm>
            <a:off x="-476796" y="2900252"/>
            <a:ext cx="10097585" cy="2865204"/>
            <a:chOff x="-476796" y="2900252"/>
            <a:chExt cx="10097585" cy="2865204"/>
          </a:xfrm>
        </p:grpSpPr>
        <p:grpSp>
          <p:nvGrpSpPr>
            <p:cNvPr id="145" name="Google Shape;145;p18"/>
            <p:cNvGrpSpPr/>
            <p:nvPr/>
          </p:nvGrpSpPr>
          <p:grpSpPr>
            <a:xfrm>
              <a:off x="-476796" y="2900252"/>
              <a:ext cx="10097585" cy="2865204"/>
              <a:chOff x="-476796" y="2900252"/>
              <a:chExt cx="10097585" cy="2865204"/>
            </a:xfrm>
          </p:grpSpPr>
          <p:sp>
            <p:nvSpPr>
              <p:cNvPr id="146" name="Google Shape;146;p18"/>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8"/>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4"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9"/>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5" name="Google Shape;165;p19"/>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6" name="Google Shape;166;p19"/>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7" name="Shape 167"/>
        <p:cNvGrpSpPr/>
        <p:nvPr/>
      </p:nvGrpSpPr>
      <p:grpSpPr>
        <a:xfrm>
          <a:off x="0" y="0"/>
          <a:ext cx="0" cy="0"/>
          <a:chOff x="0" y="0"/>
          <a:chExt cx="0" cy="0"/>
        </a:xfrm>
      </p:grpSpPr>
      <p:grpSp>
        <p:nvGrpSpPr>
          <p:cNvPr id="168" name="Google Shape;168;p20"/>
          <p:cNvGrpSpPr/>
          <p:nvPr/>
        </p:nvGrpSpPr>
        <p:grpSpPr>
          <a:xfrm>
            <a:off x="-247298" y="-446215"/>
            <a:ext cx="9638600" cy="6030088"/>
            <a:chOff x="-247298" y="-446215"/>
            <a:chExt cx="9638600" cy="6030088"/>
          </a:xfrm>
        </p:grpSpPr>
        <p:sp>
          <p:nvSpPr>
            <p:cNvPr id="169" name="Google Shape;169;p2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2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8" name="Google Shape;178;p2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9" name="Shape 179"/>
        <p:cNvGrpSpPr/>
        <p:nvPr/>
      </p:nvGrpSpPr>
      <p:grpSpPr>
        <a:xfrm>
          <a:off x="0" y="0"/>
          <a:ext cx="0" cy="0"/>
          <a:chOff x="0" y="0"/>
          <a:chExt cx="0" cy="0"/>
        </a:xfrm>
      </p:grpSpPr>
      <p:grpSp>
        <p:nvGrpSpPr>
          <p:cNvPr id="180" name="Google Shape;180;p21"/>
          <p:cNvGrpSpPr/>
          <p:nvPr/>
        </p:nvGrpSpPr>
        <p:grpSpPr>
          <a:xfrm flipH="1">
            <a:off x="-247298" y="-446215"/>
            <a:ext cx="9638600" cy="6030088"/>
            <a:chOff x="-247298" y="-446215"/>
            <a:chExt cx="9638600" cy="6030088"/>
          </a:xfrm>
        </p:grpSpPr>
        <p:sp>
          <p:nvSpPr>
            <p:cNvPr id="181" name="Google Shape;181;p2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1"/>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0" name="Google Shape;190;p21"/>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91" name="Shape 191"/>
        <p:cNvGrpSpPr/>
        <p:nvPr/>
      </p:nvGrpSpPr>
      <p:grpSpPr>
        <a:xfrm>
          <a:off x="0" y="0"/>
          <a:ext cx="0" cy="0"/>
          <a:chOff x="0" y="0"/>
          <a:chExt cx="0" cy="0"/>
        </a:xfrm>
      </p:grpSpPr>
      <p:grpSp>
        <p:nvGrpSpPr>
          <p:cNvPr id="192" name="Google Shape;192;p22"/>
          <p:cNvGrpSpPr/>
          <p:nvPr/>
        </p:nvGrpSpPr>
        <p:grpSpPr>
          <a:xfrm>
            <a:off x="-247298" y="-446215"/>
            <a:ext cx="9638600" cy="6030088"/>
            <a:chOff x="-247298" y="-446215"/>
            <a:chExt cx="9638600" cy="6030088"/>
          </a:xfrm>
        </p:grpSpPr>
        <p:sp>
          <p:nvSpPr>
            <p:cNvPr id="193" name="Google Shape;193;p2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2" name="Google Shape;202;p22"/>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03" name="Shape 203"/>
        <p:cNvGrpSpPr/>
        <p:nvPr/>
      </p:nvGrpSpPr>
      <p:grpSpPr>
        <a:xfrm>
          <a:off x="0" y="0"/>
          <a:ext cx="0" cy="0"/>
          <a:chOff x="0" y="0"/>
          <a:chExt cx="0" cy="0"/>
        </a:xfrm>
      </p:grpSpPr>
      <p:grpSp>
        <p:nvGrpSpPr>
          <p:cNvPr id="204" name="Google Shape;204;p23"/>
          <p:cNvGrpSpPr/>
          <p:nvPr/>
        </p:nvGrpSpPr>
        <p:grpSpPr>
          <a:xfrm>
            <a:off x="-535133" y="-37823"/>
            <a:ext cx="10207495" cy="5621696"/>
            <a:chOff x="-535133" y="-37823"/>
            <a:chExt cx="10207495" cy="5621696"/>
          </a:xfrm>
        </p:grpSpPr>
        <p:sp>
          <p:nvSpPr>
            <p:cNvPr id="205" name="Google Shape;205;p2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 name="Google Shape;214;p23"/>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Clr>
                <a:srgbClr val="1A1A1A"/>
              </a:buClr>
              <a:buSzPts val="1400"/>
              <a:buFont typeface="Nunito Light"/>
              <a:buChar char="○"/>
              <a:defRPr/>
            </a:lvl2pPr>
            <a:lvl3pPr indent="-317500" lvl="2" marL="1371600">
              <a:lnSpc>
                <a:spcPct val="100000"/>
              </a:lnSpc>
              <a:spcBef>
                <a:spcPts val="0"/>
              </a:spcBef>
              <a:spcAft>
                <a:spcPts val="0"/>
              </a:spcAft>
              <a:buClr>
                <a:srgbClr val="1A1A1A"/>
              </a:buClr>
              <a:buSzPts val="1400"/>
              <a:buFont typeface="Nunito Light"/>
              <a:buChar char="■"/>
              <a:defRPr/>
            </a:lvl3pPr>
            <a:lvl4pPr indent="-317500" lvl="3" marL="1828800">
              <a:lnSpc>
                <a:spcPct val="100000"/>
              </a:lnSpc>
              <a:spcBef>
                <a:spcPts val="0"/>
              </a:spcBef>
              <a:spcAft>
                <a:spcPts val="0"/>
              </a:spcAft>
              <a:buClr>
                <a:srgbClr val="1A1A1A"/>
              </a:buClr>
              <a:buSzPts val="1400"/>
              <a:buFont typeface="Nunito Light"/>
              <a:buChar char="●"/>
              <a:defRPr/>
            </a:lvl4pPr>
            <a:lvl5pPr indent="-317500" lvl="4" marL="2286000">
              <a:lnSpc>
                <a:spcPct val="100000"/>
              </a:lnSpc>
              <a:spcBef>
                <a:spcPts val="0"/>
              </a:spcBef>
              <a:spcAft>
                <a:spcPts val="0"/>
              </a:spcAft>
              <a:buClr>
                <a:srgbClr val="1A1A1A"/>
              </a:buClr>
              <a:buSzPts val="1400"/>
              <a:buFont typeface="Nunito Light"/>
              <a:buChar char="○"/>
              <a:defRPr/>
            </a:lvl5pPr>
            <a:lvl6pPr indent="-317500" lvl="5" marL="2743200">
              <a:lnSpc>
                <a:spcPct val="100000"/>
              </a:lnSpc>
              <a:spcBef>
                <a:spcPts val="0"/>
              </a:spcBef>
              <a:spcAft>
                <a:spcPts val="0"/>
              </a:spcAft>
              <a:buClr>
                <a:srgbClr val="1A1A1A"/>
              </a:buClr>
              <a:buSzPts val="1400"/>
              <a:buFont typeface="Nunito Light"/>
              <a:buChar char="■"/>
              <a:defRPr/>
            </a:lvl6pPr>
            <a:lvl7pPr indent="-317500" lvl="6" marL="3200400">
              <a:lnSpc>
                <a:spcPct val="100000"/>
              </a:lnSpc>
              <a:spcBef>
                <a:spcPts val="0"/>
              </a:spcBef>
              <a:spcAft>
                <a:spcPts val="0"/>
              </a:spcAft>
              <a:buClr>
                <a:srgbClr val="1A1A1A"/>
              </a:buClr>
              <a:buSzPts val="1400"/>
              <a:buFont typeface="Nunito Light"/>
              <a:buChar char="●"/>
              <a:defRPr/>
            </a:lvl7pPr>
            <a:lvl8pPr indent="-317500" lvl="7" marL="3657600">
              <a:lnSpc>
                <a:spcPct val="100000"/>
              </a:lnSpc>
              <a:spcBef>
                <a:spcPts val="0"/>
              </a:spcBef>
              <a:spcAft>
                <a:spcPts val="0"/>
              </a:spcAft>
              <a:buClr>
                <a:srgbClr val="1A1A1A"/>
              </a:buClr>
              <a:buSzPts val="1400"/>
              <a:buFont typeface="Nunito Light"/>
              <a:buChar char="○"/>
              <a:defRPr/>
            </a:lvl8pPr>
            <a:lvl9pPr indent="-317500" lvl="8" marL="411480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15"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6" name="Google Shape;226;p24"/>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7" name="Google Shape;227;p24"/>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8" name="Google Shape;228;p24"/>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4"/>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0"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1" name="Google Shape;241;p25"/>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 name="Google Shape;242;p25"/>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43"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4" name="Google Shape;254;p2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5" name="Google Shape;255;p2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6" name="Google Shape;256;p2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 name="Google Shape;257;p2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8" name="Google Shape;258;p2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9" name="Google Shape;259;p2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0"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 name="Google Shape;271;p27"/>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 name="Google Shape;272;p27"/>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 name="Google Shape;273;p27"/>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4" name="Google Shape;274;p27"/>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 name="Google Shape;275;p27"/>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6" name="Google Shape;276;p27"/>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7" name="Google Shape;277;p27"/>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8" name="Google Shape;278;p27"/>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9"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8"/>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 name="Google Shape;28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0" name="Google Shape;290;p28"/>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 name="Google Shape;291;p28"/>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28"/>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3" name="Google Shape;293;p28"/>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4" name="Google Shape;294;p28"/>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5" name="Google Shape;295;p28"/>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 name="Google Shape;296;p28"/>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7" name="Google Shape;297;p28"/>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8" name="Google Shape;298;p28"/>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9" name="Google Shape;299;p28"/>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0" name="Google Shape;300;p28"/>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1" name="Google Shape;301;p28"/>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2" name="Shape 302"/>
        <p:cNvGrpSpPr/>
        <p:nvPr/>
      </p:nvGrpSpPr>
      <p:grpSpPr>
        <a:xfrm>
          <a:off x="0" y="0"/>
          <a:ext cx="0" cy="0"/>
          <a:chOff x="0" y="0"/>
          <a:chExt cx="0" cy="0"/>
        </a:xfrm>
      </p:grpSpPr>
      <p:sp>
        <p:nvSpPr>
          <p:cNvPr id="303" name="Google Shape;303;p29"/>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05" name="Google Shape;305;p29"/>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07" name="Google Shape;307;p29"/>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algn="l">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None/>
              <a:defRPr sz="16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9" name="Shape 309"/>
        <p:cNvGrpSpPr/>
        <p:nvPr/>
      </p:nvGrpSpPr>
      <p:grpSpPr>
        <a:xfrm>
          <a:off x="0" y="0"/>
          <a:ext cx="0" cy="0"/>
          <a:chOff x="0" y="0"/>
          <a:chExt cx="0" cy="0"/>
        </a:xfrm>
      </p:grpSpPr>
      <p:sp>
        <p:nvSpPr>
          <p:cNvPr id="310" name="Google Shape;310;p30"/>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 name="Google Shape;311;p30"/>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2" name="Google Shape;312;p30"/>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3"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3"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2"/>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32"/>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ph type="ctrTitle"/>
          </p:nvPr>
        </p:nvSpPr>
        <p:spPr>
          <a:xfrm>
            <a:off x="713225" y="1156000"/>
            <a:ext cx="4838100" cy="238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300"/>
              <a:t>Amazon Reviews Analysis</a:t>
            </a:r>
            <a:br>
              <a:rPr b="1" lang="en"/>
            </a:br>
            <a:r>
              <a:rPr lang="en" sz="2200"/>
              <a:t>Big Data and Cloud Computing</a:t>
            </a:r>
            <a:endParaRPr sz="4800"/>
          </a:p>
        </p:txBody>
      </p:sp>
      <p:sp>
        <p:nvSpPr>
          <p:cNvPr id="339" name="Google Shape;339;p33"/>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Dora Jiayue Li</a:t>
            </a:r>
            <a:endParaRPr/>
          </a:p>
        </p:txBody>
      </p:sp>
      <p:cxnSp>
        <p:nvCxnSpPr>
          <p:cNvPr id="340" name="Google Shape;340;p33"/>
          <p:cNvCxnSpPr/>
          <p:nvPr/>
        </p:nvCxnSpPr>
        <p:spPr>
          <a:xfrm>
            <a:off x="823425" y="987213"/>
            <a:ext cx="373500" cy="0"/>
          </a:xfrm>
          <a:prstGeom prst="straightConnector1">
            <a:avLst/>
          </a:prstGeom>
          <a:noFill/>
          <a:ln cap="flat" cmpd="sng" w="19050">
            <a:solidFill>
              <a:schemeClr val="dk1"/>
            </a:solidFill>
            <a:prstDash val="solid"/>
            <a:round/>
            <a:headEnd len="med" w="med" type="none"/>
            <a:tailEnd len="med" w="med" type="none"/>
          </a:ln>
        </p:spPr>
      </p:cxnSp>
      <p:grpSp>
        <p:nvGrpSpPr>
          <p:cNvPr id="341" name="Google Shape;341;p33"/>
          <p:cNvGrpSpPr/>
          <p:nvPr/>
        </p:nvGrpSpPr>
        <p:grpSpPr>
          <a:xfrm>
            <a:off x="5115337" y="-428624"/>
            <a:ext cx="4275118" cy="6450405"/>
            <a:chOff x="5115337" y="-428624"/>
            <a:chExt cx="4275118" cy="6450405"/>
          </a:xfrm>
        </p:grpSpPr>
        <p:sp>
          <p:nvSpPr>
            <p:cNvPr id="342" name="Google Shape;342;p33"/>
            <p:cNvSpPr/>
            <p:nvPr/>
          </p:nvSpPr>
          <p:spPr>
            <a:xfrm flipH="1" rot="10800000">
              <a:off x="8492525" y="-1927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8551745" y="32678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606686"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7103477"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6684072"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6109895" y="1194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6109895" y="697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a:off x="7587339" y="1194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a:off x="5634170" y="-42862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7017892"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5193798" y="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a:off x="8068891" y="16222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flipH="1" rot="10800000">
              <a:off x="5115337" y="3655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flipH="1" rot="10800000">
              <a:off x="6606680" y="39247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flipH="1" rot="10800000">
              <a:off x="5983934" y="50536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flipH="1" rot="10800000">
              <a:off x="7178797" y="35333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flipH="1" rot="10800000">
              <a:off x="6606686" y="4609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flipH="1" rot="10800000">
              <a:off x="5526543" y="41283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8117298" y="28522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8172542" y="3036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grpSp>
        <p:nvGrpSpPr>
          <p:cNvPr id="366" name="Google Shape;366;p34"/>
          <p:cNvGrpSpPr/>
          <p:nvPr/>
        </p:nvGrpSpPr>
        <p:grpSpPr>
          <a:xfrm>
            <a:off x="5800496" y="599745"/>
            <a:ext cx="2089613" cy="1519462"/>
            <a:chOff x="331763" y="414153"/>
            <a:chExt cx="6903246" cy="5019697"/>
          </a:xfrm>
        </p:grpSpPr>
        <p:sp>
          <p:nvSpPr>
            <p:cNvPr id="367" name="Google Shape;367;p34"/>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55650" lIns="55650" spcFirstLastPara="1" rIns="55650" wrap="square" tIns="55650">
              <a:noAutofit/>
            </a:bodyPr>
            <a:lstStyle/>
            <a:p>
              <a:pPr indent="0" lvl="0" marL="0" rtl="0" algn="l">
                <a:spcBef>
                  <a:spcPts val="0"/>
                </a:spcBef>
                <a:spcAft>
                  <a:spcPts val="0"/>
                </a:spcAft>
                <a:buNone/>
              </a:pPr>
              <a:r>
                <a:t/>
              </a:r>
              <a:endParaRPr/>
            </a:p>
          </p:txBody>
        </p:sp>
        <p:sp>
          <p:nvSpPr>
            <p:cNvPr id="368" name="Google Shape;368;p34"/>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55650" lIns="55650" spcFirstLastPara="1" rIns="55650" wrap="square" tIns="55650">
              <a:noAutofit/>
            </a:bodyPr>
            <a:lstStyle/>
            <a:p>
              <a:pPr indent="0" lvl="0" marL="0" rtl="0" algn="l">
                <a:spcBef>
                  <a:spcPts val="0"/>
                </a:spcBef>
                <a:spcAft>
                  <a:spcPts val="0"/>
                </a:spcAft>
                <a:buNone/>
              </a:pPr>
              <a:r>
                <a:t/>
              </a:r>
              <a:endParaRPr/>
            </a:p>
          </p:txBody>
        </p:sp>
        <p:sp>
          <p:nvSpPr>
            <p:cNvPr id="369" name="Google Shape;369;p34"/>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55650" lIns="55650" spcFirstLastPara="1" rIns="55650" wrap="square" tIns="55650">
              <a:noAutofit/>
            </a:bodyPr>
            <a:lstStyle/>
            <a:p>
              <a:pPr indent="0" lvl="0" marL="0" rtl="0" algn="l">
                <a:spcBef>
                  <a:spcPts val="0"/>
                </a:spcBef>
                <a:spcAft>
                  <a:spcPts val="0"/>
                </a:spcAft>
                <a:buNone/>
              </a:pPr>
              <a:r>
                <a:t/>
              </a:r>
              <a:endParaRPr/>
            </a:p>
          </p:txBody>
        </p:sp>
        <p:sp>
          <p:nvSpPr>
            <p:cNvPr id="370" name="Google Shape;370;p34"/>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55650" lIns="55650" spcFirstLastPara="1" rIns="55650" wrap="square" tIns="55650">
              <a:noAutofit/>
            </a:bodyPr>
            <a:lstStyle/>
            <a:p>
              <a:pPr indent="0" lvl="0" marL="0" rtl="0" algn="l">
                <a:spcBef>
                  <a:spcPts val="0"/>
                </a:spcBef>
                <a:spcAft>
                  <a:spcPts val="0"/>
                </a:spcAft>
                <a:buNone/>
              </a:pPr>
              <a:r>
                <a:t/>
              </a:r>
              <a:endParaRPr/>
            </a:p>
          </p:txBody>
        </p:sp>
      </p:grpSp>
      <p:sp>
        <p:nvSpPr>
          <p:cNvPr id="371" name="Google Shape;371;p34"/>
          <p:cNvSpPr txBox="1"/>
          <p:nvPr>
            <p:ph type="title"/>
          </p:nvPr>
        </p:nvSpPr>
        <p:spPr>
          <a:xfrm>
            <a:off x="580800" y="599750"/>
            <a:ext cx="7315800" cy="57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Executive Summary</a:t>
            </a:r>
            <a:endParaRPr/>
          </a:p>
        </p:txBody>
      </p:sp>
      <p:sp>
        <p:nvSpPr>
          <p:cNvPr id="372" name="Google Shape;372;p34"/>
          <p:cNvSpPr txBox="1"/>
          <p:nvPr>
            <p:ph idx="1" type="subTitle"/>
          </p:nvPr>
        </p:nvSpPr>
        <p:spPr>
          <a:xfrm>
            <a:off x="580800" y="1260425"/>
            <a:ext cx="3882300" cy="320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AI is getting better at writing coherently like a human, it’s easier to AI-generate a bunch of fake reviews on Amazon to promote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this project aims to provide detailed analysis on two Amazon datasets from 2000 to 2023, total 285 months, for the purpose of investigating whether </a:t>
            </a:r>
            <a:r>
              <a:rPr lang="en">
                <a:solidFill>
                  <a:srgbClr val="273540"/>
                </a:solidFill>
                <a:highlight>
                  <a:srgbClr val="FFFFFF"/>
                </a:highlight>
              </a:rPr>
              <a:t>AI technologies contribute to redundant product reviews, and if these be detected using big data scalable similarity-based analysis. </a:t>
            </a:r>
            <a:endParaRPr/>
          </a:p>
        </p:txBody>
      </p:sp>
      <p:pic>
        <p:nvPicPr>
          <p:cNvPr id="373" name="Google Shape;373;p34"/>
          <p:cNvPicPr preferRelativeResize="0"/>
          <p:nvPr/>
        </p:nvPicPr>
        <p:blipFill>
          <a:blip r:embed="rId3">
            <a:alphaModFix/>
          </a:blip>
          <a:stretch>
            <a:fillRect/>
          </a:stretch>
        </p:blipFill>
        <p:spPr>
          <a:xfrm>
            <a:off x="5955339" y="781095"/>
            <a:ext cx="1779879" cy="950815"/>
          </a:xfrm>
          <a:prstGeom prst="rect">
            <a:avLst/>
          </a:prstGeom>
          <a:noFill/>
          <a:ln>
            <a:noFill/>
          </a:ln>
        </p:spPr>
      </p:pic>
      <p:pic>
        <p:nvPicPr>
          <p:cNvPr id="374" name="Google Shape;374;p34"/>
          <p:cNvPicPr preferRelativeResize="0"/>
          <p:nvPr/>
        </p:nvPicPr>
        <p:blipFill>
          <a:blip r:embed="rId4">
            <a:alphaModFix/>
          </a:blip>
          <a:stretch>
            <a:fillRect/>
          </a:stretch>
        </p:blipFill>
        <p:spPr>
          <a:xfrm>
            <a:off x="4546588" y="2943423"/>
            <a:ext cx="4597401" cy="2200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5"/>
          <p:cNvSpPr txBox="1"/>
          <p:nvPr>
            <p:ph idx="2" type="subTitle"/>
          </p:nvPr>
        </p:nvSpPr>
        <p:spPr>
          <a:xfrm>
            <a:off x="5094825" y="447750"/>
            <a:ext cx="3721500" cy="135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I kept these columns because they are essential for analyzing user purchases, reviews, ratings, and prices, enabling comprehensive exploratory analysis of review patterns across the combined datasets.</a:t>
            </a:r>
            <a:r>
              <a:rPr lang="en"/>
              <a:t> </a:t>
            </a:r>
            <a:endParaRPr/>
          </a:p>
        </p:txBody>
      </p:sp>
      <p:pic>
        <p:nvPicPr>
          <p:cNvPr id="380" name="Google Shape;380;p35"/>
          <p:cNvPicPr preferRelativeResize="0"/>
          <p:nvPr/>
        </p:nvPicPr>
        <p:blipFill>
          <a:blip r:embed="rId3">
            <a:alphaModFix/>
          </a:blip>
          <a:stretch>
            <a:fillRect/>
          </a:stretch>
        </p:blipFill>
        <p:spPr>
          <a:xfrm>
            <a:off x="5229575" y="1880112"/>
            <a:ext cx="2523800" cy="2827576"/>
          </a:xfrm>
          <a:prstGeom prst="rect">
            <a:avLst/>
          </a:prstGeom>
          <a:noFill/>
          <a:ln>
            <a:noFill/>
          </a:ln>
        </p:spPr>
      </p:pic>
      <p:sp>
        <p:nvSpPr>
          <p:cNvPr id="381" name="Google Shape;381;p35"/>
          <p:cNvSpPr txBox="1"/>
          <p:nvPr/>
        </p:nvSpPr>
        <p:spPr>
          <a:xfrm>
            <a:off x="1526139" y="2362850"/>
            <a:ext cx="2980200" cy="37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2">
                <a:solidFill>
                  <a:schemeClr val="dk1"/>
                </a:solidFill>
                <a:latin typeface="Outfit"/>
                <a:ea typeface="Outfit"/>
                <a:cs typeface="Outfit"/>
                <a:sym typeface="Outfit"/>
              </a:rPr>
              <a:t>Found </a:t>
            </a:r>
            <a:r>
              <a:rPr lang="en" sz="1102">
                <a:solidFill>
                  <a:schemeClr val="dk1"/>
                </a:solidFill>
                <a:latin typeface="Outfit"/>
                <a:ea typeface="Outfit"/>
                <a:cs typeface="Outfit"/>
                <a:sym typeface="Outfit"/>
              </a:rPr>
              <a:t>the duplication filtered through timestamp and user_id and only kept one.</a:t>
            </a:r>
            <a:endParaRPr>
              <a:solidFill>
                <a:schemeClr val="dk1"/>
              </a:solidFill>
              <a:latin typeface="DM Sans"/>
              <a:ea typeface="DM Sans"/>
              <a:cs typeface="DM Sans"/>
              <a:sym typeface="DM Sans"/>
            </a:endParaRPr>
          </a:p>
        </p:txBody>
      </p:sp>
      <p:sp>
        <p:nvSpPr>
          <p:cNvPr id="382" name="Google Shape;382;p35"/>
          <p:cNvSpPr txBox="1"/>
          <p:nvPr/>
        </p:nvSpPr>
        <p:spPr>
          <a:xfrm>
            <a:off x="1524663" y="2085875"/>
            <a:ext cx="29802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utfit"/>
                <a:ea typeface="Outfit"/>
                <a:cs typeface="Outfit"/>
                <a:sym typeface="Outfit"/>
              </a:rPr>
              <a:t>Detected 1% duplicate data</a:t>
            </a:r>
            <a:endParaRPr b="1">
              <a:solidFill>
                <a:schemeClr val="dk1"/>
              </a:solidFill>
              <a:latin typeface="Outfit"/>
              <a:ea typeface="Outfit"/>
              <a:cs typeface="Outfit"/>
              <a:sym typeface="Outfit"/>
            </a:endParaRPr>
          </a:p>
        </p:txBody>
      </p:sp>
      <p:sp>
        <p:nvSpPr>
          <p:cNvPr id="383" name="Google Shape;383;p35"/>
          <p:cNvSpPr txBox="1"/>
          <p:nvPr/>
        </p:nvSpPr>
        <p:spPr>
          <a:xfrm>
            <a:off x="975827" y="1327200"/>
            <a:ext cx="4119000" cy="552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Outfit"/>
                <a:ea typeface="Outfit"/>
                <a:cs typeface="Outfit"/>
                <a:sym typeface="Outfit"/>
              </a:rPr>
              <a:t>Data cleaning &amp; filtering</a:t>
            </a:r>
            <a:endParaRPr b="1" sz="2400">
              <a:solidFill>
                <a:schemeClr val="dk1"/>
              </a:solidFill>
              <a:latin typeface="Outfit"/>
              <a:ea typeface="Outfit"/>
              <a:cs typeface="Outfit"/>
              <a:sym typeface="Outfit"/>
            </a:endParaRPr>
          </a:p>
        </p:txBody>
      </p:sp>
      <p:sp>
        <p:nvSpPr>
          <p:cNvPr id="384" name="Google Shape;384;p35"/>
          <p:cNvSpPr txBox="1"/>
          <p:nvPr/>
        </p:nvSpPr>
        <p:spPr>
          <a:xfrm>
            <a:off x="1526150" y="3379425"/>
            <a:ext cx="32049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DM Sans"/>
                <a:ea typeface="DM Sans"/>
                <a:cs typeface="DM Sans"/>
                <a:sym typeface="DM Sans"/>
              </a:rPr>
              <a:t>Removed records with missing categories, ratings, product title, timestamps, or join keys</a:t>
            </a:r>
            <a:endParaRPr sz="1100">
              <a:solidFill>
                <a:schemeClr val="dk1"/>
              </a:solidFill>
              <a:latin typeface="DM Sans"/>
              <a:ea typeface="DM Sans"/>
              <a:cs typeface="DM Sans"/>
              <a:sym typeface="DM Sans"/>
            </a:endParaRPr>
          </a:p>
        </p:txBody>
      </p:sp>
      <p:sp>
        <p:nvSpPr>
          <p:cNvPr id="385" name="Google Shape;385;p35"/>
          <p:cNvSpPr txBox="1"/>
          <p:nvPr/>
        </p:nvSpPr>
        <p:spPr>
          <a:xfrm>
            <a:off x="1524675" y="3105350"/>
            <a:ext cx="35700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utfit"/>
                <a:ea typeface="Outfit"/>
                <a:cs typeface="Outfit"/>
                <a:sym typeface="Outfit"/>
              </a:rPr>
              <a:t>Removed columns with large number of null values</a:t>
            </a:r>
            <a:endParaRPr b="1">
              <a:solidFill>
                <a:schemeClr val="dk1"/>
              </a:solidFill>
              <a:latin typeface="Outfit"/>
              <a:ea typeface="Outfit"/>
              <a:cs typeface="Outfit"/>
              <a:sym typeface="Outfit"/>
            </a:endParaRPr>
          </a:p>
        </p:txBody>
      </p:sp>
      <p:sp>
        <p:nvSpPr>
          <p:cNvPr id="386" name="Google Shape;386;p35"/>
          <p:cNvSpPr txBox="1"/>
          <p:nvPr/>
        </p:nvSpPr>
        <p:spPr>
          <a:xfrm>
            <a:off x="1526139" y="4234475"/>
            <a:ext cx="2980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DM Sans"/>
                <a:ea typeface="DM Sans"/>
                <a:cs typeface="DM Sans"/>
                <a:sym typeface="DM Sans"/>
              </a:rPr>
              <a:t>Selected only the most essential columns</a:t>
            </a:r>
            <a:endParaRPr sz="1000">
              <a:solidFill>
                <a:schemeClr val="dk1"/>
              </a:solidFill>
              <a:latin typeface="DM Sans"/>
              <a:ea typeface="DM Sans"/>
              <a:cs typeface="DM Sans"/>
              <a:sym typeface="DM Sans"/>
            </a:endParaRPr>
          </a:p>
        </p:txBody>
      </p:sp>
      <p:sp>
        <p:nvSpPr>
          <p:cNvPr id="387" name="Google Shape;387;p35"/>
          <p:cNvSpPr txBox="1"/>
          <p:nvPr/>
        </p:nvSpPr>
        <p:spPr>
          <a:xfrm>
            <a:off x="1524663" y="3957500"/>
            <a:ext cx="2980200" cy="377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utfit"/>
                <a:ea typeface="Outfit"/>
                <a:cs typeface="Outfit"/>
                <a:sym typeface="Outfit"/>
              </a:rPr>
              <a:t>Joining 2 datasets</a:t>
            </a:r>
            <a:endParaRPr b="1" sz="1300">
              <a:solidFill>
                <a:schemeClr val="dk1"/>
              </a:solidFill>
              <a:latin typeface="Outfit"/>
              <a:ea typeface="Outfit"/>
              <a:cs typeface="Outfit"/>
              <a:sym typeface="Outfit"/>
            </a:endParaRPr>
          </a:p>
        </p:txBody>
      </p:sp>
      <p:sp>
        <p:nvSpPr>
          <p:cNvPr id="388" name="Google Shape;388;p35"/>
          <p:cNvSpPr/>
          <p:nvPr/>
        </p:nvSpPr>
        <p:spPr>
          <a:xfrm>
            <a:off x="1315675" y="2126175"/>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89" name="Google Shape;389;p35"/>
          <p:cNvSpPr/>
          <p:nvPr/>
        </p:nvSpPr>
        <p:spPr>
          <a:xfrm>
            <a:off x="1315675" y="3093475"/>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90" name="Google Shape;390;p35"/>
          <p:cNvSpPr/>
          <p:nvPr/>
        </p:nvSpPr>
        <p:spPr>
          <a:xfrm>
            <a:off x="1315675" y="4016375"/>
            <a:ext cx="148200" cy="14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cxnSp>
        <p:nvCxnSpPr>
          <p:cNvPr id="391" name="Google Shape;391;p35"/>
          <p:cNvCxnSpPr>
            <a:stCxn id="388" idx="4"/>
            <a:endCxn id="389" idx="0"/>
          </p:cNvCxnSpPr>
          <p:nvPr/>
        </p:nvCxnSpPr>
        <p:spPr>
          <a:xfrm>
            <a:off x="1389775" y="2274375"/>
            <a:ext cx="0" cy="819000"/>
          </a:xfrm>
          <a:prstGeom prst="straightConnector1">
            <a:avLst/>
          </a:prstGeom>
          <a:noFill/>
          <a:ln cap="flat" cmpd="sng" w="9525">
            <a:solidFill>
              <a:schemeClr val="dk1"/>
            </a:solidFill>
            <a:prstDash val="solid"/>
            <a:round/>
            <a:headEnd len="med" w="med" type="none"/>
            <a:tailEnd len="med" w="med" type="none"/>
          </a:ln>
        </p:spPr>
      </p:cxnSp>
      <p:cxnSp>
        <p:nvCxnSpPr>
          <p:cNvPr id="392" name="Google Shape;392;p35"/>
          <p:cNvCxnSpPr>
            <a:stCxn id="389" idx="4"/>
            <a:endCxn id="390" idx="0"/>
          </p:cNvCxnSpPr>
          <p:nvPr/>
        </p:nvCxnSpPr>
        <p:spPr>
          <a:xfrm>
            <a:off x="1389775" y="3241675"/>
            <a:ext cx="0" cy="774600"/>
          </a:xfrm>
          <a:prstGeom prst="straightConnector1">
            <a:avLst/>
          </a:prstGeom>
          <a:noFill/>
          <a:ln cap="flat" cmpd="sng" w="9525">
            <a:solidFill>
              <a:schemeClr val="dk1"/>
            </a:solidFill>
            <a:prstDash val="solid"/>
            <a:round/>
            <a:headEnd len="med" w="med" type="none"/>
            <a:tailEnd len="med" w="med" type="none"/>
          </a:ln>
        </p:spPr>
      </p:cxnSp>
      <p:sp>
        <p:nvSpPr>
          <p:cNvPr id="393" name="Google Shape;393;p35"/>
          <p:cNvSpPr txBox="1"/>
          <p:nvPr>
            <p:ph type="title"/>
          </p:nvPr>
        </p:nvSpPr>
        <p:spPr>
          <a:xfrm>
            <a:off x="790750" y="4477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6"/>
          <p:cNvSpPr txBox="1"/>
          <p:nvPr>
            <p:ph type="title"/>
          </p:nvPr>
        </p:nvSpPr>
        <p:spPr>
          <a:xfrm>
            <a:off x="745125" y="229950"/>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Time Series Analysis </a:t>
            </a:r>
            <a:endParaRPr sz="3400"/>
          </a:p>
        </p:txBody>
      </p:sp>
      <p:sp>
        <p:nvSpPr>
          <p:cNvPr id="399" name="Google Shape;399;p36"/>
          <p:cNvSpPr txBox="1"/>
          <p:nvPr>
            <p:ph idx="1" type="subTitle"/>
          </p:nvPr>
        </p:nvSpPr>
        <p:spPr>
          <a:xfrm>
            <a:off x="0" y="894775"/>
            <a:ext cx="3577800" cy="32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No significant gaps and outliers</a:t>
            </a:r>
            <a:r>
              <a:rPr lang="en"/>
              <a:t> noticed in the timeline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 analysis focus on reviews from 2000 to 2023. There are very few reviews from 2000 to 2012, and number of reviews rise from 2012 likely due to increasing use of online shopping.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amount of reviews peaked in 2019-12 and 2020-01 corresponding to starting of </a:t>
            </a:r>
            <a:r>
              <a:rPr b="1" lang="en"/>
              <a:t>COVID</a:t>
            </a:r>
            <a:r>
              <a:rPr lang="en"/>
              <a:t> during which </a:t>
            </a:r>
            <a:r>
              <a:rPr lang="en"/>
              <a:t>people’s lifestyle dependent on delivery from Amazon</a:t>
            </a:r>
            <a:r>
              <a:rPr lang="en"/>
              <a:t>. Similarly there are spikes in 2021-03 and 2021-04 overlapping the COVID lockdown.</a:t>
            </a:r>
            <a:endParaRPr/>
          </a:p>
        </p:txBody>
      </p:sp>
      <p:pic>
        <p:nvPicPr>
          <p:cNvPr id="400" name="Google Shape;400;p36"/>
          <p:cNvPicPr preferRelativeResize="0"/>
          <p:nvPr/>
        </p:nvPicPr>
        <p:blipFill>
          <a:blip r:embed="rId3">
            <a:alphaModFix/>
          </a:blip>
          <a:stretch>
            <a:fillRect/>
          </a:stretch>
        </p:blipFill>
        <p:spPr>
          <a:xfrm>
            <a:off x="3529075" y="1087500"/>
            <a:ext cx="5614924" cy="3497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7"/>
          <p:cNvSpPr txBox="1"/>
          <p:nvPr>
            <p:ph type="title"/>
          </p:nvPr>
        </p:nvSpPr>
        <p:spPr>
          <a:xfrm>
            <a:off x="301375" y="2894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Top 1-5  products with most reviews</a:t>
            </a:r>
            <a:endParaRPr/>
          </a:p>
        </p:txBody>
      </p:sp>
      <p:pic>
        <p:nvPicPr>
          <p:cNvPr id="406" name="Google Shape;406;p37"/>
          <p:cNvPicPr preferRelativeResize="0"/>
          <p:nvPr/>
        </p:nvPicPr>
        <p:blipFill>
          <a:blip r:embed="rId3">
            <a:alphaModFix/>
          </a:blip>
          <a:stretch>
            <a:fillRect/>
          </a:stretch>
        </p:blipFill>
        <p:spPr>
          <a:xfrm>
            <a:off x="209025" y="1034000"/>
            <a:ext cx="7306151" cy="3662349"/>
          </a:xfrm>
          <a:prstGeom prst="rect">
            <a:avLst/>
          </a:prstGeom>
          <a:noFill/>
          <a:ln>
            <a:noFill/>
          </a:ln>
        </p:spPr>
      </p:pic>
      <p:sp>
        <p:nvSpPr>
          <p:cNvPr id="407" name="Google Shape;407;p37"/>
          <p:cNvSpPr txBox="1"/>
          <p:nvPr>
            <p:ph idx="7" type="subTitle"/>
          </p:nvPr>
        </p:nvSpPr>
        <p:spPr>
          <a:xfrm>
            <a:off x="5081675" y="1920125"/>
            <a:ext cx="4139100" cy="2739900"/>
          </a:xfrm>
          <a:prstGeom prst="rect">
            <a:avLst/>
          </a:prstGeom>
        </p:spPr>
        <p:txBody>
          <a:bodyPr anchorCtr="0" anchor="b" bIns="91425" lIns="91425" spcFirstLastPara="1" rIns="91425" wrap="square" tIns="91425">
            <a:spAutoFit/>
          </a:bodyPr>
          <a:lstStyle/>
          <a:p>
            <a:pPr indent="-311150" lvl="0" marL="457200" rtl="0" algn="l">
              <a:lnSpc>
                <a:spcPct val="130770"/>
              </a:lnSpc>
              <a:spcBef>
                <a:spcPts val="0"/>
              </a:spcBef>
              <a:spcAft>
                <a:spcPts val="0"/>
              </a:spcAft>
              <a:buClr>
                <a:srgbClr val="212121"/>
              </a:buClr>
              <a:buSzPts val="1300"/>
              <a:buFont typeface="Arial"/>
              <a:buAutoNum type="arabicPeriod"/>
            </a:pPr>
            <a:r>
              <a:rPr b="0" lang="en" sz="1300">
                <a:solidFill>
                  <a:srgbClr val="212121"/>
                </a:solidFill>
                <a:latin typeface="Arial"/>
                <a:ea typeface="Arial"/>
                <a:cs typeface="Arial"/>
                <a:sym typeface="Arial"/>
              </a:rPr>
              <a:t>amFilm Screen Protector for Apple iPhone 8/7 (4.7”) </a:t>
            </a:r>
            <a:endParaRPr b="0" sz="1300">
              <a:solidFill>
                <a:srgbClr val="212121"/>
              </a:solidFill>
              <a:latin typeface="Arial"/>
              <a:ea typeface="Arial"/>
              <a:cs typeface="Arial"/>
              <a:sym typeface="Arial"/>
            </a:endParaRPr>
          </a:p>
          <a:p>
            <a:pPr indent="-311150" lvl="0" marL="457200" rtl="0" algn="l">
              <a:lnSpc>
                <a:spcPct val="130770"/>
              </a:lnSpc>
              <a:spcBef>
                <a:spcPts val="0"/>
              </a:spcBef>
              <a:spcAft>
                <a:spcPts val="0"/>
              </a:spcAft>
              <a:buClr>
                <a:srgbClr val="212121"/>
              </a:buClr>
              <a:buSzPts val="1300"/>
              <a:buFont typeface="Arial"/>
              <a:buAutoNum type="arabicPeriod"/>
            </a:pPr>
            <a:r>
              <a:rPr b="0" lang="en" sz="1300">
                <a:solidFill>
                  <a:srgbClr val="212121"/>
                </a:solidFill>
                <a:latin typeface="Arial"/>
                <a:ea typeface="Arial"/>
                <a:cs typeface="Arial"/>
                <a:sym typeface="Arial"/>
              </a:rPr>
              <a:t>REVLON One-Step Volumizer Original 1.0 Hair Dryer and Hot Air Brush</a:t>
            </a:r>
            <a:endParaRPr b="0" sz="1300">
              <a:solidFill>
                <a:srgbClr val="212121"/>
              </a:solidFill>
              <a:latin typeface="Arial"/>
              <a:ea typeface="Arial"/>
              <a:cs typeface="Arial"/>
              <a:sym typeface="Arial"/>
            </a:endParaRPr>
          </a:p>
          <a:p>
            <a:pPr indent="-311150" lvl="0" marL="457200" rtl="0" algn="l">
              <a:lnSpc>
                <a:spcPct val="130770"/>
              </a:lnSpc>
              <a:spcBef>
                <a:spcPts val="0"/>
              </a:spcBef>
              <a:spcAft>
                <a:spcPts val="0"/>
              </a:spcAft>
              <a:buClr>
                <a:srgbClr val="212121"/>
              </a:buClr>
              <a:buSzPts val="1300"/>
              <a:buFont typeface="Arial"/>
              <a:buAutoNum type="arabicPeriod"/>
            </a:pPr>
            <a:r>
              <a:rPr b="0" lang="en" sz="1300">
                <a:solidFill>
                  <a:srgbClr val="212121"/>
                </a:solidFill>
                <a:latin typeface="Arial"/>
                <a:ea typeface="Arial"/>
                <a:cs typeface="Arial"/>
                <a:sym typeface="Arial"/>
              </a:rPr>
              <a:t>essence Lash Princess False Lash Effect Mascara</a:t>
            </a:r>
            <a:endParaRPr b="0" sz="1300">
              <a:solidFill>
                <a:srgbClr val="212121"/>
              </a:solidFill>
              <a:latin typeface="Arial"/>
              <a:ea typeface="Arial"/>
              <a:cs typeface="Arial"/>
              <a:sym typeface="Arial"/>
            </a:endParaRPr>
          </a:p>
          <a:p>
            <a:pPr indent="-311150" lvl="0" marL="457200" rtl="0" algn="l">
              <a:lnSpc>
                <a:spcPct val="130770"/>
              </a:lnSpc>
              <a:spcBef>
                <a:spcPts val="0"/>
              </a:spcBef>
              <a:spcAft>
                <a:spcPts val="0"/>
              </a:spcAft>
              <a:buClr>
                <a:srgbClr val="212121"/>
              </a:buClr>
              <a:buSzPts val="1300"/>
              <a:buFont typeface="Arial"/>
              <a:buAutoNum type="arabicPeriod"/>
            </a:pPr>
            <a:r>
              <a:rPr b="0" lang="en" sz="1300">
                <a:solidFill>
                  <a:srgbClr val="212121"/>
                </a:solidFill>
                <a:latin typeface="Arial"/>
                <a:ea typeface="Arial"/>
                <a:cs typeface="Arial"/>
                <a:sym typeface="Arial"/>
              </a:rPr>
              <a:t>HSI Professional Glider Ceramic Flat Iron Hair Straightener</a:t>
            </a:r>
            <a:endParaRPr b="0" sz="1300">
              <a:solidFill>
                <a:srgbClr val="212121"/>
              </a:solidFill>
              <a:latin typeface="Arial"/>
              <a:ea typeface="Arial"/>
              <a:cs typeface="Arial"/>
              <a:sym typeface="Arial"/>
            </a:endParaRPr>
          </a:p>
          <a:p>
            <a:pPr indent="-311150" lvl="0" marL="457200" rtl="0" algn="l">
              <a:lnSpc>
                <a:spcPct val="130770"/>
              </a:lnSpc>
              <a:spcBef>
                <a:spcPts val="0"/>
              </a:spcBef>
              <a:spcAft>
                <a:spcPts val="0"/>
              </a:spcAft>
              <a:buClr>
                <a:srgbClr val="212121"/>
              </a:buClr>
              <a:buSzPts val="1300"/>
              <a:buFont typeface="Arial"/>
              <a:buAutoNum type="arabicPeriod"/>
            </a:pPr>
            <a:r>
              <a:rPr b="0" lang="en" sz="1300">
                <a:solidFill>
                  <a:srgbClr val="212121"/>
                </a:solidFill>
                <a:latin typeface="Arial"/>
                <a:ea typeface="Arial"/>
                <a:cs typeface="Arial"/>
                <a:sym typeface="Arial"/>
              </a:rPr>
              <a:t>Yootech Wireless Charger 10W Max Fast Charging Pad</a:t>
            </a:r>
            <a:endParaRPr b="0" sz="2600">
              <a:solidFill>
                <a:srgbClr val="212121"/>
              </a:solidFill>
            </a:endParaRPr>
          </a:p>
        </p:txBody>
      </p:sp>
      <p:sp>
        <p:nvSpPr>
          <p:cNvPr id="408" name="Google Shape;408;p37"/>
          <p:cNvSpPr txBox="1"/>
          <p:nvPr/>
        </p:nvSpPr>
        <p:spPr>
          <a:xfrm>
            <a:off x="7515175" y="999050"/>
            <a:ext cx="1456800" cy="7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657E93"/>
                </a:solidFill>
                <a:latin typeface="Outfit"/>
                <a:ea typeface="Outfit"/>
                <a:cs typeface="Outfit"/>
                <a:sym typeface="Outfit"/>
              </a:rPr>
              <a:t>Popular items include Phone protector, beauty products.</a:t>
            </a:r>
            <a:endParaRPr sz="1300">
              <a:solidFill>
                <a:srgbClr val="657E93"/>
              </a:solidFill>
              <a:latin typeface="Outfit"/>
              <a:ea typeface="Outfit"/>
              <a:cs typeface="Outfit"/>
              <a:sym typeface="Outfi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8"/>
          <p:cNvSpPr txBox="1"/>
          <p:nvPr>
            <p:ph type="title"/>
          </p:nvPr>
        </p:nvSpPr>
        <p:spPr>
          <a:xfrm>
            <a:off x="460125" y="3361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Top 6-10  products with most reviews</a:t>
            </a:r>
            <a:endParaRPr/>
          </a:p>
        </p:txBody>
      </p:sp>
      <p:pic>
        <p:nvPicPr>
          <p:cNvPr id="414" name="Google Shape;414;p38"/>
          <p:cNvPicPr preferRelativeResize="0"/>
          <p:nvPr/>
        </p:nvPicPr>
        <p:blipFill>
          <a:blip r:embed="rId3">
            <a:alphaModFix/>
          </a:blip>
          <a:stretch>
            <a:fillRect/>
          </a:stretch>
        </p:blipFill>
        <p:spPr>
          <a:xfrm>
            <a:off x="303325" y="1061275"/>
            <a:ext cx="7553075" cy="3786101"/>
          </a:xfrm>
          <a:prstGeom prst="rect">
            <a:avLst/>
          </a:prstGeom>
          <a:noFill/>
          <a:ln>
            <a:noFill/>
          </a:ln>
        </p:spPr>
      </p:pic>
      <p:sp>
        <p:nvSpPr>
          <p:cNvPr id="415" name="Google Shape;415;p38"/>
          <p:cNvSpPr txBox="1"/>
          <p:nvPr>
            <p:ph idx="7" type="subTitle"/>
          </p:nvPr>
        </p:nvSpPr>
        <p:spPr>
          <a:xfrm>
            <a:off x="5500350" y="2122175"/>
            <a:ext cx="3522900" cy="2739900"/>
          </a:xfrm>
          <a:prstGeom prst="rect">
            <a:avLst/>
          </a:prstGeom>
        </p:spPr>
        <p:txBody>
          <a:bodyPr anchorCtr="0" anchor="b" bIns="91425" lIns="91425" spcFirstLastPara="1" rIns="91425" wrap="square" tIns="91425">
            <a:spAutoFit/>
          </a:bodyPr>
          <a:lstStyle/>
          <a:p>
            <a:pPr indent="0" lvl="0" marL="0" rtl="0" algn="l">
              <a:lnSpc>
                <a:spcPct val="130770"/>
              </a:lnSpc>
              <a:spcBef>
                <a:spcPts val="0"/>
              </a:spcBef>
              <a:spcAft>
                <a:spcPts val="0"/>
              </a:spcAft>
              <a:buNone/>
            </a:pPr>
            <a:r>
              <a:rPr b="0" lang="en" sz="1300">
                <a:solidFill>
                  <a:srgbClr val="000000"/>
                </a:solidFill>
                <a:latin typeface="Arial"/>
                <a:ea typeface="Arial"/>
                <a:cs typeface="Arial"/>
                <a:sym typeface="Arial"/>
              </a:rPr>
              <a:t>6. Beam Electronics Car Phone Holder Mount, Phone Car Air Vent</a:t>
            </a:r>
            <a:endParaRPr b="0" sz="1300">
              <a:solidFill>
                <a:srgbClr val="000000"/>
              </a:solidFill>
              <a:latin typeface="Arial"/>
              <a:ea typeface="Arial"/>
              <a:cs typeface="Arial"/>
              <a:sym typeface="Arial"/>
            </a:endParaRPr>
          </a:p>
          <a:p>
            <a:pPr indent="0" lvl="0" marL="0" rtl="0" algn="l">
              <a:lnSpc>
                <a:spcPct val="130770"/>
              </a:lnSpc>
              <a:spcBef>
                <a:spcPts val="0"/>
              </a:spcBef>
              <a:spcAft>
                <a:spcPts val="0"/>
              </a:spcAft>
              <a:buNone/>
            </a:pPr>
            <a:r>
              <a:rPr b="0" lang="en" sz="1300">
                <a:solidFill>
                  <a:srgbClr val="000000"/>
                </a:solidFill>
                <a:latin typeface="Arial"/>
                <a:ea typeface="Arial"/>
                <a:cs typeface="Arial"/>
                <a:sym typeface="Arial"/>
              </a:rPr>
              <a:t>7. Ailun Glass Screen Protector Compatible for iPhone 11/XR, 6.1</a:t>
            </a:r>
            <a:endParaRPr b="0" sz="1300">
              <a:solidFill>
                <a:srgbClr val="000000"/>
              </a:solidFill>
              <a:latin typeface="Arial"/>
              <a:ea typeface="Arial"/>
              <a:cs typeface="Arial"/>
              <a:sym typeface="Arial"/>
            </a:endParaRPr>
          </a:p>
          <a:p>
            <a:pPr indent="0" lvl="0" marL="0" rtl="0" algn="l">
              <a:lnSpc>
                <a:spcPct val="130770"/>
              </a:lnSpc>
              <a:spcBef>
                <a:spcPts val="0"/>
              </a:spcBef>
              <a:spcAft>
                <a:spcPts val="0"/>
              </a:spcAft>
              <a:buNone/>
            </a:pPr>
            <a:r>
              <a:rPr b="0" lang="en" sz="1300">
                <a:solidFill>
                  <a:srgbClr val="000000"/>
                </a:solidFill>
                <a:latin typeface="Arial"/>
                <a:ea typeface="Arial"/>
                <a:cs typeface="Arial"/>
                <a:sym typeface="Arial"/>
              </a:rPr>
              <a:t>8. Ailun Screen Protector Compatible for iPhone 8 Plus, 7 Plus, 6</a:t>
            </a:r>
            <a:endParaRPr b="0" sz="1300">
              <a:solidFill>
                <a:srgbClr val="000000"/>
              </a:solidFill>
              <a:latin typeface="Arial"/>
              <a:ea typeface="Arial"/>
              <a:cs typeface="Arial"/>
              <a:sym typeface="Arial"/>
            </a:endParaRPr>
          </a:p>
          <a:p>
            <a:pPr indent="0" lvl="0" marL="0" rtl="0" algn="l">
              <a:lnSpc>
                <a:spcPct val="130770"/>
              </a:lnSpc>
              <a:spcBef>
                <a:spcPts val="0"/>
              </a:spcBef>
              <a:spcAft>
                <a:spcPts val="0"/>
              </a:spcAft>
              <a:buNone/>
            </a:pPr>
            <a:r>
              <a:rPr b="0" lang="en" sz="1300">
                <a:solidFill>
                  <a:srgbClr val="000000"/>
                </a:solidFill>
                <a:latin typeface="Arial"/>
                <a:ea typeface="Arial"/>
                <a:cs typeface="Arial"/>
                <a:sym typeface="Arial"/>
              </a:rPr>
              <a:t>9. Mkeke Compatible with iPhone 11 Screen Protector</a:t>
            </a:r>
            <a:endParaRPr b="0" sz="1300">
              <a:solidFill>
                <a:srgbClr val="000000"/>
              </a:solidFill>
              <a:latin typeface="Arial"/>
              <a:ea typeface="Arial"/>
              <a:cs typeface="Arial"/>
              <a:sym typeface="Arial"/>
            </a:endParaRPr>
          </a:p>
          <a:p>
            <a:pPr indent="0" lvl="0" marL="0" rtl="0" algn="l">
              <a:lnSpc>
                <a:spcPct val="130770"/>
              </a:lnSpc>
              <a:spcBef>
                <a:spcPts val="0"/>
              </a:spcBef>
              <a:spcAft>
                <a:spcPts val="0"/>
              </a:spcAft>
              <a:buNone/>
            </a:pPr>
            <a:r>
              <a:rPr b="0" lang="en" sz="1300">
                <a:solidFill>
                  <a:srgbClr val="000000"/>
                </a:solidFill>
                <a:latin typeface="Arial"/>
                <a:ea typeface="Arial"/>
                <a:cs typeface="Arial"/>
                <a:sym typeface="Arial"/>
              </a:rPr>
              <a:t>10. WixGear Universal Air Vent Magnetic Phone Car Mount Holder</a:t>
            </a:r>
            <a:endParaRPr b="0" sz="2800">
              <a:solidFill>
                <a:srgbClr val="325D79"/>
              </a:solidFill>
            </a:endParaRPr>
          </a:p>
        </p:txBody>
      </p:sp>
      <p:sp>
        <p:nvSpPr>
          <p:cNvPr id="416" name="Google Shape;416;p38"/>
          <p:cNvSpPr txBox="1"/>
          <p:nvPr/>
        </p:nvSpPr>
        <p:spPr>
          <a:xfrm>
            <a:off x="7868475" y="1035325"/>
            <a:ext cx="1211400" cy="10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F8195"/>
                </a:solidFill>
                <a:latin typeface="Outfit"/>
                <a:ea typeface="Outfit"/>
                <a:cs typeface="Outfit"/>
                <a:sym typeface="Outfit"/>
              </a:rPr>
              <a:t>Mostly </a:t>
            </a:r>
            <a:r>
              <a:rPr lang="en">
                <a:solidFill>
                  <a:srgbClr val="5F8195"/>
                </a:solidFill>
                <a:latin typeface="Outfit"/>
                <a:ea typeface="Outfit"/>
                <a:cs typeface="Outfit"/>
                <a:sym typeface="Outfit"/>
              </a:rPr>
              <a:t>electronics</a:t>
            </a:r>
            <a:r>
              <a:rPr lang="en">
                <a:solidFill>
                  <a:srgbClr val="5F8195"/>
                </a:solidFill>
                <a:latin typeface="Outfit"/>
                <a:ea typeface="Outfit"/>
                <a:cs typeface="Outfit"/>
                <a:sym typeface="Outfit"/>
              </a:rPr>
              <a:t> related products</a:t>
            </a:r>
            <a:endParaRPr>
              <a:solidFill>
                <a:srgbClr val="5F8195"/>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9"/>
          <p:cNvSpPr txBox="1"/>
          <p:nvPr>
            <p:ph type="title"/>
          </p:nvPr>
        </p:nvSpPr>
        <p:spPr>
          <a:xfrm>
            <a:off x="229625" y="445025"/>
            <a:ext cx="79185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a:t>C</a:t>
            </a:r>
            <a:r>
              <a:rPr lang="en"/>
              <a:t>ategories that have most reviews</a:t>
            </a:r>
            <a:endParaRPr/>
          </a:p>
        </p:txBody>
      </p:sp>
      <p:sp>
        <p:nvSpPr>
          <p:cNvPr id="422" name="Google Shape;422;p39"/>
          <p:cNvSpPr txBox="1"/>
          <p:nvPr>
            <p:ph idx="1" type="subTitle"/>
          </p:nvPr>
        </p:nvSpPr>
        <p:spPr>
          <a:xfrm>
            <a:off x="478074" y="1886725"/>
            <a:ext cx="22662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Peaked in Winter</a:t>
            </a:r>
            <a:endParaRPr/>
          </a:p>
          <a:p>
            <a:pPr indent="0" lvl="0" marL="0" rtl="0" algn="ctr">
              <a:spcBef>
                <a:spcPts val="0"/>
              </a:spcBef>
              <a:spcAft>
                <a:spcPts val="0"/>
              </a:spcAft>
              <a:buNone/>
            </a:pPr>
            <a:r>
              <a:rPr lang="en"/>
              <a:t> (Dec - March) sales season</a:t>
            </a:r>
            <a:endParaRPr/>
          </a:p>
        </p:txBody>
      </p:sp>
      <p:sp>
        <p:nvSpPr>
          <p:cNvPr id="423" name="Google Shape;423;p39"/>
          <p:cNvSpPr txBox="1"/>
          <p:nvPr>
            <p:ph idx="2" type="subTitle"/>
          </p:nvPr>
        </p:nvSpPr>
        <p:spPr>
          <a:xfrm>
            <a:off x="2948663" y="2235613"/>
            <a:ext cx="22659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Peaked in Jan &amp; Dec due to holiday gifts</a:t>
            </a:r>
            <a:endParaRPr/>
          </a:p>
        </p:txBody>
      </p:sp>
      <p:sp>
        <p:nvSpPr>
          <p:cNvPr id="424" name="Google Shape;424;p39"/>
          <p:cNvSpPr txBox="1"/>
          <p:nvPr>
            <p:ph idx="5" type="subTitle"/>
          </p:nvPr>
        </p:nvSpPr>
        <p:spPr>
          <a:xfrm>
            <a:off x="5514825" y="2033850"/>
            <a:ext cx="31137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Spread Out</a:t>
            </a:r>
            <a:r>
              <a:rPr lang="en"/>
              <a:t> throughout the year</a:t>
            </a:r>
            <a:endParaRPr/>
          </a:p>
        </p:txBody>
      </p:sp>
      <p:sp>
        <p:nvSpPr>
          <p:cNvPr id="425" name="Google Shape;425;p39"/>
          <p:cNvSpPr txBox="1"/>
          <p:nvPr>
            <p:ph idx="7" type="subTitle"/>
          </p:nvPr>
        </p:nvSpPr>
        <p:spPr>
          <a:xfrm>
            <a:off x="478074" y="1541250"/>
            <a:ext cx="22662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1. </a:t>
            </a:r>
            <a:r>
              <a:rPr lang="en"/>
              <a:t>All Beauty</a:t>
            </a:r>
            <a:endParaRPr/>
          </a:p>
        </p:txBody>
      </p:sp>
      <p:sp>
        <p:nvSpPr>
          <p:cNvPr id="426" name="Google Shape;426;p39"/>
          <p:cNvSpPr txBox="1"/>
          <p:nvPr>
            <p:ph idx="8" type="subTitle"/>
          </p:nvPr>
        </p:nvSpPr>
        <p:spPr>
          <a:xfrm>
            <a:off x="2996588" y="1847750"/>
            <a:ext cx="22659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 Cell Phones &amp; accessories</a:t>
            </a:r>
            <a:endParaRPr/>
          </a:p>
        </p:txBody>
      </p:sp>
      <p:sp>
        <p:nvSpPr>
          <p:cNvPr id="427" name="Google Shape;427;p39"/>
          <p:cNvSpPr txBox="1"/>
          <p:nvPr>
            <p:ph idx="9" type="subTitle"/>
          </p:nvPr>
        </p:nvSpPr>
        <p:spPr>
          <a:xfrm>
            <a:off x="5721050" y="1541238"/>
            <a:ext cx="22659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 Automotive</a:t>
            </a:r>
            <a:endParaRPr/>
          </a:p>
        </p:txBody>
      </p:sp>
      <p:sp>
        <p:nvSpPr>
          <p:cNvPr id="428" name="Google Shape;428;p39"/>
          <p:cNvSpPr txBox="1"/>
          <p:nvPr>
            <p:ph idx="14" type="subTitle"/>
          </p:nvPr>
        </p:nvSpPr>
        <p:spPr>
          <a:xfrm>
            <a:off x="2111400" y="3170400"/>
            <a:ext cx="4921200" cy="141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l">
              <a:spcBef>
                <a:spcPts val="0"/>
              </a:spcBef>
              <a:spcAft>
                <a:spcPts val="0"/>
              </a:spcAft>
              <a:buNone/>
            </a:pPr>
            <a:r>
              <a:rPr lang="en" sz="2100"/>
              <a:t>    </a:t>
            </a:r>
            <a:r>
              <a:rPr lang="en" sz="2100"/>
              <a:t>Other highly reviewed categories:</a:t>
            </a:r>
            <a:endParaRPr sz="2100"/>
          </a:p>
          <a:p>
            <a:pPr indent="0" lvl="0" marL="0" rtl="0" algn="ctr">
              <a:spcBef>
                <a:spcPts val="0"/>
              </a:spcBef>
              <a:spcAft>
                <a:spcPts val="0"/>
              </a:spcAft>
              <a:buNone/>
            </a:pPr>
            <a:r>
              <a:rPr lang="en" sz="1500"/>
              <a:t>Health &amp; personal care</a:t>
            </a:r>
            <a:endParaRPr sz="1500"/>
          </a:p>
          <a:p>
            <a:pPr indent="0" lvl="0" marL="0" rtl="0" algn="ctr">
              <a:spcBef>
                <a:spcPts val="0"/>
              </a:spcBef>
              <a:spcAft>
                <a:spcPts val="0"/>
              </a:spcAft>
              <a:buNone/>
            </a:pPr>
            <a:r>
              <a:rPr lang="en" sz="1500"/>
              <a:t>All electronics</a:t>
            </a:r>
            <a:endParaRPr sz="1500"/>
          </a:p>
          <a:p>
            <a:pPr indent="0" lvl="0" marL="0" rtl="0" algn="ctr">
              <a:spcBef>
                <a:spcPts val="0"/>
              </a:spcBef>
              <a:spcAft>
                <a:spcPts val="0"/>
              </a:spcAft>
              <a:buNone/>
            </a:pPr>
            <a:r>
              <a:rPr lang="en" sz="1500"/>
              <a:t>Amazon home</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0"/>
          <p:cNvSpPr txBox="1"/>
          <p:nvPr>
            <p:ph type="title"/>
          </p:nvPr>
        </p:nvSpPr>
        <p:spPr>
          <a:xfrm>
            <a:off x="-482775" y="360150"/>
            <a:ext cx="9626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a:t>
            </a:r>
            <a:r>
              <a:rPr lang="en" sz="3300"/>
              <a:t>Ten highly rated products with most reviews</a:t>
            </a:r>
            <a:endParaRPr sz="3300"/>
          </a:p>
        </p:txBody>
      </p:sp>
      <p:sp>
        <p:nvSpPr>
          <p:cNvPr id="434" name="Google Shape;434;p40"/>
          <p:cNvSpPr txBox="1"/>
          <p:nvPr>
            <p:ph idx="2" type="subTitle"/>
          </p:nvPr>
        </p:nvSpPr>
        <p:spPr>
          <a:xfrm>
            <a:off x="1778775" y="3683225"/>
            <a:ext cx="6194400" cy="114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These are some products with high ratings (&gt;4.9) and still have lots of reviews (mostly 500-2000 review counts). </a:t>
            </a:r>
            <a:endParaRPr/>
          </a:p>
          <a:p>
            <a:pPr indent="0" lvl="0" marL="0" rtl="0" algn="ctr">
              <a:spcBef>
                <a:spcPts val="0"/>
              </a:spcBef>
              <a:spcAft>
                <a:spcPts val="0"/>
              </a:spcAft>
              <a:buNone/>
            </a:pPr>
            <a:r>
              <a:rPr lang="en"/>
              <a:t>Most of these products are under $25.</a:t>
            </a:r>
            <a:endParaRPr/>
          </a:p>
        </p:txBody>
      </p:sp>
      <p:pic>
        <p:nvPicPr>
          <p:cNvPr id="435" name="Google Shape;435;p40"/>
          <p:cNvPicPr preferRelativeResize="0"/>
          <p:nvPr/>
        </p:nvPicPr>
        <p:blipFill>
          <a:blip r:embed="rId3">
            <a:alphaModFix/>
          </a:blip>
          <a:stretch>
            <a:fillRect/>
          </a:stretch>
        </p:blipFill>
        <p:spPr>
          <a:xfrm>
            <a:off x="1399600" y="1237650"/>
            <a:ext cx="6653099" cy="2445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1"/>
          <p:cNvSpPr txBox="1"/>
          <p:nvPr>
            <p:ph type="title"/>
          </p:nvPr>
        </p:nvSpPr>
        <p:spPr>
          <a:xfrm>
            <a:off x="735500" y="278050"/>
            <a:ext cx="7917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a:t>
            </a:r>
            <a:r>
              <a:rPr lang="en"/>
              <a:t>eview volumes and ratings</a:t>
            </a:r>
            <a:endParaRPr sz="3400"/>
          </a:p>
        </p:txBody>
      </p:sp>
      <p:pic>
        <p:nvPicPr>
          <p:cNvPr id="441" name="Google Shape;441;p41"/>
          <p:cNvPicPr preferRelativeResize="0"/>
          <p:nvPr/>
        </p:nvPicPr>
        <p:blipFill>
          <a:blip r:embed="rId3">
            <a:alphaModFix/>
          </a:blip>
          <a:stretch>
            <a:fillRect/>
          </a:stretch>
        </p:blipFill>
        <p:spPr>
          <a:xfrm>
            <a:off x="735500" y="1144211"/>
            <a:ext cx="7305450" cy="2855090"/>
          </a:xfrm>
          <a:prstGeom prst="rect">
            <a:avLst/>
          </a:prstGeom>
          <a:noFill/>
          <a:ln>
            <a:noFill/>
          </a:ln>
        </p:spPr>
      </p:pic>
      <p:sp>
        <p:nvSpPr>
          <p:cNvPr id="442" name="Google Shape;442;p41"/>
          <p:cNvSpPr txBox="1"/>
          <p:nvPr>
            <p:ph idx="4294967295" type="subTitle"/>
          </p:nvPr>
        </p:nvSpPr>
        <p:spPr>
          <a:xfrm>
            <a:off x="652675" y="4103975"/>
            <a:ext cx="7173900" cy="92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Highest number of reviews clustered around 4.0 to 4.5 bin. </a:t>
            </a:r>
            <a:endParaRPr/>
          </a:p>
          <a:p>
            <a:pPr indent="0" lvl="0" marL="0" rtl="0" algn="l">
              <a:spcBef>
                <a:spcPts val="0"/>
              </a:spcBef>
              <a:spcAft>
                <a:spcPts val="0"/>
              </a:spcAft>
              <a:buNone/>
            </a:pPr>
            <a:r>
              <a:rPr lang="en"/>
              <a:t>The second highest number of reviews are 3.0 to 4.0 bin and 4.5 to 5 bin.</a:t>
            </a:r>
            <a:endParaRPr/>
          </a:p>
          <a:p>
            <a:pPr indent="0" lvl="0" marL="0" rtl="0" algn="l">
              <a:spcBef>
                <a:spcPts val="0"/>
              </a:spcBef>
              <a:spcAft>
                <a:spcPts val="0"/>
              </a:spcAft>
              <a:buNone/>
            </a:pPr>
            <a:r>
              <a:rPr lang="en"/>
              <a:t>The lowest number of reviews in 0-2 bin.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2"/>
          <p:cNvSpPr txBox="1"/>
          <p:nvPr>
            <p:ph type="title"/>
          </p:nvPr>
        </p:nvSpPr>
        <p:spPr>
          <a:xfrm>
            <a:off x="131375" y="2480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Price and Rating relationship</a:t>
            </a:r>
            <a:endParaRPr/>
          </a:p>
        </p:txBody>
      </p:sp>
      <p:sp>
        <p:nvSpPr>
          <p:cNvPr id="448" name="Google Shape;448;p42"/>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42"/>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42"/>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42"/>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452" name="Google Shape;452;p42"/>
          <p:cNvPicPr preferRelativeResize="0"/>
          <p:nvPr/>
        </p:nvPicPr>
        <p:blipFill>
          <a:blip r:embed="rId3">
            <a:alphaModFix/>
          </a:blip>
          <a:stretch>
            <a:fillRect/>
          </a:stretch>
        </p:blipFill>
        <p:spPr>
          <a:xfrm>
            <a:off x="531738" y="888275"/>
            <a:ext cx="8080526" cy="3000326"/>
          </a:xfrm>
          <a:prstGeom prst="rect">
            <a:avLst/>
          </a:prstGeom>
          <a:noFill/>
          <a:ln>
            <a:noFill/>
          </a:ln>
        </p:spPr>
      </p:pic>
      <p:sp>
        <p:nvSpPr>
          <p:cNvPr id="453" name="Google Shape;453;p42"/>
          <p:cNvSpPr txBox="1"/>
          <p:nvPr/>
        </p:nvSpPr>
        <p:spPr>
          <a:xfrm>
            <a:off x="1390425" y="3888600"/>
            <a:ext cx="70473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utfit"/>
                <a:ea typeface="Outfit"/>
                <a:cs typeface="Outfit"/>
                <a:sym typeface="Outfit"/>
              </a:rPr>
              <a:t>As product prices increased, the number of reviews tended to decrease (right)</a:t>
            </a:r>
            <a:r>
              <a:rPr lang="en">
                <a:solidFill>
                  <a:schemeClr val="dk1"/>
                </a:solidFill>
                <a:latin typeface="Outfit"/>
                <a:ea typeface="Outfit"/>
                <a:cs typeface="Outfit"/>
                <a:sym typeface="Outfit"/>
              </a:rPr>
              <a:t>, suggesting that higher-priced items attract fewer buyers or generate less user feedback. Additionally, </a:t>
            </a:r>
            <a:r>
              <a:rPr b="1" lang="en">
                <a:solidFill>
                  <a:schemeClr val="dk1"/>
                </a:solidFill>
                <a:latin typeface="Outfit"/>
                <a:ea typeface="Outfit"/>
                <a:cs typeface="Outfit"/>
                <a:sym typeface="Outfit"/>
              </a:rPr>
              <a:t>the average rating is higher at higher prices (left)</a:t>
            </a:r>
            <a:r>
              <a:rPr lang="en">
                <a:solidFill>
                  <a:schemeClr val="dk1"/>
                </a:solidFill>
                <a:latin typeface="Outfit"/>
                <a:ea typeface="Outfit"/>
                <a:cs typeface="Outfit"/>
                <a:sym typeface="Outfit"/>
              </a:rPr>
              <a:t>, indicating that more expensive products generally receive more consistently positive reviews.</a:t>
            </a:r>
            <a:endParaRPr>
              <a:solidFill>
                <a:schemeClr val="dk1"/>
              </a:solidFill>
              <a:latin typeface="Outfit"/>
              <a:ea typeface="Outfit"/>
              <a:cs typeface="Outfit"/>
              <a:sym typeface="Outfi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3"/>
          <p:cNvSpPr txBox="1"/>
          <p:nvPr>
            <p:ph type="title"/>
          </p:nvPr>
        </p:nvSpPr>
        <p:spPr>
          <a:xfrm>
            <a:off x="720000" y="1973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Top reviewers and common words</a:t>
            </a:r>
            <a:endParaRPr/>
          </a:p>
        </p:txBody>
      </p:sp>
      <p:pic>
        <p:nvPicPr>
          <p:cNvPr id="459" name="Google Shape;459;p43"/>
          <p:cNvPicPr preferRelativeResize="0"/>
          <p:nvPr/>
        </p:nvPicPr>
        <p:blipFill>
          <a:blip r:embed="rId3">
            <a:alphaModFix/>
          </a:blip>
          <a:stretch>
            <a:fillRect/>
          </a:stretch>
        </p:blipFill>
        <p:spPr>
          <a:xfrm>
            <a:off x="5345270" y="960863"/>
            <a:ext cx="3476804" cy="2563936"/>
          </a:xfrm>
          <a:prstGeom prst="rect">
            <a:avLst/>
          </a:prstGeom>
          <a:noFill/>
          <a:ln>
            <a:noFill/>
          </a:ln>
        </p:spPr>
      </p:pic>
      <p:sp>
        <p:nvSpPr>
          <p:cNvPr id="460" name="Google Shape;460;p43"/>
          <p:cNvSpPr txBox="1"/>
          <p:nvPr/>
        </p:nvSpPr>
        <p:spPr>
          <a:xfrm>
            <a:off x="5442975" y="3607350"/>
            <a:ext cx="3281400" cy="86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DM Sans"/>
                <a:ea typeface="DM Sans"/>
                <a:cs typeface="DM Sans"/>
                <a:sym typeface="DM Sans"/>
              </a:rPr>
              <a:t>Top reviewers frequently wrote reviews </a:t>
            </a:r>
            <a:r>
              <a:rPr lang="en" sz="1300">
                <a:solidFill>
                  <a:schemeClr val="dk1"/>
                </a:solidFill>
                <a:latin typeface="DM Sans"/>
                <a:ea typeface="DM Sans"/>
                <a:cs typeface="DM Sans"/>
                <a:sym typeface="DM Sans"/>
              </a:rPr>
              <a:t>across different categories. I wonder if there are any incentives or discounts for writing reviews by Amazon.  </a:t>
            </a:r>
            <a:endParaRPr sz="1300">
              <a:solidFill>
                <a:schemeClr val="dk1"/>
              </a:solidFill>
              <a:latin typeface="DM Sans"/>
              <a:ea typeface="DM Sans"/>
              <a:cs typeface="DM Sans"/>
              <a:sym typeface="DM Sans"/>
            </a:endParaRPr>
          </a:p>
        </p:txBody>
      </p:sp>
      <p:pic>
        <p:nvPicPr>
          <p:cNvPr id="461" name="Google Shape;461;p43"/>
          <p:cNvPicPr preferRelativeResize="0"/>
          <p:nvPr/>
        </p:nvPicPr>
        <p:blipFill>
          <a:blip r:embed="rId4">
            <a:alphaModFix/>
          </a:blip>
          <a:stretch>
            <a:fillRect/>
          </a:stretch>
        </p:blipFill>
        <p:spPr>
          <a:xfrm>
            <a:off x="137000" y="1402050"/>
            <a:ext cx="3627199" cy="1911826"/>
          </a:xfrm>
          <a:prstGeom prst="rect">
            <a:avLst/>
          </a:prstGeom>
          <a:noFill/>
          <a:ln>
            <a:noFill/>
          </a:ln>
        </p:spPr>
      </p:pic>
      <p:sp>
        <p:nvSpPr>
          <p:cNvPr id="462" name="Google Shape;462;p43"/>
          <p:cNvSpPr txBox="1"/>
          <p:nvPr/>
        </p:nvSpPr>
        <p:spPr>
          <a:xfrm>
            <a:off x="231450" y="1086025"/>
            <a:ext cx="4192800" cy="11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Common Words in </a:t>
            </a:r>
            <a:r>
              <a:rPr b="1" lang="en">
                <a:solidFill>
                  <a:schemeClr val="dk1"/>
                </a:solidFill>
                <a:latin typeface="DM Sans"/>
                <a:ea typeface="DM Sans"/>
                <a:cs typeface="DM Sans"/>
                <a:sym typeface="DM Sans"/>
              </a:rPr>
              <a:t>5 star reviews</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463" name="Google Shape;463;p43"/>
          <p:cNvSpPr txBox="1"/>
          <p:nvPr/>
        </p:nvSpPr>
        <p:spPr>
          <a:xfrm>
            <a:off x="2159625" y="3095175"/>
            <a:ext cx="30570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Common words in </a:t>
            </a:r>
            <a:r>
              <a:rPr b="1" lang="en">
                <a:solidFill>
                  <a:schemeClr val="dk1"/>
                </a:solidFill>
                <a:latin typeface="DM Sans"/>
                <a:ea typeface="DM Sans"/>
                <a:cs typeface="DM Sans"/>
                <a:sym typeface="DM Sans"/>
              </a:rPr>
              <a:t>1 star reviews</a:t>
            </a:r>
            <a:endParaRPr b="1">
              <a:solidFill>
                <a:schemeClr val="dk1"/>
              </a:solidFill>
              <a:latin typeface="DM Sans"/>
              <a:ea typeface="DM Sans"/>
              <a:cs typeface="DM Sans"/>
              <a:sym typeface="DM Sans"/>
            </a:endParaRPr>
          </a:p>
        </p:txBody>
      </p:sp>
      <p:pic>
        <p:nvPicPr>
          <p:cNvPr id="464" name="Google Shape;464;p43"/>
          <p:cNvPicPr preferRelativeResize="0"/>
          <p:nvPr/>
        </p:nvPicPr>
        <p:blipFill>
          <a:blip r:embed="rId5">
            <a:alphaModFix/>
          </a:blip>
          <a:stretch>
            <a:fillRect/>
          </a:stretch>
        </p:blipFill>
        <p:spPr>
          <a:xfrm>
            <a:off x="2288225" y="3439801"/>
            <a:ext cx="3057049" cy="1639950"/>
          </a:xfrm>
          <a:prstGeom prst="rect">
            <a:avLst/>
          </a:prstGeom>
          <a:noFill/>
          <a:ln>
            <a:noFill/>
          </a:ln>
        </p:spPr>
      </p:pic>
      <p:sp>
        <p:nvSpPr>
          <p:cNvPr id="465" name="Google Shape;465;p43"/>
          <p:cNvSpPr txBox="1"/>
          <p:nvPr/>
        </p:nvSpPr>
        <p:spPr>
          <a:xfrm>
            <a:off x="3630075" y="1333500"/>
            <a:ext cx="1586700" cy="6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More positive (well, nice, easy)</a:t>
            </a:r>
            <a:endParaRPr>
              <a:solidFill>
                <a:schemeClr val="dk1"/>
              </a:solidFill>
              <a:latin typeface="DM Sans"/>
              <a:ea typeface="DM Sans"/>
              <a:cs typeface="DM Sans"/>
              <a:sym typeface="DM Sans"/>
            </a:endParaRPr>
          </a:p>
        </p:txBody>
      </p:sp>
      <p:sp>
        <p:nvSpPr>
          <p:cNvPr id="466" name="Google Shape;466;p43"/>
          <p:cNvSpPr txBox="1"/>
          <p:nvPr/>
        </p:nvSpPr>
        <p:spPr>
          <a:xfrm>
            <a:off x="720000" y="3607350"/>
            <a:ext cx="1568400" cy="6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More negative </a:t>
            </a:r>
            <a:r>
              <a:rPr lang="en">
                <a:solidFill>
                  <a:schemeClr val="dk1"/>
                </a:solidFill>
                <a:latin typeface="DM Sans"/>
                <a:ea typeface="DM Sans"/>
                <a:cs typeface="DM Sans"/>
                <a:sym typeface="DM Sans"/>
              </a:rPr>
              <a:t>words; product and use are overlapping</a:t>
            </a:r>
            <a:endParaRPr>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4"/>
          <p:cNvSpPr txBox="1"/>
          <p:nvPr>
            <p:ph type="title"/>
          </p:nvPr>
        </p:nvSpPr>
        <p:spPr>
          <a:xfrm>
            <a:off x="0" y="336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Review Similarity Analysis  </a:t>
            </a:r>
            <a:endParaRPr/>
          </a:p>
        </p:txBody>
      </p:sp>
      <p:pic>
        <p:nvPicPr>
          <p:cNvPr id="472" name="Google Shape;472;p44"/>
          <p:cNvPicPr preferRelativeResize="0"/>
          <p:nvPr/>
        </p:nvPicPr>
        <p:blipFill>
          <a:blip r:embed="rId3">
            <a:alphaModFix/>
          </a:blip>
          <a:stretch>
            <a:fillRect/>
          </a:stretch>
        </p:blipFill>
        <p:spPr>
          <a:xfrm>
            <a:off x="865600" y="1029288"/>
            <a:ext cx="7703998" cy="3084929"/>
          </a:xfrm>
          <a:prstGeom prst="rect">
            <a:avLst/>
          </a:prstGeom>
          <a:noFill/>
          <a:ln>
            <a:noFill/>
          </a:ln>
        </p:spPr>
      </p:pic>
      <p:sp>
        <p:nvSpPr>
          <p:cNvPr id="473" name="Google Shape;473;p44"/>
          <p:cNvSpPr txBox="1"/>
          <p:nvPr/>
        </p:nvSpPr>
        <p:spPr>
          <a:xfrm>
            <a:off x="1130450" y="4092600"/>
            <a:ext cx="7877100" cy="5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Text can be a lot more unique than titles. In 8,058 titles, 45.45% of reviews have similar titles</a:t>
            </a:r>
            <a:endParaRPr>
              <a:solidFill>
                <a:schemeClr val="dk1"/>
              </a:solidFill>
              <a:latin typeface="DM Sans"/>
              <a:ea typeface="DM Sans"/>
              <a:cs typeface="DM Sans"/>
              <a:sym typeface="DM Sans"/>
            </a:endParaRPr>
          </a:p>
          <a:p>
            <a:pPr indent="0" lvl="0" marL="0" rtl="0" algn="l">
              <a:spcBef>
                <a:spcPts val="0"/>
              </a:spcBef>
              <a:spcAft>
                <a:spcPts val="0"/>
              </a:spcAft>
              <a:buNone/>
            </a:pPr>
            <a:r>
              <a:rPr lang="en">
                <a:solidFill>
                  <a:schemeClr val="dk1"/>
                </a:solidFill>
                <a:latin typeface="DM Sans"/>
                <a:ea typeface="DM Sans"/>
                <a:cs typeface="DM Sans"/>
                <a:sym typeface="DM Sans"/>
              </a:rPr>
              <a:t>While only 7.40% of reviews have similar content in main texts.</a:t>
            </a:r>
            <a:endParaRPr>
              <a:solidFill>
                <a:schemeClr val="dk1"/>
              </a:solidFill>
              <a:latin typeface="DM Sans"/>
              <a:ea typeface="DM Sans"/>
              <a:cs typeface="DM Sans"/>
              <a:sym typeface="DM Sans"/>
            </a:endParaRPr>
          </a:p>
          <a:p>
            <a:pPr indent="0" lvl="0" marL="0" rtl="0" algn="l">
              <a:spcBef>
                <a:spcPts val="0"/>
              </a:spcBef>
              <a:spcAft>
                <a:spcPts val="0"/>
              </a:spcAft>
              <a:buNone/>
            </a:pPr>
            <a:r>
              <a:rPr lang="en">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5"/>
          <p:cNvSpPr txBox="1"/>
          <p:nvPr>
            <p:ph type="title"/>
          </p:nvPr>
        </p:nvSpPr>
        <p:spPr>
          <a:xfrm>
            <a:off x="566075" y="2427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Top 5 products in Amazon fashion</a:t>
            </a:r>
            <a:endParaRPr/>
          </a:p>
        </p:txBody>
      </p:sp>
      <p:sp>
        <p:nvSpPr>
          <p:cNvPr id="479" name="Google Shape;479;p45"/>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45"/>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45"/>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45"/>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5"/>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45"/>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45"/>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45"/>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487" name="Google Shape;487;p45"/>
          <p:cNvPicPr preferRelativeResize="0"/>
          <p:nvPr/>
        </p:nvPicPr>
        <p:blipFill rotWithShape="1">
          <a:blip r:embed="rId3">
            <a:alphaModFix/>
          </a:blip>
          <a:srcRect b="0" l="0" r="0" t="7570"/>
          <a:stretch/>
        </p:blipFill>
        <p:spPr>
          <a:xfrm>
            <a:off x="950000" y="815450"/>
            <a:ext cx="7237718" cy="43280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6"/>
          <p:cNvSpPr txBox="1"/>
          <p:nvPr>
            <p:ph type="title"/>
          </p:nvPr>
        </p:nvSpPr>
        <p:spPr>
          <a:xfrm>
            <a:off x="720000" y="3543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Comparing Older v.s. Recent reviews</a:t>
            </a:r>
            <a:endParaRPr/>
          </a:p>
        </p:txBody>
      </p:sp>
      <p:sp>
        <p:nvSpPr>
          <p:cNvPr id="493" name="Google Shape;493;p46"/>
          <p:cNvSpPr txBox="1"/>
          <p:nvPr/>
        </p:nvSpPr>
        <p:spPr>
          <a:xfrm>
            <a:off x="1615625" y="3392725"/>
            <a:ext cx="5980200" cy="1032000"/>
          </a:xfrm>
          <a:prstGeom prst="rect">
            <a:avLst/>
          </a:prstGeom>
          <a:noFill/>
          <a:ln>
            <a:noFill/>
          </a:ln>
        </p:spPr>
        <p:txBody>
          <a:bodyPr anchorCtr="0" anchor="t" bIns="91425" lIns="91425" spcFirstLastPara="1" rIns="91425" wrap="square" tIns="91425">
            <a:noAutofit/>
          </a:bodyPr>
          <a:lstStyle/>
          <a:p>
            <a:pPr indent="0" lvl="0" marL="0" rtl="0" algn="l">
              <a:lnSpc>
                <a:spcPct val="130770"/>
              </a:lnSpc>
              <a:spcBef>
                <a:spcPts val="0"/>
              </a:spcBef>
              <a:spcAft>
                <a:spcPts val="0"/>
              </a:spcAft>
              <a:buNone/>
            </a:pPr>
            <a:r>
              <a:t/>
            </a:r>
            <a:endParaRPr sz="100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pic>
        <p:nvPicPr>
          <p:cNvPr id="494" name="Google Shape;494;p46"/>
          <p:cNvPicPr preferRelativeResize="0"/>
          <p:nvPr/>
        </p:nvPicPr>
        <p:blipFill>
          <a:blip r:embed="rId3">
            <a:alphaModFix/>
          </a:blip>
          <a:stretch>
            <a:fillRect/>
          </a:stretch>
        </p:blipFill>
        <p:spPr>
          <a:xfrm>
            <a:off x="813925" y="2108375"/>
            <a:ext cx="7769923" cy="3035126"/>
          </a:xfrm>
          <a:prstGeom prst="rect">
            <a:avLst/>
          </a:prstGeom>
          <a:noFill/>
          <a:ln>
            <a:noFill/>
          </a:ln>
        </p:spPr>
      </p:pic>
      <p:sp>
        <p:nvSpPr>
          <p:cNvPr id="495" name="Google Shape;495;p46"/>
          <p:cNvSpPr txBox="1"/>
          <p:nvPr/>
        </p:nvSpPr>
        <p:spPr>
          <a:xfrm>
            <a:off x="1047750" y="927025"/>
            <a:ext cx="7282200" cy="8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Using LSH, I compared 5103 recent reviews (2022-2023) and 5061 older reviews (before 2022). It’s surprising that </a:t>
            </a:r>
            <a:r>
              <a:rPr b="1" lang="en">
                <a:solidFill>
                  <a:schemeClr val="dk1"/>
                </a:solidFill>
                <a:latin typeface="DM Sans"/>
                <a:ea typeface="DM Sans"/>
                <a:cs typeface="DM Sans"/>
                <a:sym typeface="DM Sans"/>
              </a:rPr>
              <a:t>there are lower duplication rates among recent reviews, and older reviews show higher similarity.</a:t>
            </a:r>
            <a:r>
              <a:rPr lang="en">
                <a:solidFill>
                  <a:schemeClr val="dk1"/>
                </a:solidFill>
                <a:latin typeface="DM Sans"/>
                <a:ea typeface="DM Sans"/>
                <a:cs typeface="DM Sans"/>
                <a:sym typeface="DM Sans"/>
              </a:rPr>
              <a:t> With the use of AI, the reviewers </a:t>
            </a:r>
            <a:r>
              <a:rPr lang="en">
                <a:solidFill>
                  <a:schemeClr val="dk1"/>
                </a:solidFill>
                <a:latin typeface="DM Sans"/>
                <a:ea typeface="DM Sans"/>
                <a:cs typeface="DM Sans"/>
                <a:sym typeface="DM Sans"/>
              </a:rPr>
              <a:t>have more customized and personalized experience written in different expressions (semantics similarity) which LSH might not be able to detect. </a:t>
            </a:r>
            <a:endParaRPr>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7"/>
          <p:cNvSpPr txBox="1"/>
          <p:nvPr>
            <p:ph type="title"/>
          </p:nvPr>
        </p:nvSpPr>
        <p:spPr>
          <a:xfrm>
            <a:off x="720000" y="3861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Conclusions</a:t>
            </a:r>
            <a:endParaRPr/>
          </a:p>
        </p:txBody>
      </p:sp>
      <p:sp>
        <p:nvSpPr>
          <p:cNvPr id="501" name="Google Shape;501;p47"/>
          <p:cNvSpPr txBox="1"/>
          <p:nvPr>
            <p:ph idx="1" type="subTitle"/>
          </p:nvPr>
        </p:nvSpPr>
        <p:spPr>
          <a:xfrm>
            <a:off x="929125" y="1509550"/>
            <a:ext cx="7214400" cy="1743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Outfit"/>
              <a:buChar char="-"/>
            </a:pPr>
            <a:r>
              <a:rPr lang="en" sz="1200">
                <a:latin typeface="Outfit"/>
                <a:ea typeface="Outfit"/>
                <a:cs typeface="Outfit"/>
                <a:sym typeface="Outfit"/>
              </a:rPr>
              <a:t>Higher duplication rates for titles than texts, because the limit amounts of words and highly repetitive topics.  </a:t>
            </a:r>
            <a:endParaRPr sz="1200">
              <a:latin typeface="Outfit"/>
              <a:ea typeface="Outfit"/>
              <a:cs typeface="Outfit"/>
              <a:sym typeface="Outfit"/>
            </a:endParaRPr>
          </a:p>
          <a:p>
            <a:pPr indent="-304800" lvl="0" marL="457200" rtl="0" algn="l">
              <a:spcBef>
                <a:spcPts val="0"/>
              </a:spcBef>
              <a:spcAft>
                <a:spcPts val="0"/>
              </a:spcAft>
              <a:buSzPts val="1200"/>
              <a:buChar char="-"/>
            </a:pPr>
            <a:r>
              <a:rPr lang="en" sz="1200">
                <a:latin typeface="Outfit"/>
                <a:ea typeface="Outfit"/>
                <a:cs typeface="Outfit"/>
                <a:sym typeface="Outfit"/>
              </a:rPr>
              <a:t>It’s harder to use LSH to detect </a:t>
            </a:r>
            <a:r>
              <a:rPr lang="en" sz="1200">
                <a:latin typeface="Outfit"/>
                <a:ea typeface="Outfit"/>
                <a:cs typeface="Outfit"/>
                <a:sym typeface="Outfit"/>
              </a:rPr>
              <a:t>duplications</a:t>
            </a:r>
            <a:r>
              <a:rPr lang="en" sz="1200">
                <a:latin typeface="Outfit"/>
                <a:ea typeface="Outfit"/>
                <a:cs typeface="Outfit"/>
                <a:sym typeface="Outfit"/>
              </a:rPr>
              <a:t> in recent reviews compared to older ones. </a:t>
            </a:r>
            <a:r>
              <a:rPr lang="en" sz="1200">
                <a:solidFill>
                  <a:srgbClr val="000000"/>
                </a:solidFill>
                <a:latin typeface="Outfit"/>
                <a:ea typeface="Outfit"/>
                <a:cs typeface="Outfit"/>
                <a:sym typeface="Outfit"/>
              </a:rPr>
              <a:t>LSH is not great at detect </a:t>
            </a:r>
            <a:r>
              <a:rPr b="1" lang="en" sz="1200">
                <a:solidFill>
                  <a:srgbClr val="000000"/>
                </a:solidFill>
                <a:latin typeface="Outfit"/>
                <a:ea typeface="Outfit"/>
                <a:cs typeface="Outfit"/>
                <a:sym typeface="Outfit"/>
              </a:rPr>
              <a:t>semantic</a:t>
            </a:r>
            <a:r>
              <a:rPr lang="en" sz="1200">
                <a:solidFill>
                  <a:srgbClr val="000000"/>
                </a:solidFill>
                <a:latin typeface="Outfit"/>
                <a:ea typeface="Outfit"/>
                <a:cs typeface="Outfit"/>
                <a:sym typeface="Outfit"/>
              </a:rPr>
              <a:t> similarity, only </a:t>
            </a:r>
            <a:r>
              <a:rPr b="1" lang="en" sz="1200">
                <a:solidFill>
                  <a:srgbClr val="000000"/>
                </a:solidFill>
                <a:latin typeface="Outfit"/>
                <a:ea typeface="Outfit"/>
                <a:cs typeface="Outfit"/>
                <a:sym typeface="Outfit"/>
              </a:rPr>
              <a:t>lexical</a:t>
            </a:r>
            <a:r>
              <a:rPr lang="en" sz="1200">
                <a:solidFill>
                  <a:srgbClr val="000000"/>
                </a:solidFill>
                <a:latin typeface="Outfit"/>
                <a:ea typeface="Outfit"/>
                <a:cs typeface="Outfit"/>
                <a:sym typeface="Outfit"/>
              </a:rPr>
              <a:t> duplication, and AI-generated review is lexically unique which makes </a:t>
            </a:r>
            <a:r>
              <a:rPr lang="en" sz="1200">
                <a:solidFill>
                  <a:srgbClr val="000000"/>
                </a:solidFill>
                <a:latin typeface="Outfit"/>
                <a:ea typeface="Outfit"/>
                <a:cs typeface="Outfit"/>
                <a:sym typeface="Outfit"/>
              </a:rPr>
              <a:t>duplication</a:t>
            </a:r>
            <a:r>
              <a:rPr lang="en" sz="1200">
                <a:solidFill>
                  <a:srgbClr val="000000"/>
                </a:solidFill>
                <a:latin typeface="Outfit"/>
                <a:ea typeface="Outfit"/>
                <a:cs typeface="Outfit"/>
                <a:sym typeface="Outfit"/>
              </a:rPr>
              <a:t> rate dropped in recent reviews. </a:t>
            </a:r>
            <a:endParaRPr sz="1200">
              <a:latin typeface="Outfit"/>
              <a:ea typeface="Outfit"/>
              <a:cs typeface="Outfit"/>
              <a:sym typeface="Outfit"/>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Active Reviewers review across different categories, and high review rates can co-exist with high ratings but most of them are affordable products under $25. </a:t>
            </a:r>
            <a:endParaRPr sz="1200">
              <a:latin typeface="Outfit"/>
              <a:ea typeface="Outfit"/>
              <a:cs typeface="Outfit"/>
              <a:sym typeface="Outfit"/>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Some products’ main category is </a:t>
            </a:r>
            <a:r>
              <a:rPr lang="en" sz="1200">
                <a:latin typeface="Outfit"/>
                <a:ea typeface="Outfit"/>
                <a:cs typeface="Outfit"/>
                <a:sym typeface="Outfit"/>
              </a:rPr>
              <a:t>mislabeled</a:t>
            </a:r>
            <a:r>
              <a:rPr lang="en" sz="1200">
                <a:latin typeface="Outfit"/>
                <a:ea typeface="Outfit"/>
                <a:cs typeface="Outfit"/>
                <a:sym typeface="Outfit"/>
              </a:rPr>
              <a:t>, for example, I detected “screen protector” in AMAZON Fashion category. </a:t>
            </a:r>
            <a:endParaRPr sz="1200">
              <a:latin typeface="Outfit"/>
              <a:ea typeface="Outfit"/>
              <a:cs typeface="Outfit"/>
              <a:sym typeface="Outfit"/>
            </a:endParaRPr>
          </a:p>
        </p:txBody>
      </p:sp>
      <p:sp>
        <p:nvSpPr>
          <p:cNvPr id="502" name="Google Shape;502;p47"/>
          <p:cNvSpPr txBox="1"/>
          <p:nvPr>
            <p:ph idx="3" type="subTitle"/>
          </p:nvPr>
        </p:nvSpPr>
        <p:spPr>
          <a:xfrm>
            <a:off x="929125" y="3596175"/>
            <a:ext cx="7422000" cy="1630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Outfit"/>
              <a:buChar char="-"/>
            </a:pPr>
            <a:r>
              <a:rPr lang="en" sz="1200">
                <a:latin typeface="Outfit"/>
                <a:ea typeface="Outfit"/>
                <a:cs typeface="Outfit"/>
                <a:sym typeface="Outfit"/>
              </a:rPr>
              <a:t>Implement differentiated detection strategies for Titles vs. Texts to ensure authentic reviews scoring rather than AI generated reviews.</a:t>
            </a:r>
            <a:endParaRPr sz="1200">
              <a:latin typeface="Outfit"/>
              <a:ea typeface="Outfit"/>
              <a:cs typeface="Outfit"/>
              <a:sym typeface="Outfit"/>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Have multi-dimensional review structure with scoring on different aspects of products to </a:t>
            </a:r>
            <a:r>
              <a:rPr lang="en" sz="1200">
                <a:latin typeface="Outfit"/>
                <a:ea typeface="Outfit"/>
                <a:cs typeface="Outfit"/>
                <a:sym typeface="Outfit"/>
              </a:rPr>
              <a:t>encourage</a:t>
            </a:r>
            <a:r>
              <a:rPr lang="en" sz="1200">
                <a:latin typeface="Outfit"/>
                <a:ea typeface="Outfit"/>
                <a:cs typeface="Outfit"/>
                <a:sym typeface="Outfit"/>
              </a:rPr>
              <a:t> reviews to highlight detailed, realistic product experiences.</a:t>
            </a:r>
            <a:endParaRPr sz="1200">
              <a:latin typeface="Outfit"/>
              <a:ea typeface="Outfit"/>
              <a:cs typeface="Outfit"/>
              <a:sym typeface="Outfit"/>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Provide benefits / points to frequent reviewers to encourage more people to share their product experience.</a:t>
            </a:r>
            <a:endParaRPr sz="1200">
              <a:latin typeface="Outfit"/>
              <a:ea typeface="Outfit"/>
              <a:cs typeface="Outfit"/>
              <a:sym typeface="Outfit"/>
            </a:endParaRPr>
          </a:p>
        </p:txBody>
      </p:sp>
      <p:sp>
        <p:nvSpPr>
          <p:cNvPr id="503" name="Google Shape;503;p47"/>
          <p:cNvSpPr txBox="1"/>
          <p:nvPr>
            <p:ph idx="5" type="subTitle"/>
          </p:nvPr>
        </p:nvSpPr>
        <p:spPr>
          <a:xfrm>
            <a:off x="181519" y="1081275"/>
            <a:ext cx="4746900" cy="5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Summary of my findings:</a:t>
            </a:r>
            <a:endParaRPr sz="2000"/>
          </a:p>
        </p:txBody>
      </p:sp>
      <p:sp>
        <p:nvSpPr>
          <p:cNvPr id="504" name="Google Shape;504;p47"/>
          <p:cNvSpPr txBox="1"/>
          <p:nvPr>
            <p:ph idx="6" type="subTitle"/>
          </p:nvPr>
        </p:nvSpPr>
        <p:spPr>
          <a:xfrm>
            <a:off x="929137" y="3252588"/>
            <a:ext cx="3251700" cy="50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Recommendations: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