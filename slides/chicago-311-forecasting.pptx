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Roboto Medium"/>
      <p:regular r:id="rId26"/>
      <p:bold r:id="rId27"/>
      <p:italic r:id="rId28"/>
      <p:boldItalic r:id="rId29"/>
    </p:embeddedFont>
    <p:embeddedFont>
      <p:font typeface="Poppins"/>
      <p:regular r:id="rId30"/>
      <p:bold r:id="rId31"/>
      <p:italic r:id="rId32"/>
      <p:boldItalic r:id="rId33"/>
    </p:embeddedFont>
    <p:embeddedFont>
      <p:font typeface="Big Shoulders Stencil"/>
      <p:regular r:id="rId34"/>
      <p:bold r:id="rId35"/>
    </p:embeddedFont>
    <p:embeddedFont>
      <p:font typeface="Roboto Light"/>
      <p:regular r:id="rId36"/>
      <p:bold r:id="rId37"/>
      <p:italic r:id="rId38"/>
      <p:boldItalic r:id="rId39"/>
    </p:embeddedFont>
    <p:embeddedFont>
      <p:font typeface="Poppins SemiBold"/>
      <p:regular r:id="rId40"/>
      <p:bold r:id="rId41"/>
      <p:italic r:id="rId42"/>
      <p:boldItalic r:id="rId43"/>
    </p:embeddedFont>
    <p:embeddedFont>
      <p:font typeface="Big Shoulders"/>
      <p:regular r:id="rId44"/>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1DAB21-158C-4815-9D84-33921FB9B9AF}">
  <a:tblStyle styleId="{251DAB21-158C-4815-9D84-33921FB9B9A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378E7D44-02BC-493E-B59A-4FCB6C99C91D}"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SemiBold-regular.fntdata"/><Relationship Id="rId20" Type="http://schemas.openxmlformats.org/officeDocument/2006/relationships/slide" Target="slides/slide14.xml"/><Relationship Id="rId42" Type="http://schemas.openxmlformats.org/officeDocument/2006/relationships/font" Target="fonts/PoppinsSemiBold-italic.fntdata"/><Relationship Id="rId41" Type="http://schemas.openxmlformats.org/officeDocument/2006/relationships/font" Target="fonts/PoppinsSemiBold-bold.fntdata"/><Relationship Id="rId22" Type="http://schemas.openxmlformats.org/officeDocument/2006/relationships/font" Target="fonts/Roboto-regular.fntdata"/><Relationship Id="rId44" Type="http://schemas.openxmlformats.org/officeDocument/2006/relationships/font" Target="fonts/BigShoulders-regular.fntdata"/><Relationship Id="rId21" Type="http://schemas.openxmlformats.org/officeDocument/2006/relationships/slide" Target="slides/slide15.xml"/><Relationship Id="rId43" Type="http://schemas.openxmlformats.org/officeDocument/2006/relationships/font" Target="fonts/PoppinsSemiBold-boldItalic.fntdata"/><Relationship Id="rId24" Type="http://schemas.openxmlformats.org/officeDocument/2006/relationships/font" Target="fonts/Roboto-italic.fntdata"/><Relationship Id="rId23" Type="http://schemas.openxmlformats.org/officeDocument/2006/relationships/font" Target="fonts/Roboto-bold.fntdata"/><Relationship Id="rId45" Type="http://schemas.openxmlformats.org/officeDocument/2006/relationships/font" Target="fonts/BigShoulder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edium-regular.fntdata"/><Relationship Id="rId25" Type="http://schemas.openxmlformats.org/officeDocument/2006/relationships/font" Target="fonts/Roboto-boldItalic.fntdata"/><Relationship Id="rId28" Type="http://schemas.openxmlformats.org/officeDocument/2006/relationships/font" Target="fonts/RobotoMedium-italic.fntdata"/><Relationship Id="rId27" Type="http://schemas.openxmlformats.org/officeDocument/2006/relationships/font" Target="fonts/Roboto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bold.fntdata"/><Relationship Id="rId30" Type="http://schemas.openxmlformats.org/officeDocument/2006/relationships/font" Target="fonts/Poppins-regular.fntdata"/><Relationship Id="rId11" Type="http://schemas.openxmlformats.org/officeDocument/2006/relationships/slide" Target="slides/slide5.xml"/><Relationship Id="rId33" Type="http://schemas.openxmlformats.org/officeDocument/2006/relationships/font" Target="fonts/Poppins-boldItalic.fntdata"/><Relationship Id="rId10" Type="http://schemas.openxmlformats.org/officeDocument/2006/relationships/slide" Target="slides/slide4.xml"/><Relationship Id="rId32" Type="http://schemas.openxmlformats.org/officeDocument/2006/relationships/font" Target="fonts/Poppins-italic.fntdata"/><Relationship Id="rId13" Type="http://schemas.openxmlformats.org/officeDocument/2006/relationships/slide" Target="slides/slide7.xml"/><Relationship Id="rId35" Type="http://schemas.openxmlformats.org/officeDocument/2006/relationships/font" Target="fonts/BigShouldersStencil-bold.fntdata"/><Relationship Id="rId12" Type="http://schemas.openxmlformats.org/officeDocument/2006/relationships/slide" Target="slides/slide6.xml"/><Relationship Id="rId34" Type="http://schemas.openxmlformats.org/officeDocument/2006/relationships/font" Target="fonts/BigShouldersStencil-regular.fntdata"/><Relationship Id="rId15" Type="http://schemas.openxmlformats.org/officeDocument/2006/relationships/slide" Target="slides/slide9.xml"/><Relationship Id="rId37" Type="http://schemas.openxmlformats.org/officeDocument/2006/relationships/font" Target="fonts/RobotoLight-bold.fntdata"/><Relationship Id="rId14" Type="http://schemas.openxmlformats.org/officeDocument/2006/relationships/slide" Target="slides/slide8.xml"/><Relationship Id="rId36" Type="http://schemas.openxmlformats.org/officeDocument/2006/relationships/font" Target="fonts/RobotoLight-regular.fntdata"/><Relationship Id="rId17" Type="http://schemas.openxmlformats.org/officeDocument/2006/relationships/slide" Target="slides/slide11.xml"/><Relationship Id="rId39" Type="http://schemas.openxmlformats.org/officeDocument/2006/relationships/font" Target="fonts/RobotoLight-boldItalic.fntdata"/><Relationship Id="rId16" Type="http://schemas.openxmlformats.org/officeDocument/2006/relationships/slide" Target="slides/slide10.xml"/><Relationship Id="rId38" Type="http://schemas.openxmlformats.org/officeDocument/2006/relationships/font" Target="fonts/RobotoLight-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d19fe2f05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d19fe2f05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cd19fe2f0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cd19fe2f0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Poppins"/>
                <a:ea typeface="Poppins"/>
                <a:cs typeface="Poppins"/>
                <a:sym typeface="Poppins"/>
              </a:rPr>
              <a:t>The Problem:</a:t>
            </a:r>
            <a:r>
              <a:rPr lang="en">
                <a:solidFill>
                  <a:schemeClr val="dk1"/>
                </a:solidFill>
                <a:latin typeface="Poppins"/>
                <a:ea typeface="Poppins"/>
                <a:cs typeface="Poppins"/>
                <a:sym typeface="Poppins"/>
              </a:rPr>
              <a:t> Chicago's 311 system routes hundreds of thousands of service requests monthly across city departments. Without reliable demand forecasts, agencies cannot efficiently allocate staffing or resources — leading to delayed response times, resident dissatisfaction, and budget inefficiencies.</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Why It Matters:</a:t>
            </a:r>
            <a:endParaRPr b="1">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lang="en">
                <a:solidFill>
                  <a:schemeClr val="dk1"/>
                </a:solidFill>
                <a:latin typeface="Poppins"/>
                <a:ea typeface="Poppins"/>
                <a:cs typeface="Poppins"/>
                <a:sym typeface="Poppins"/>
              </a:rPr>
              <a:t>Predictable seasonal surges (winter snow removal, spring pothole repair) and event-driven spikes (severe weather, festivals) strain city resources when unplanned</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Reactive staffing leads to both costly overstaffing in slow periods and dangerous understaffing during peaks</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Cross-department coordination breaks down without a shared demand signal</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Better forecasts = pre-staged resources, faster response times, and improved public safety</a:t>
            </a:r>
            <a:endParaRPr>
              <a:solidFill>
                <a:schemeClr val="dk1"/>
              </a:solidFill>
              <a:latin typeface="Poppins"/>
              <a:ea typeface="Poppins"/>
              <a:cs typeface="Poppins"/>
              <a:sym typeface="Poppins"/>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Poppins"/>
                <a:ea typeface="Poppins"/>
                <a:cs typeface="Poppins"/>
                <a:sym typeface="Poppins"/>
              </a:rPr>
              <a:t>Success Looks Like:</a:t>
            </a:r>
            <a:r>
              <a:rPr lang="en">
                <a:solidFill>
                  <a:schemeClr val="dk1"/>
                </a:solidFill>
                <a:latin typeface="Poppins"/>
                <a:ea typeface="Poppins"/>
                <a:cs typeface="Poppins"/>
                <a:sym typeface="Poppins"/>
              </a:rPr>
              <a:t> A model recommendation that balances forecast accuracy (MAE/RMSE) with interpretability — one the city could realistically adopt for day-to-day resource planning and seasonal preparedness.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d19fe2f0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d19fe2f0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H1 — Seasonal Patterns Drive Demand</a:t>
            </a:r>
            <a:r>
              <a:rPr lang="en">
                <a:solidFill>
                  <a:schemeClr val="dk1"/>
                </a:solidFill>
                <a:latin typeface="Poppins"/>
                <a:ea typeface="Poppins"/>
                <a:cs typeface="Poppins"/>
                <a:sym typeface="Poppins"/>
              </a:rPr>
              <a:t> 311 request volume exhibits strong weekly seasonality (weekday vs. weekend effects) and annual variation (winter surges, spring peaks) that can be captured through seasonal time series models.</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H2 — Calendar Effects Create Systematic Deviations</a:t>
            </a:r>
            <a:r>
              <a:rPr lang="en">
                <a:solidFill>
                  <a:schemeClr val="dk1"/>
                </a:solidFill>
                <a:latin typeface="Poppins"/>
                <a:ea typeface="Poppins"/>
                <a:cs typeface="Poppins"/>
                <a:sym typeface="Poppins"/>
              </a:rPr>
              <a:t> Holidays and weekends produce predictable dips and spikes beyond baseline seasonality. These structural calendar effects can be modeled explicitly as exogenous regressors to improve accuracy.</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H3 — Weather Conditions Affect Demand with Lag</a:t>
            </a:r>
            <a:r>
              <a:rPr lang="en">
                <a:solidFill>
                  <a:schemeClr val="dk1"/>
                </a:solidFill>
                <a:latin typeface="Poppins"/>
                <a:ea typeface="Poppins"/>
                <a:cs typeface="Poppins"/>
                <a:sym typeface="Poppins"/>
              </a:rPr>
              <a:t> Temperature, precipitation, and extreme weather events influence 311 volume, particularly for departments like Streets &amp; Sanitation and DWM. These effects may not appear immediately but lagged weather variables are expected to improve forecast accuracy during extreme weather periods.</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Poppins"/>
                <a:ea typeface="Poppins"/>
                <a:cs typeface="Poppins"/>
                <a:sym typeface="Poppins"/>
              </a:rPr>
              <a:t>Key Modeling Assumptions:</a:t>
            </a:r>
            <a:endParaRPr b="1">
              <a:solidFill>
                <a:schemeClr val="dk1"/>
              </a:solidFill>
              <a:latin typeface="Poppins"/>
              <a:ea typeface="Poppins"/>
              <a:cs typeface="Poppins"/>
              <a:sym typeface="Poppins"/>
            </a:endParaRPr>
          </a:p>
          <a:p>
            <a:pPr indent="-298450" lvl="0" marL="457200" rtl="0" algn="l">
              <a:lnSpc>
                <a:spcPct val="115000"/>
              </a:lnSpc>
              <a:spcBef>
                <a:spcPts val="1200"/>
              </a:spcBef>
              <a:spcAft>
                <a:spcPts val="0"/>
              </a:spcAft>
              <a:buClr>
                <a:schemeClr val="dk1"/>
              </a:buClr>
              <a:buSzPts val="1100"/>
              <a:buFont typeface="Poppins"/>
              <a:buChar char="●"/>
            </a:pPr>
            <a:r>
              <a:rPr lang="en">
                <a:solidFill>
                  <a:schemeClr val="dk1"/>
                </a:solidFill>
                <a:latin typeface="Poppins"/>
                <a:ea typeface="Poppins"/>
                <a:cs typeface="Poppins"/>
                <a:sym typeface="Poppins"/>
              </a:rPr>
              <a:t>Demand patterns are sufficiently stable over the sample period to support out-of-sample forecasting</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COVID-19 (2020–2021) represents a structural break — models should account for or be robust to this anomaly</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All 5 models will use identical train/test protocols to ensure fair comparison</a:t>
            </a:r>
            <a:endParaRPr>
              <a:solidFill>
                <a:schemeClr val="dk1"/>
              </a:solidFill>
              <a:latin typeface="Poppins"/>
              <a:ea typeface="Poppins"/>
              <a:cs typeface="Poppins"/>
              <a:sym typeface="Poppins"/>
            </a:endParaRPr>
          </a:p>
          <a:p>
            <a:pPr indent="-298450" lvl="0" marL="457200" rtl="0" algn="l">
              <a:lnSpc>
                <a:spcPct val="115000"/>
              </a:lnSpc>
              <a:spcBef>
                <a:spcPts val="0"/>
              </a:spcBef>
              <a:spcAft>
                <a:spcPts val="0"/>
              </a:spcAft>
              <a:buClr>
                <a:schemeClr val="dk1"/>
              </a:buClr>
              <a:buSzPts val="1100"/>
              <a:buFont typeface="Poppins"/>
              <a:buChar char="●"/>
            </a:pPr>
            <a:r>
              <a:rPr lang="en">
                <a:solidFill>
                  <a:schemeClr val="dk1"/>
                </a:solidFill>
                <a:latin typeface="Poppins"/>
                <a:ea typeface="Poppins"/>
                <a:cs typeface="Poppins"/>
                <a:sym typeface="Poppins"/>
              </a:rPr>
              <a:t>Forecast evaluation will prioritize MAE and RMSE </a:t>
            </a:r>
            <a:endParaRPr>
              <a:solidFill>
                <a:schemeClr val="dk1"/>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4D4D4D"/>
              </a:solidFill>
              <a:latin typeface="Poppins"/>
              <a:ea typeface="Poppins"/>
              <a:cs typeface="Poppins"/>
              <a:sym typeface="Poppins"/>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d19fe2f0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d19fe2f0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First, Chicago 311 demand as daily request counts from 2020 to 2026, in two views: a citywide total and the top five departments.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Second, we include monthly weather from the same period as an external context dataset.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department scale plot shows big differences in magnitude across departments, so RMSE is not directly comparable across departments. The zero-rate plot also shows some departments have zero-count days.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cddb8506c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cddb8506c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built a complete daily timeline and handled missing dates in a count-safe way. Then we aggregated 311 to monthly sum and mean to match the weather frequency, and joined monthly 311 with monthly temperature by year-month.</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The rolling mean is clearly not flat, so the level changes over time. That’s a sign the series isn’t stationary and there are level shifts across years.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ddb8506c2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ddb8506c2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weekdays are higher than weekends, so there’s a strong weekly seasonal pattern.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ddb8506c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ddb8506c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ADF and KPSS plots check stationarity. Based on what we see here, Alderman looks stationary, but the other series are not consistently stationary. So for SARIMA or VAR-type models, we applied first differencing, and after 1st differencing the other series look more stationary.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4f1e2a3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4f1e2a3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t>In the feature engineering stage, weather data was merged with the 311 request dataset, and weather variables were incorporated as external regressors to capture environmental effects.</a:t>
            </a:r>
            <a:endParaRPr sz="1200"/>
          </a:p>
          <a:p>
            <a:pPr indent="0" lvl="0" marL="0" rtl="0" algn="l">
              <a:lnSpc>
                <a:spcPct val="115000"/>
              </a:lnSpc>
              <a:spcBef>
                <a:spcPts val="1200"/>
              </a:spcBef>
              <a:spcAft>
                <a:spcPts val="0"/>
              </a:spcAft>
              <a:buClr>
                <a:schemeClr val="dk1"/>
              </a:buClr>
              <a:buSzPts val="1100"/>
              <a:buFont typeface="Arial"/>
              <a:buNone/>
            </a:pPr>
            <a:r>
              <a:rPr lang="en" sz="1200"/>
              <a:t>The motivation is that many types of service requests are sensitive to environmental conditions. For example, higher temperatures may increase water-related requests, extreme weather can raise infrastructure maintenance demand, and seasonal weather patterns can influence sanitation and transportation services.</a:t>
            </a:r>
            <a:endParaRPr sz="1200"/>
          </a:p>
          <a:p>
            <a:pPr indent="0" lvl="0" marL="0" rtl="0" algn="l">
              <a:lnSpc>
                <a:spcPct val="115000"/>
              </a:lnSpc>
              <a:spcBef>
                <a:spcPts val="1200"/>
              </a:spcBef>
              <a:spcAft>
                <a:spcPts val="0"/>
              </a:spcAft>
              <a:buClr>
                <a:schemeClr val="dk1"/>
              </a:buClr>
              <a:buSzPts val="1100"/>
              <a:buFont typeface="Arial"/>
              <a:buNone/>
            </a:pPr>
            <a:r>
              <a:rPr lang="en" sz="1200"/>
              <a:t>So by including weather variables, the model can better capture environment-driven fluctuations in service demand.</a:t>
            </a:r>
            <a:endParaRPr sz="1200"/>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c4f1e2a3b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c4f1e2a3b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200"/>
              <a:t>In our project, several time series models were evaluated to forecast 311 service demand, each with slightly different modeling assumptions.</a:t>
            </a:r>
            <a:endParaRPr sz="1200"/>
          </a:p>
          <a:p>
            <a:pPr indent="0" lvl="0" marL="0" rtl="0" algn="l">
              <a:lnSpc>
                <a:spcPct val="115000"/>
              </a:lnSpc>
              <a:spcBef>
                <a:spcPts val="1200"/>
              </a:spcBef>
              <a:spcAft>
                <a:spcPts val="0"/>
              </a:spcAft>
              <a:buClr>
                <a:schemeClr val="dk1"/>
              </a:buClr>
              <a:buSzPts val="1100"/>
              <a:buFont typeface="Arial"/>
              <a:buNone/>
            </a:pPr>
            <a:r>
              <a:rPr lang="en" sz="1200"/>
              <a:t>A simple baseline model was first used as a benchmark, mainly based on historical patterns.</a:t>
            </a:r>
            <a:br>
              <a:rPr lang="en" sz="1200"/>
            </a:br>
            <a:r>
              <a:rPr lang="en" sz="1200"/>
              <a:t>SARIMA was applied to capture weekly trend and seasonal structures in the data.</a:t>
            </a:r>
            <a:br>
              <a:rPr lang="en" sz="1200"/>
            </a:br>
            <a:r>
              <a:rPr lang="en" sz="1200"/>
              <a:t>SARIMAX extends this approach by incorporating weather variables as external regressors.</a:t>
            </a:r>
            <a:br>
              <a:rPr lang="en" sz="1200"/>
            </a:br>
            <a:r>
              <a:rPr lang="en" sz="1200"/>
              <a:t>Prophet provides a flexible framework for modeling trend and seasonality, while Holt-Winters uses exponential smoothing to capture seasonal patterns.</a:t>
            </a:r>
            <a:br>
              <a:rPr lang="en" sz="1200"/>
            </a:br>
            <a:r>
              <a:rPr lang="en" sz="1200"/>
              <a:t>Finally, a VAR model was used to capture interactions between different departments and weather variables.</a:t>
            </a:r>
            <a:endParaRPr sz="1200"/>
          </a:p>
          <a:p>
            <a:pPr indent="0" lvl="0" marL="0" rtl="0" algn="l">
              <a:lnSpc>
                <a:spcPct val="115000"/>
              </a:lnSpc>
              <a:spcBef>
                <a:spcPts val="1200"/>
              </a:spcBef>
              <a:spcAft>
                <a:spcPts val="0"/>
              </a:spcAft>
              <a:buClr>
                <a:schemeClr val="dk1"/>
              </a:buClr>
              <a:buSzPts val="1100"/>
              <a:buFont typeface="Arial"/>
              <a:buNone/>
            </a:pPr>
            <a:r>
              <a:rPr lang="en" sz="1200"/>
              <a:t>All models were evaluated using the same train–test split, and forecasting performance was compared using MAE, RMSE, and AIC.</a:t>
            </a:r>
            <a:endParaRPr sz="1200"/>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d19fe2f0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d19fe2f0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Prophet is the Superior Model:</a:t>
            </a:r>
            <a:r>
              <a:rPr lang="en">
                <a:solidFill>
                  <a:schemeClr val="dk1"/>
                </a:solidFill>
              </a:rPr>
              <a:t> It achieved the highest accuracy with the lowest error metrics (</a:t>
            </a:r>
            <a:r>
              <a:rPr b="1" lang="en">
                <a:solidFill>
                  <a:schemeClr val="dk1"/>
                </a:solidFill>
              </a:rPr>
              <a:t>MAE: 518</a:t>
            </a:r>
            <a:r>
              <a:rPr lang="en">
                <a:solidFill>
                  <a:schemeClr val="dk1"/>
                </a:solidFill>
              </a:rPr>
              <a:t>, </a:t>
            </a:r>
            <a:r>
              <a:rPr b="1" lang="en">
                <a:solidFill>
                  <a:schemeClr val="dk1"/>
                </a:solidFill>
              </a:rPr>
              <a:t>RMSE: 680.43</a:t>
            </a:r>
            <a:r>
              <a:rPr lang="en">
                <a:solidFill>
                  <a:schemeClr val="dk1"/>
                </a:solidFill>
              </a:rPr>
              <a:t>), significantly outperforming both the baseline and complex statistical models.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
                <a:solidFill>
                  <a:schemeClr val="dk1"/>
                </a:solidFill>
              </a:rPr>
              <a:t>Handling Weekday vs. Weekend Variance:</a:t>
            </a:r>
            <a:r>
              <a:rPr lang="en">
                <a:solidFill>
                  <a:schemeClr val="dk1"/>
                </a:solidFill>
              </a:rPr>
              <a:t> A key advantage for Prophet is its ability to model the distinct, varied patterns between weekday and weekend requests; while it slightly under-forecasts weekends, its flexible weekly seasonality captures these shifts better than other approaches.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b="1" lang="en">
                <a:solidFill>
                  <a:schemeClr val="dk1"/>
                </a:solidFill>
              </a:rPr>
              <a:t>Resilience to Volatility:</a:t>
            </a:r>
            <a:r>
              <a:rPr lang="en">
                <a:solidFill>
                  <a:schemeClr val="dk1"/>
                </a:solidFill>
              </a:rPr>
              <a:t> The 311 dataset is highly volatile, causing traditional models like SARIMA and VAR to fail with extremely high error rates (MAE &gt; 13,000), whereas Prophet’s design remains robust against such fluctuations.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Comprehensive Pattern Recognition:</a:t>
            </a:r>
            <a:r>
              <a:rPr lang="en">
                <a:solidFill>
                  <a:schemeClr val="dk1"/>
                </a:solidFill>
              </a:rPr>
              <a:t> Beyond daily volatility, Prophet successfully incorporates broader trends, annual seasonality, and specific holiday effects, making it the most reliable tool for city-wide operational planning.</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c54624d91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c54624d91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Prophet and SARIMAX both predicted upwards trend, VAR is very flat very minor changes forecasted, and baseline and holt-winters are kind of fluctuating.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54624d9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54624d9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d19fe2f0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cd19fe2f0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db38ba9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db38ba9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e5dbf01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e5dbf01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2062250" y="1142150"/>
            <a:ext cx="7081800" cy="1655700"/>
          </a:xfrm>
          <a:prstGeom prst="rect">
            <a:avLst/>
          </a:pr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5" name="Google Shape;55;p13"/>
          <p:cNvPicPr preferRelativeResize="0"/>
          <p:nvPr/>
        </p:nvPicPr>
        <p:blipFill rotWithShape="1">
          <a:blip r:embed="rId3">
            <a:alphaModFix amt="85000"/>
          </a:blip>
          <a:srcRect b="0" l="3494" r="0" t="0"/>
          <a:stretch/>
        </p:blipFill>
        <p:spPr>
          <a:xfrm>
            <a:off x="0" y="1766875"/>
            <a:ext cx="8974474" cy="3404951"/>
          </a:xfrm>
          <a:prstGeom prst="rect">
            <a:avLst/>
          </a:prstGeom>
          <a:noFill/>
          <a:ln>
            <a:noFill/>
          </a:ln>
        </p:spPr>
      </p:pic>
      <p:sp>
        <p:nvSpPr>
          <p:cNvPr id="56" name="Google Shape;56;p13"/>
          <p:cNvSpPr txBox="1"/>
          <p:nvPr>
            <p:ph type="ctrTitle"/>
          </p:nvPr>
        </p:nvSpPr>
        <p:spPr>
          <a:xfrm>
            <a:off x="2171575" y="1176200"/>
            <a:ext cx="7117500" cy="158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b="1" lang="en" sz="4180">
                <a:latin typeface="Big Shoulders"/>
                <a:ea typeface="Big Shoulders"/>
                <a:cs typeface="Big Shoulders"/>
                <a:sym typeface="Big Shoulders"/>
              </a:rPr>
              <a:t>Forecasting Chicago 311 Service Demand for Operational Planning</a:t>
            </a:r>
            <a:r>
              <a:rPr lang="en" sz="4180"/>
              <a:t> </a:t>
            </a:r>
            <a:endParaRPr sz="565"/>
          </a:p>
        </p:txBody>
      </p:sp>
      <p:sp>
        <p:nvSpPr>
          <p:cNvPr id="57" name="Google Shape;57;p13"/>
          <p:cNvSpPr txBox="1"/>
          <p:nvPr>
            <p:ph idx="1" type="subTitle"/>
          </p:nvPr>
        </p:nvSpPr>
        <p:spPr>
          <a:xfrm>
            <a:off x="3030975" y="2776889"/>
            <a:ext cx="6060600" cy="7926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0"/>
              </a:spcAft>
              <a:buNone/>
            </a:pPr>
            <a:r>
              <a:rPr lang="en" sz="1100">
                <a:latin typeface="Roboto"/>
                <a:ea typeface="Roboto"/>
                <a:cs typeface="Roboto"/>
                <a:sym typeface="Roboto"/>
              </a:rPr>
              <a:t>Group 4: Elaine Wang, Dora(Jiayue) Li, Yuwei Tang, Tallulah Cook, Xiaoyan Chen</a:t>
            </a:r>
            <a:endParaRPr sz="1100">
              <a:latin typeface="Roboto"/>
              <a:ea typeface="Roboto"/>
              <a:cs typeface="Roboto"/>
              <a:sym typeface="Roboto"/>
            </a:endParaRPr>
          </a:p>
        </p:txBody>
      </p:sp>
      <p:pic>
        <p:nvPicPr>
          <p:cNvPr id="58" name="Google Shape;58;p13"/>
          <p:cNvPicPr preferRelativeResize="0"/>
          <p:nvPr/>
        </p:nvPicPr>
        <p:blipFill>
          <a:blip r:embed="rId4">
            <a:alphaModFix/>
          </a:blip>
          <a:stretch>
            <a:fillRect/>
          </a:stretch>
        </p:blipFill>
        <p:spPr>
          <a:xfrm>
            <a:off x="0" y="270475"/>
            <a:ext cx="2062252" cy="53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Big Shoulders"/>
                <a:ea typeface="Big Shoulders"/>
                <a:cs typeface="Big Shoulders"/>
                <a:sym typeface="Big Shoulders"/>
              </a:rPr>
              <a:t>Business Case &amp; Problem Statement</a:t>
            </a:r>
            <a:endParaRPr b="1">
              <a:latin typeface="Big Shoulders"/>
              <a:ea typeface="Big Shoulders"/>
              <a:cs typeface="Big Shoulders"/>
              <a:sym typeface="Big Shoulders"/>
            </a:endParaRPr>
          </a:p>
        </p:txBody>
      </p:sp>
      <p:sp>
        <p:nvSpPr>
          <p:cNvPr id="64" name="Google Shape;64;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pic>
        <p:nvPicPr>
          <p:cNvPr id="65" name="Google Shape;65;p14"/>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100">
                <a:solidFill>
                  <a:schemeClr val="dk1"/>
                </a:solidFill>
                <a:latin typeface="Poppins"/>
                <a:ea typeface="Poppins"/>
                <a:cs typeface="Poppins"/>
                <a:sym typeface="Poppins"/>
              </a:rPr>
              <a:t>The Problem:</a:t>
            </a:r>
            <a:r>
              <a:rPr lang="en" sz="1100">
                <a:solidFill>
                  <a:schemeClr val="dk1"/>
                </a:solidFill>
                <a:latin typeface="Poppins"/>
                <a:ea typeface="Poppins"/>
                <a:cs typeface="Poppins"/>
                <a:sym typeface="Poppins"/>
              </a:rPr>
              <a:t> Chicago's 311 system routes hundreds of thousands of service requests monthly across city departments. Without reliable demand forecasts, agencies cannot efficiently allocate staffing or resources. Which can lead to delayed response times, resident dissatisfaction, and budget inefficiencies.</a:t>
            </a:r>
            <a:endParaRPr sz="1100">
              <a:solidFill>
                <a:schemeClr val="dk1"/>
              </a:solidFill>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rPr b="1" lang="en" sz="1100">
                <a:solidFill>
                  <a:schemeClr val="dk1"/>
                </a:solidFill>
                <a:latin typeface="Poppins"/>
                <a:ea typeface="Poppins"/>
                <a:cs typeface="Poppins"/>
                <a:sym typeface="Poppins"/>
              </a:rPr>
              <a:t>Why It Matters:</a:t>
            </a:r>
            <a:endParaRPr b="1" sz="1100">
              <a:solidFill>
                <a:schemeClr val="dk1"/>
              </a:solidFill>
              <a:latin typeface="Poppins"/>
              <a:ea typeface="Poppins"/>
              <a:cs typeface="Poppins"/>
              <a:sym typeface="Poppins"/>
            </a:endParaRPr>
          </a:p>
          <a:p>
            <a:pPr indent="-298450" lvl="0" marL="457200" rtl="0" algn="l">
              <a:spcBef>
                <a:spcPts val="120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Predictable seasonal surges and event-driven spikes </a:t>
            </a: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Reactive staffing </a:t>
            </a: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Cross-department coordination </a:t>
            </a: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Accurate forecasting</a:t>
            </a:r>
            <a:endParaRPr sz="1100">
              <a:solidFill>
                <a:schemeClr val="dk1"/>
              </a:solidFill>
              <a:latin typeface="Poppins"/>
              <a:ea typeface="Poppins"/>
              <a:cs typeface="Poppins"/>
              <a:sym typeface="Poppins"/>
            </a:endParaRPr>
          </a:p>
          <a:p>
            <a:pPr indent="0" lvl="0" marL="0" rtl="0" algn="l">
              <a:spcBef>
                <a:spcPts val="1200"/>
              </a:spcBef>
              <a:spcAft>
                <a:spcPts val="0"/>
              </a:spcAft>
              <a:buNone/>
            </a:pPr>
            <a:r>
              <a:rPr b="1" lang="en" sz="1100">
                <a:solidFill>
                  <a:schemeClr val="dk1"/>
                </a:solidFill>
                <a:latin typeface="Poppins"/>
                <a:ea typeface="Poppins"/>
                <a:cs typeface="Poppins"/>
                <a:sym typeface="Poppins"/>
              </a:rPr>
              <a:t>Success Looks Like:</a:t>
            </a:r>
            <a:r>
              <a:rPr lang="en" sz="1100">
                <a:solidFill>
                  <a:schemeClr val="dk1"/>
                </a:solidFill>
                <a:latin typeface="Poppins"/>
                <a:ea typeface="Poppins"/>
                <a:cs typeface="Poppins"/>
                <a:sym typeface="Poppins"/>
              </a:rPr>
              <a:t> A model recommendation that balances forecast accuracy (MAE/RMSE) with interpretability — one the city could realistically adopt for day-to-day resource planning and seasonal preparedness.</a:t>
            </a:r>
            <a:endParaRPr sz="1100">
              <a:solidFill>
                <a:schemeClr val="dk1"/>
              </a:solidFill>
              <a:latin typeface="Poppins"/>
              <a:ea typeface="Poppins"/>
              <a:cs typeface="Poppins"/>
              <a:sym typeface="Poppins"/>
            </a:endParaRPr>
          </a:p>
          <a:p>
            <a:pPr indent="0" lvl="0" marL="0" rtl="0" algn="l">
              <a:spcBef>
                <a:spcPts val="1200"/>
              </a:spcBef>
              <a:spcAft>
                <a:spcPts val="1200"/>
              </a:spcAft>
              <a:buNone/>
            </a:pPr>
            <a:r>
              <a:t/>
            </a:r>
            <a:endParaRPr>
              <a:solidFill>
                <a:srgbClr val="4D4D4D"/>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Big Shoulders"/>
                <a:ea typeface="Big Shoulders"/>
                <a:cs typeface="Big Shoulders"/>
                <a:sym typeface="Big Shoulders"/>
              </a:rPr>
              <a:t>Modeling Hypothesis &amp; Assumptions</a:t>
            </a:r>
            <a:endParaRPr b="1">
              <a:latin typeface="Big Shoulders"/>
              <a:ea typeface="Big Shoulders"/>
              <a:cs typeface="Big Shoulders"/>
              <a:sym typeface="Big Shoulders"/>
            </a:endParaRPr>
          </a:p>
        </p:txBody>
      </p:sp>
      <p:sp>
        <p:nvSpPr>
          <p:cNvPr id="72" name="Google Shape;72;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p:txBody>
      </p:sp>
      <p:pic>
        <p:nvPicPr>
          <p:cNvPr id="73" name="Google Shape;73;p15"/>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74" name="Google Shape;7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1200"/>
              </a:spcBef>
              <a:spcAft>
                <a:spcPts val="0"/>
              </a:spcAft>
              <a:buNone/>
            </a:pPr>
            <a:r>
              <a:rPr b="1" lang="en" sz="1600">
                <a:solidFill>
                  <a:schemeClr val="dk1"/>
                </a:solidFill>
                <a:latin typeface="Poppins"/>
                <a:ea typeface="Poppins"/>
                <a:cs typeface="Poppins"/>
                <a:sym typeface="Poppins"/>
              </a:rPr>
              <a:t>Hypotheses:</a:t>
            </a:r>
            <a:endParaRPr b="1" sz="1600">
              <a:solidFill>
                <a:schemeClr val="dk1"/>
              </a:solidFill>
              <a:latin typeface="Poppins"/>
              <a:ea typeface="Poppins"/>
              <a:cs typeface="Poppins"/>
              <a:sym typeface="Poppins"/>
            </a:endParaRPr>
          </a:p>
          <a:p>
            <a:pPr indent="-322580" lvl="0" marL="457200" rtl="0" algn="l">
              <a:spcBef>
                <a:spcPts val="120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(H1) </a:t>
            </a:r>
            <a:r>
              <a:rPr lang="en" sz="1600">
                <a:solidFill>
                  <a:schemeClr val="dk1"/>
                </a:solidFill>
                <a:latin typeface="Poppins"/>
                <a:ea typeface="Poppins"/>
                <a:cs typeface="Poppins"/>
                <a:sym typeface="Poppins"/>
              </a:rPr>
              <a:t>Seasonal Patterns Drive Demand </a:t>
            </a:r>
            <a:endParaRPr sz="1600">
              <a:solidFill>
                <a:schemeClr val="dk1"/>
              </a:solidFill>
              <a:latin typeface="Poppins"/>
              <a:ea typeface="Poppins"/>
              <a:cs typeface="Poppins"/>
              <a:sym typeface="Poppins"/>
            </a:endParaRPr>
          </a:p>
          <a:p>
            <a:pPr indent="-322580" lvl="0" marL="457200" rtl="0" algn="l">
              <a:spcBef>
                <a:spcPts val="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(H2) Calendar Effects Create Systematic Deviations </a:t>
            </a:r>
            <a:endParaRPr sz="1600">
              <a:solidFill>
                <a:schemeClr val="dk1"/>
              </a:solidFill>
              <a:latin typeface="Poppins"/>
              <a:ea typeface="Poppins"/>
              <a:cs typeface="Poppins"/>
              <a:sym typeface="Poppins"/>
            </a:endParaRPr>
          </a:p>
          <a:p>
            <a:pPr indent="-322580" lvl="0" marL="457200" rtl="0" algn="l">
              <a:spcBef>
                <a:spcPts val="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(H3) Weather Conditions Affect Demand with Lag </a:t>
            </a:r>
            <a:endParaRPr sz="1600">
              <a:solidFill>
                <a:schemeClr val="dk1"/>
              </a:solidFill>
              <a:latin typeface="Poppins"/>
              <a:ea typeface="Poppins"/>
              <a:cs typeface="Poppins"/>
              <a:sym typeface="Poppins"/>
            </a:endParaRPr>
          </a:p>
          <a:p>
            <a:pPr indent="0" lvl="0" marL="0" rtl="0" algn="l">
              <a:spcBef>
                <a:spcPts val="1200"/>
              </a:spcBef>
              <a:spcAft>
                <a:spcPts val="0"/>
              </a:spcAft>
              <a:buClr>
                <a:schemeClr val="dk1"/>
              </a:buClr>
              <a:buSzPct val="68750"/>
              <a:buFont typeface="Arial"/>
              <a:buNone/>
            </a:pPr>
            <a:r>
              <a:t/>
            </a:r>
            <a:endParaRPr sz="1600">
              <a:solidFill>
                <a:schemeClr val="dk1"/>
              </a:solidFill>
              <a:latin typeface="Poppins"/>
              <a:ea typeface="Poppins"/>
              <a:cs typeface="Poppins"/>
              <a:sym typeface="Poppins"/>
            </a:endParaRPr>
          </a:p>
          <a:p>
            <a:pPr indent="0" lvl="0" marL="0" rtl="0" algn="l">
              <a:spcBef>
                <a:spcPts val="1200"/>
              </a:spcBef>
              <a:spcAft>
                <a:spcPts val="0"/>
              </a:spcAft>
              <a:buClr>
                <a:schemeClr val="dk1"/>
              </a:buClr>
              <a:buSzPct val="68750"/>
              <a:buFont typeface="Arial"/>
              <a:buNone/>
            </a:pPr>
            <a:r>
              <a:rPr b="1" lang="en" sz="1600">
                <a:solidFill>
                  <a:schemeClr val="dk1"/>
                </a:solidFill>
                <a:latin typeface="Poppins"/>
                <a:ea typeface="Poppins"/>
                <a:cs typeface="Poppins"/>
                <a:sym typeface="Poppins"/>
              </a:rPr>
              <a:t>Key Modeling Assumptions:</a:t>
            </a:r>
            <a:endParaRPr b="1" sz="1600">
              <a:solidFill>
                <a:schemeClr val="dk1"/>
              </a:solidFill>
              <a:latin typeface="Poppins"/>
              <a:ea typeface="Poppins"/>
              <a:cs typeface="Poppins"/>
              <a:sym typeface="Poppins"/>
            </a:endParaRPr>
          </a:p>
          <a:p>
            <a:pPr indent="-322580" lvl="0" marL="457200" rtl="0" algn="l">
              <a:spcBef>
                <a:spcPts val="120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Demand patterns </a:t>
            </a:r>
            <a:endParaRPr sz="1600">
              <a:solidFill>
                <a:schemeClr val="dk1"/>
              </a:solidFill>
              <a:latin typeface="Poppins"/>
              <a:ea typeface="Poppins"/>
              <a:cs typeface="Poppins"/>
              <a:sym typeface="Poppins"/>
            </a:endParaRPr>
          </a:p>
          <a:p>
            <a:pPr indent="-322580" lvl="0" marL="457200" rtl="0" algn="l">
              <a:spcBef>
                <a:spcPts val="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COVID-19 (2020–2021) </a:t>
            </a:r>
            <a:endParaRPr sz="1600">
              <a:solidFill>
                <a:schemeClr val="dk1"/>
              </a:solidFill>
              <a:latin typeface="Poppins"/>
              <a:ea typeface="Poppins"/>
              <a:cs typeface="Poppins"/>
              <a:sym typeface="Poppins"/>
            </a:endParaRPr>
          </a:p>
          <a:p>
            <a:pPr indent="-322580" lvl="0" marL="457200" rtl="0" algn="l">
              <a:spcBef>
                <a:spcPts val="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Train/Test protocols</a:t>
            </a:r>
            <a:endParaRPr sz="1600">
              <a:solidFill>
                <a:schemeClr val="dk1"/>
              </a:solidFill>
              <a:latin typeface="Poppins"/>
              <a:ea typeface="Poppins"/>
              <a:cs typeface="Poppins"/>
              <a:sym typeface="Poppins"/>
            </a:endParaRPr>
          </a:p>
          <a:p>
            <a:pPr indent="-322580" lvl="0" marL="457200" rtl="0" algn="l">
              <a:spcBef>
                <a:spcPts val="0"/>
              </a:spcBef>
              <a:spcAft>
                <a:spcPts val="0"/>
              </a:spcAft>
              <a:buClr>
                <a:schemeClr val="dk1"/>
              </a:buClr>
              <a:buSzPct val="100000"/>
              <a:buFont typeface="Poppins"/>
              <a:buChar char="●"/>
            </a:pPr>
            <a:r>
              <a:rPr lang="en" sz="1600">
                <a:solidFill>
                  <a:schemeClr val="dk1"/>
                </a:solidFill>
                <a:latin typeface="Poppins"/>
                <a:ea typeface="Poppins"/>
                <a:cs typeface="Poppins"/>
                <a:sym typeface="Poppins"/>
              </a:rPr>
              <a:t>Forecast evaluation </a:t>
            </a:r>
            <a:endParaRPr sz="2300">
              <a:solidFill>
                <a:srgbClr val="4D4D4D"/>
              </a:solidFill>
              <a:latin typeface="Poppins"/>
              <a:ea typeface="Poppins"/>
              <a:cs typeface="Poppins"/>
              <a:sym typeface="Poppins"/>
            </a:endParaRPr>
          </a:p>
          <a:p>
            <a:pPr indent="0" lvl="0" marL="0" rtl="0" algn="l">
              <a:spcBef>
                <a:spcPts val="1200"/>
              </a:spcBef>
              <a:spcAft>
                <a:spcPts val="1200"/>
              </a:spcAft>
              <a:buNone/>
            </a:pPr>
            <a:r>
              <a:t/>
            </a:r>
            <a:endParaRPr b="1" sz="1100">
              <a:solidFill>
                <a:schemeClr val="dk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Data Description and Properties</a:t>
            </a:r>
            <a:endParaRPr/>
          </a:p>
        </p:txBody>
      </p:sp>
      <p:sp>
        <p:nvSpPr>
          <p:cNvPr id="80" name="Google Shape;8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1" name="Google Shape;81;p16"/>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82" name="Google Shape;8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450">
                <a:solidFill>
                  <a:schemeClr val="dk1"/>
                </a:solidFill>
                <a:latin typeface="Poppins"/>
                <a:ea typeface="Poppins"/>
                <a:cs typeface="Poppins"/>
                <a:sym typeface="Poppins"/>
              </a:rPr>
              <a:t>Datasets</a:t>
            </a:r>
            <a:endParaRPr sz="1450">
              <a:solidFill>
                <a:schemeClr val="dk1"/>
              </a:solidFill>
              <a:latin typeface="Poppins"/>
              <a:ea typeface="Poppins"/>
              <a:cs typeface="Poppins"/>
              <a:sym typeface="Poppins"/>
            </a:endParaRPr>
          </a:p>
          <a:p>
            <a:pPr indent="-320675" lvl="0" marL="457200" rtl="0" algn="l">
              <a:lnSpc>
                <a:spcPct val="100000"/>
              </a:lnSpc>
              <a:spcBef>
                <a:spcPts val="1200"/>
              </a:spcBef>
              <a:spcAft>
                <a:spcPts val="0"/>
              </a:spcAft>
              <a:buClr>
                <a:schemeClr val="dk1"/>
              </a:buClr>
              <a:buSzPts val="1450"/>
              <a:buFont typeface="Poppins"/>
              <a:buChar char="●"/>
            </a:pPr>
            <a:r>
              <a:rPr lang="en" sz="1450">
                <a:solidFill>
                  <a:schemeClr val="dk1"/>
                </a:solidFill>
                <a:latin typeface="Poppins"/>
                <a:ea typeface="Poppins"/>
                <a:cs typeface="Poppins"/>
                <a:sym typeface="Poppins"/>
              </a:rPr>
              <a:t>Chicago 311 demand (counts): daily request volume, 2020–2026</a:t>
            </a:r>
            <a:endParaRPr sz="1450">
              <a:solidFill>
                <a:schemeClr val="dk1"/>
              </a:solidFill>
              <a:latin typeface="Poppins"/>
              <a:ea typeface="Poppins"/>
              <a:cs typeface="Poppins"/>
              <a:sym typeface="Poppins"/>
            </a:endParaRPr>
          </a:p>
          <a:p>
            <a:pPr indent="-320675" lvl="1" marL="914400" rtl="0" algn="l">
              <a:lnSpc>
                <a:spcPct val="100000"/>
              </a:lnSpc>
              <a:spcBef>
                <a:spcPts val="0"/>
              </a:spcBef>
              <a:spcAft>
                <a:spcPts val="0"/>
              </a:spcAft>
              <a:buClr>
                <a:schemeClr val="dk1"/>
              </a:buClr>
              <a:buSzPts val="1450"/>
              <a:buFont typeface="Poppins"/>
              <a:buChar char="○"/>
            </a:pPr>
            <a:r>
              <a:rPr lang="en" sz="1450">
                <a:solidFill>
                  <a:schemeClr val="dk1"/>
                </a:solidFill>
                <a:latin typeface="Poppins"/>
                <a:ea typeface="Poppins"/>
                <a:cs typeface="Poppins"/>
                <a:sym typeface="Poppins"/>
              </a:rPr>
              <a:t>Views: Total + Top 5 departments</a:t>
            </a:r>
            <a:endParaRPr sz="1450">
              <a:solidFill>
                <a:schemeClr val="dk1"/>
              </a:solidFill>
              <a:latin typeface="Poppins"/>
              <a:ea typeface="Poppins"/>
              <a:cs typeface="Poppins"/>
              <a:sym typeface="Poppins"/>
            </a:endParaRPr>
          </a:p>
          <a:p>
            <a:pPr indent="-320675" lvl="1" marL="914400" rtl="0" algn="l">
              <a:lnSpc>
                <a:spcPct val="100000"/>
              </a:lnSpc>
              <a:spcBef>
                <a:spcPts val="0"/>
              </a:spcBef>
              <a:spcAft>
                <a:spcPts val="0"/>
              </a:spcAft>
              <a:buClr>
                <a:schemeClr val="dk1"/>
              </a:buClr>
              <a:buSzPts val="1450"/>
              <a:buFont typeface="Poppins"/>
              <a:buChar char="○"/>
            </a:pPr>
            <a:r>
              <a:rPr lang="en" sz="1450">
                <a:solidFill>
                  <a:schemeClr val="dk1"/>
                </a:solidFill>
                <a:latin typeface="Poppins"/>
                <a:ea typeface="Poppins"/>
                <a:cs typeface="Poppins"/>
                <a:sym typeface="Poppins"/>
              </a:rPr>
              <a:t>Departments: 311 City Services, Alderman, CDOT, Streets &amp; Sanitation, DWM</a:t>
            </a:r>
            <a:endParaRPr sz="1450">
              <a:solidFill>
                <a:schemeClr val="dk1"/>
              </a:solidFill>
              <a:latin typeface="Poppins"/>
              <a:ea typeface="Poppins"/>
              <a:cs typeface="Poppins"/>
              <a:sym typeface="Poppins"/>
            </a:endParaRPr>
          </a:p>
          <a:p>
            <a:pPr indent="-320675" lvl="0" marL="457200" rtl="0" algn="l">
              <a:lnSpc>
                <a:spcPct val="100000"/>
              </a:lnSpc>
              <a:spcBef>
                <a:spcPts val="0"/>
              </a:spcBef>
              <a:spcAft>
                <a:spcPts val="0"/>
              </a:spcAft>
              <a:buClr>
                <a:schemeClr val="dk1"/>
              </a:buClr>
              <a:buSzPts val="1450"/>
              <a:buFont typeface="Poppins"/>
              <a:buChar char="●"/>
            </a:pPr>
            <a:r>
              <a:rPr lang="en" sz="1450">
                <a:solidFill>
                  <a:schemeClr val="dk1"/>
                </a:solidFill>
                <a:latin typeface="Poppins"/>
                <a:ea typeface="Poppins"/>
                <a:cs typeface="Poppins"/>
                <a:sym typeface="Poppins"/>
              </a:rPr>
              <a:t>Weather (monthly): 2020–2026, from NOAA NCEI Climate at a Glance</a:t>
            </a:r>
            <a:endParaRPr sz="1450">
              <a:solidFill>
                <a:schemeClr val="dk1"/>
              </a:solidFill>
              <a:latin typeface="Poppins"/>
              <a:ea typeface="Poppins"/>
              <a:cs typeface="Poppins"/>
              <a:sym typeface="Poppins"/>
            </a:endParaRPr>
          </a:p>
          <a:p>
            <a:pPr indent="-320675" lvl="1" marL="914400" rtl="0" algn="l">
              <a:lnSpc>
                <a:spcPct val="100000"/>
              </a:lnSpc>
              <a:spcBef>
                <a:spcPts val="0"/>
              </a:spcBef>
              <a:spcAft>
                <a:spcPts val="0"/>
              </a:spcAft>
              <a:buClr>
                <a:schemeClr val="dk1"/>
              </a:buClr>
              <a:buSzPts val="1450"/>
              <a:buFont typeface="Poppins"/>
              <a:buChar char="○"/>
            </a:pPr>
            <a:r>
              <a:rPr lang="en" sz="1450">
                <a:solidFill>
                  <a:schemeClr val="dk1"/>
                </a:solidFill>
                <a:latin typeface="Poppins"/>
                <a:ea typeface="Poppins"/>
                <a:cs typeface="Poppins"/>
                <a:sym typeface="Poppins"/>
              </a:rPr>
              <a:t>Fields: Date (YYYYMM), Value (avg temp), Anomaly (temp anomaly)</a:t>
            </a:r>
            <a:endParaRPr sz="1450">
              <a:solidFill>
                <a:schemeClr val="dk1"/>
              </a:solidFill>
              <a:latin typeface="Poppins"/>
              <a:ea typeface="Poppins"/>
              <a:cs typeface="Poppins"/>
              <a:sym typeface="Poppins"/>
            </a:endParaRPr>
          </a:p>
          <a:p>
            <a:pPr indent="0" lvl="0" marL="0" rtl="0" algn="l">
              <a:lnSpc>
                <a:spcPct val="100000"/>
              </a:lnSpc>
              <a:spcBef>
                <a:spcPts val="1200"/>
              </a:spcBef>
              <a:spcAft>
                <a:spcPts val="1200"/>
              </a:spcAft>
              <a:buNone/>
            </a:pPr>
            <a:r>
              <a:t/>
            </a:r>
            <a:endParaRPr sz="1450">
              <a:solidFill>
                <a:schemeClr val="dk1"/>
              </a:solidFill>
              <a:latin typeface="Poppins"/>
              <a:ea typeface="Poppins"/>
              <a:cs typeface="Poppins"/>
              <a:sym typeface="Poppins"/>
            </a:endParaRPr>
          </a:p>
        </p:txBody>
      </p:sp>
      <p:pic>
        <p:nvPicPr>
          <p:cNvPr id="83" name="Google Shape;83;p16"/>
          <p:cNvPicPr preferRelativeResize="0"/>
          <p:nvPr/>
        </p:nvPicPr>
        <p:blipFill rotWithShape="1">
          <a:blip r:embed="rId4">
            <a:alphaModFix/>
          </a:blip>
          <a:srcRect b="0" l="33967" r="0" t="0"/>
          <a:stretch/>
        </p:blipFill>
        <p:spPr>
          <a:xfrm>
            <a:off x="1552988" y="2872925"/>
            <a:ext cx="6038026" cy="2134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Data Processing and EDA</a:t>
            </a:r>
            <a:endParaRPr/>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91" name="Google Shape;9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50">
                <a:solidFill>
                  <a:schemeClr val="dk1"/>
                </a:solidFill>
                <a:latin typeface="Poppins SemiBold"/>
                <a:ea typeface="Poppins SemiBold"/>
                <a:cs typeface="Poppins SemiBold"/>
                <a:sym typeface="Poppins SemiBold"/>
              </a:rPr>
              <a:t>Processing:</a:t>
            </a:r>
            <a:endParaRPr sz="1450">
              <a:solidFill>
                <a:schemeClr val="dk1"/>
              </a:solidFill>
              <a:latin typeface="Poppins SemiBold"/>
              <a:ea typeface="Poppins SemiBold"/>
              <a:cs typeface="Poppins SemiBold"/>
              <a:sym typeface="Poppins SemiBold"/>
            </a:endParaRPr>
          </a:p>
          <a:p>
            <a:pPr indent="-320675" lvl="0" marL="457200" rtl="0" algn="l">
              <a:lnSpc>
                <a:spcPct val="100000"/>
              </a:lnSpc>
              <a:spcBef>
                <a:spcPts val="1200"/>
              </a:spcBef>
              <a:spcAft>
                <a:spcPts val="0"/>
              </a:spcAft>
              <a:buClr>
                <a:schemeClr val="dk1"/>
              </a:buClr>
              <a:buSzPts val="1450"/>
              <a:buFont typeface="Poppins SemiBold"/>
              <a:buChar char="●"/>
            </a:pPr>
            <a:r>
              <a:rPr lang="en" sz="1100">
                <a:solidFill>
                  <a:schemeClr val="dk1"/>
                </a:solidFill>
              </a:rPr>
              <a:t>Make a complete daily timeline and fill missing days</a:t>
            </a:r>
            <a:endParaRPr sz="1100">
              <a:solidFill>
                <a:schemeClr val="dk1"/>
              </a:solidFill>
            </a:endParaRPr>
          </a:p>
          <a:p>
            <a:pPr indent="-320675" lvl="0" marL="457200" rtl="0" algn="l">
              <a:lnSpc>
                <a:spcPct val="100000"/>
              </a:lnSpc>
              <a:spcBef>
                <a:spcPts val="0"/>
              </a:spcBef>
              <a:spcAft>
                <a:spcPts val="0"/>
              </a:spcAft>
              <a:buClr>
                <a:schemeClr val="dk1"/>
              </a:buClr>
              <a:buSzPts val="1450"/>
              <a:buFont typeface="Poppins SemiBold"/>
              <a:buChar char="●"/>
            </a:pPr>
            <a:r>
              <a:rPr lang="en" sz="1100">
                <a:solidFill>
                  <a:schemeClr val="dk1"/>
                </a:solidFill>
              </a:rPr>
              <a:t>Aggregate to monthly (sum/mean) to compare trends and match weather frequency</a:t>
            </a:r>
            <a:endParaRPr sz="1100">
              <a:solidFill>
                <a:schemeClr val="dk1"/>
              </a:solidFill>
            </a:endParaRPr>
          </a:p>
          <a:p>
            <a:pPr indent="-320675" lvl="0" marL="457200" rtl="0" algn="l">
              <a:lnSpc>
                <a:spcPct val="100000"/>
              </a:lnSpc>
              <a:spcBef>
                <a:spcPts val="0"/>
              </a:spcBef>
              <a:spcAft>
                <a:spcPts val="0"/>
              </a:spcAft>
              <a:buClr>
                <a:schemeClr val="dk1"/>
              </a:buClr>
              <a:buSzPts val="1450"/>
              <a:buFont typeface="Poppins SemiBold"/>
              <a:buChar char="●"/>
            </a:pPr>
            <a:r>
              <a:rPr lang="en" sz="1100">
                <a:solidFill>
                  <a:schemeClr val="dk1"/>
                </a:solidFill>
              </a:rPr>
              <a:t>Join monthly 311 with NOAA weather</a:t>
            </a:r>
            <a:endParaRPr sz="1450">
              <a:solidFill>
                <a:schemeClr val="dk1"/>
              </a:solidFill>
              <a:latin typeface="Poppins SemiBold"/>
              <a:ea typeface="Poppins SemiBold"/>
              <a:cs typeface="Poppins SemiBold"/>
              <a:sym typeface="Poppins SemiBold"/>
            </a:endParaRPr>
          </a:p>
        </p:txBody>
      </p:sp>
      <p:pic>
        <p:nvPicPr>
          <p:cNvPr id="92" name="Google Shape;92;p17"/>
          <p:cNvPicPr preferRelativeResize="0"/>
          <p:nvPr/>
        </p:nvPicPr>
        <p:blipFill>
          <a:blip r:embed="rId4">
            <a:alphaModFix/>
          </a:blip>
          <a:stretch>
            <a:fillRect/>
          </a:stretch>
        </p:blipFill>
        <p:spPr>
          <a:xfrm>
            <a:off x="1195625" y="2571750"/>
            <a:ext cx="6475955" cy="25423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Data Processing and EDA</a:t>
            </a:r>
            <a:endParaRPr/>
          </a:p>
        </p:txBody>
      </p:sp>
      <p:sp>
        <p:nvSpPr>
          <p:cNvPr id="98" name="Google Shape;98;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9" name="Google Shape;99;p18"/>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00" name="Google Shape;10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50">
                <a:solidFill>
                  <a:schemeClr val="dk1"/>
                </a:solidFill>
                <a:latin typeface="Poppins SemiBold"/>
                <a:ea typeface="Poppins SemiBold"/>
                <a:cs typeface="Poppins SemiBold"/>
                <a:sym typeface="Poppins SemiBold"/>
              </a:rPr>
              <a:t>Processing:</a:t>
            </a:r>
            <a:endParaRPr sz="1450">
              <a:solidFill>
                <a:schemeClr val="dk1"/>
              </a:solidFill>
              <a:latin typeface="Poppins SemiBold"/>
              <a:ea typeface="Poppins SemiBold"/>
              <a:cs typeface="Poppins SemiBold"/>
              <a:sym typeface="Poppins SemiBold"/>
            </a:endParaRPr>
          </a:p>
          <a:p>
            <a:pPr indent="-320675" lvl="0" marL="457200" rtl="0" algn="l">
              <a:lnSpc>
                <a:spcPct val="100000"/>
              </a:lnSpc>
              <a:spcBef>
                <a:spcPts val="1200"/>
              </a:spcBef>
              <a:spcAft>
                <a:spcPts val="0"/>
              </a:spcAft>
              <a:buClr>
                <a:schemeClr val="dk1"/>
              </a:buClr>
              <a:buSzPts val="1450"/>
              <a:buFont typeface="Poppins SemiBold"/>
              <a:buChar char="●"/>
            </a:pPr>
            <a:r>
              <a:rPr lang="en" sz="1100">
                <a:solidFill>
                  <a:schemeClr val="dk1"/>
                </a:solidFill>
              </a:rPr>
              <a:t>Parse dates, sort, set a continuous time index</a:t>
            </a:r>
            <a:endParaRPr sz="1100">
              <a:solidFill>
                <a:schemeClr val="dk1"/>
              </a:solidFill>
            </a:endParaRPr>
          </a:p>
          <a:p>
            <a:pPr indent="-320675" lvl="0" marL="457200" rtl="0" algn="l">
              <a:lnSpc>
                <a:spcPct val="100000"/>
              </a:lnSpc>
              <a:spcBef>
                <a:spcPts val="0"/>
              </a:spcBef>
              <a:spcAft>
                <a:spcPts val="0"/>
              </a:spcAft>
              <a:buClr>
                <a:schemeClr val="dk1"/>
              </a:buClr>
              <a:buSzPts val="1450"/>
              <a:buFont typeface="Poppins SemiBold"/>
              <a:buChar char="●"/>
            </a:pPr>
            <a:r>
              <a:rPr lang="en" sz="1100">
                <a:solidFill>
                  <a:schemeClr val="dk1"/>
                </a:solidFill>
              </a:rPr>
              <a:t>Reindex to daily counts; handle missing days/NA (count-safe)</a:t>
            </a:r>
            <a:endParaRPr sz="1100">
              <a:solidFill>
                <a:schemeClr val="dk1"/>
              </a:solidFill>
            </a:endParaRPr>
          </a:p>
          <a:p>
            <a:pPr indent="-320675" lvl="0" marL="457200" rtl="0" algn="l">
              <a:lnSpc>
                <a:spcPct val="100000"/>
              </a:lnSpc>
              <a:spcBef>
                <a:spcPts val="0"/>
              </a:spcBef>
              <a:spcAft>
                <a:spcPts val="0"/>
              </a:spcAft>
              <a:buClr>
                <a:schemeClr val="dk1"/>
              </a:buClr>
              <a:buSzPts val="1450"/>
              <a:buFont typeface="Poppins SemiBold"/>
              <a:buChar char="●"/>
            </a:pPr>
            <a:r>
              <a:rPr lang="en" sz="1100">
                <a:solidFill>
                  <a:schemeClr val="dk1"/>
                </a:solidFill>
              </a:rPr>
              <a:t>Build monthly aggregates (sum/mean) for robustness and weather alignment</a:t>
            </a:r>
            <a:endParaRPr sz="1100">
              <a:solidFill>
                <a:schemeClr val="dk1"/>
              </a:solidFill>
            </a:endParaRPr>
          </a:p>
          <a:p>
            <a:pPr indent="-320675" lvl="0" marL="457200" rtl="0" algn="l">
              <a:lnSpc>
                <a:spcPct val="100000"/>
              </a:lnSpc>
              <a:spcBef>
                <a:spcPts val="0"/>
              </a:spcBef>
              <a:spcAft>
                <a:spcPts val="0"/>
              </a:spcAft>
              <a:buClr>
                <a:schemeClr val="dk1"/>
              </a:buClr>
              <a:buSzPts val="1450"/>
              <a:buFont typeface="Poppins SemiBold"/>
              <a:buChar char="●"/>
            </a:pPr>
            <a:r>
              <a:rPr lang="en" sz="1100">
                <a:solidFill>
                  <a:schemeClr val="dk1"/>
                </a:solidFill>
              </a:rPr>
              <a:t>Join monthly 311 with NOAA weather</a:t>
            </a:r>
            <a:endParaRPr sz="1450">
              <a:solidFill>
                <a:schemeClr val="dk1"/>
              </a:solidFill>
              <a:latin typeface="Poppins SemiBold"/>
              <a:ea typeface="Poppins SemiBold"/>
              <a:cs typeface="Poppins SemiBold"/>
              <a:sym typeface="Poppins SemiBold"/>
            </a:endParaRPr>
          </a:p>
        </p:txBody>
      </p:sp>
      <p:pic>
        <p:nvPicPr>
          <p:cNvPr id="101" name="Google Shape;101;p18"/>
          <p:cNvPicPr preferRelativeResize="0"/>
          <p:nvPr/>
        </p:nvPicPr>
        <p:blipFill>
          <a:blip r:embed="rId4">
            <a:alphaModFix/>
          </a:blip>
          <a:stretch>
            <a:fillRect/>
          </a:stretch>
        </p:blipFill>
        <p:spPr>
          <a:xfrm>
            <a:off x="659917" y="2656400"/>
            <a:ext cx="5057784" cy="2400425"/>
          </a:xfrm>
          <a:prstGeom prst="rect">
            <a:avLst/>
          </a:prstGeom>
          <a:noFill/>
          <a:ln>
            <a:noFill/>
          </a:ln>
        </p:spPr>
      </p:pic>
      <p:sp>
        <p:nvSpPr>
          <p:cNvPr id="102" name="Google Shape;102;p18"/>
          <p:cNvSpPr txBox="1"/>
          <p:nvPr/>
        </p:nvSpPr>
        <p:spPr>
          <a:xfrm>
            <a:off x="5717700" y="2840900"/>
            <a:ext cx="2923800" cy="11430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Indicates strong weekly seasonality in 311 demand</a:t>
            </a:r>
            <a:br>
              <a:rPr lang="en" sz="1100">
                <a:solidFill>
                  <a:schemeClr val="dk1"/>
                </a:solidFill>
                <a:latin typeface="Poppins"/>
                <a:ea typeface="Poppins"/>
                <a:cs typeface="Poppins"/>
                <a:sym typeface="Poppins"/>
              </a:rPr>
            </a:br>
            <a:endParaRPr sz="1100">
              <a:solidFill>
                <a:schemeClr val="dk1"/>
              </a:solidFill>
              <a:latin typeface="Poppins"/>
              <a:ea typeface="Poppins"/>
              <a:cs typeface="Poppins"/>
              <a:sym typeface="Poppins"/>
            </a:endParaRPr>
          </a:p>
          <a:p>
            <a:pPr indent="-298450" lvl="0" marL="457200" rtl="0" algn="l">
              <a:spcBef>
                <a:spcPts val="0"/>
              </a:spcBef>
              <a:spcAft>
                <a:spcPts val="0"/>
              </a:spcAft>
              <a:buClr>
                <a:schemeClr val="dk1"/>
              </a:buClr>
              <a:buSzPts val="1100"/>
              <a:buFont typeface="Poppins"/>
              <a:buChar char="●"/>
            </a:pPr>
            <a:r>
              <a:rPr lang="en" sz="1100">
                <a:solidFill>
                  <a:schemeClr val="dk1"/>
                </a:solidFill>
                <a:latin typeface="Poppins"/>
                <a:ea typeface="Poppins"/>
                <a:cs typeface="Poppins"/>
                <a:sym typeface="Poppins"/>
              </a:rPr>
              <a:t>Supports using a 7-day seasonal period (sp = 7) for daily models</a:t>
            </a:r>
            <a:endParaRPr sz="1100">
              <a:solidFill>
                <a:schemeClr val="dk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Data Processing and EDA</a:t>
            </a:r>
            <a:endParaRPr/>
          </a:p>
        </p:txBody>
      </p:sp>
      <p:sp>
        <p:nvSpPr>
          <p:cNvPr id="108" name="Google Shape;108;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09" name="Google Shape;109;p19"/>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10" name="Google Shape;110;p19"/>
          <p:cNvSpPr txBox="1"/>
          <p:nvPr>
            <p:ph idx="1" type="body"/>
          </p:nvPr>
        </p:nvSpPr>
        <p:spPr>
          <a:xfrm>
            <a:off x="5723275" y="1152475"/>
            <a:ext cx="31089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100">
                <a:solidFill>
                  <a:schemeClr val="dk1"/>
                </a:solidFill>
                <a:latin typeface="Poppins"/>
                <a:ea typeface="Poppins"/>
                <a:cs typeface="Poppins"/>
                <a:sym typeface="Poppins"/>
              </a:rPr>
              <a:t>Ran ADF and KPSS tests as a quick stationarity check</a:t>
            </a:r>
            <a:endParaRPr sz="1100">
              <a:solidFill>
                <a:schemeClr val="dk1"/>
              </a:solidFill>
              <a:latin typeface="Poppins"/>
              <a:ea typeface="Poppins"/>
              <a:cs typeface="Poppins"/>
              <a:sym typeface="Poppins"/>
            </a:endParaRPr>
          </a:p>
          <a:p>
            <a:pPr indent="-293211" lvl="0" marL="457200" rtl="0" algn="l">
              <a:spcBef>
                <a:spcPts val="1200"/>
              </a:spcBef>
              <a:spcAft>
                <a:spcPts val="0"/>
              </a:spcAft>
              <a:buClr>
                <a:schemeClr val="dk1"/>
              </a:buClr>
              <a:buSzPct val="100000"/>
              <a:buFont typeface="Poppins"/>
              <a:buChar char="●"/>
            </a:pPr>
            <a:r>
              <a:rPr lang="en" sz="1100">
                <a:solidFill>
                  <a:schemeClr val="dk1"/>
                </a:solidFill>
                <a:latin typeface="Poppins"/>
                <a:ea typeface="Poppins"/>
                <a:cs typeface="Poppins"/>
                <a:sym typeface="Poppins"/>
              </a:rPr>
              <a:t>ADF: p-values above 0.05 suggest we cannot reject a unit root</a:t>
            </a:r>
            <a:r>
              <a:rPr lang="en" sz="1100">
                <a:solidFill>
                  <a:schemeClr val="dk1"/>
                </a:solidFill>
                <a:latin typeface="Poppins"/>
                <a:ea typeface="Poppins"/>
                <a:cs typeface="Poppins"/>
                <a:sym typeface="Poppins"/>
              </a:rPr>
              <a:t> → </a:t>
            </a:r>
            <a:r>
              <a:rPr lang="en" sz="1100">
                <a:solidFill>
                  <a:schemeClr val="dk1"/>
                </a:solidFill>
                <a:latin typeface="Poppins"/>
                <a:ea typeface="Poppins"/>
                <a:cs typeface="Poppins"/>
                <a:sym typeface="Poppins"/>
              </a:rPr>
              <a:t>non-stationary</a:t>
            </a:r>
            <a:endParaRPr sz="1100">
              <a:solidFill>
                <a:schemeClr val="dk1"/>
              </a:solidFill>
              <a:latin typeface="Poppins"/>
              <a:ea typeface="Poppins"/>
              <a:cs typeface="Poppins"/>
              <a:sym typeface="Poppins"/>
            </a:endParaRPr>
          </a:p>
          <a:p>
            <a:pPr indent="-293211" lvl="0" marL="457200" rtl="0" algn="l">
              <a:spcBef>
                <a:spcPts val="0"/>
              </a:spcBef>
              <a:spcAft>
                <a:spcPts val="0"/>
              </a:spcAft>
              <a:buClr>
                <a:schemeClr val="dk1"/>
              </a:buClr>
              <a:buSzPct val="100000"/>
              <a:buFont typeface="Poppins"/>
              <a:buChar char="●"/>
            </a:pPr>
            <a:r>
              <a:rPr lang="en" sz="1100">
                <a:solidFill>
                  <a:schemeClr val="dk1"/>
                </a:solidFill>
                <a:latin typeface="Poppins"/>
                <a:ea typeface="Poppins"/>
                <a:cs typeface="Poppins"/>
                <a:sym typeface="Poppins"/>
              </a:rPr>
              <a:t>311 Services is non-stationary</a:t>
            </a:r>
            <a:endParaRPr sz="1100">
              <a:solidFill>
                <a:schemeClr val="dk1"/>
              </a:solidFill>
              <a:latin typeface="Poppins"/>
              <a:ea typeface="Poppins"/>
              <a:cs typeface="Poppins"/>
              <a:sym typeface="Poppins"/>
            </a:endParaRPr>
          </a:p>
          <a:p>
            <a:pPr indent="0" lvl="0" marL="0" rtl="0" algn="l">
              <a:spcBef>
                <a:spcPts val="1200"/>
              </a:spcBef>
              <a:spcAft>
                <a:spcPts val="0"/>
              </a:spcAft>
              <a:buNone/>
            </a:pPr>
            <a:r>
              <a:t/>
            </a:r>
            <a:endParaRPr sz="1100">
              <a:solidFill>
                <a:schemeClr val="dk1"/>
              </a:solidFill>
              <a:latin typeface="Poppins"/>
              <a:ea typeface="Poppins"/>
              <a:cs typeface="Poppins"/>
              <a:sym typeface="Poppins"/>
            </a:endParaRPr>
          </a:p>
          <a:p>
            <a:pPr indent="0" lvl="0" marL="0" rtl="0" algn="l">
              <a:spcBef>
                <a:spcPts val="1200"/>
              </a:spcBef>
              <a:spcAft>
                <a:spcPts val="0"/>
              </a:spcAft>
              <a:buNone/>
            </a:pPr>
            <a:r>
              <a:t/>
            </a:r>
            <a:endParaRPr sz="1100">
              <a:solidFill>
                <a:schemeClr val="dk1"/>
              </a:solidFill>
              <a:latin typeface="Poppins"/>
              <a:ea typeface="Poppins"/>
              <a:cs typeface="Poppins"/>
              <a:sym typeface="Poppins"/>
            </a:endParaRPr>
          </a:p>
          <a:p>
            <a:pPr indent="-293211" lvl="0" marL="457200" rtl="0" algn="l">
              <a:spcBef>
                <a:spcPts val="1200"/>
              </a:spcBef>
              <a:spcAft>
                <a:spcPts val="0"/>
              </a:spcAft>
              <a:buClr>
                <a:schemeClr val="dk1"/>
              </a:buClr>
              <a:buSzPct val="100000"/>
              <a:buFont typeface="Poppins"/>
              <a:buChar char="●"/>
            </a:pPr>
            <a:r>
              <a:rPr lang="en" sz="1100">
                <a:solidFill>
                  <a:schemeClr val="dk1"/>
                </a:solidFill>
                <a:latin typeface="Poppins"/>
                <a:ea typeface="Poppins"/>
                <a:cs typeface="Poppins"/>
                <a:sym typeface="Poppins"/>
              </a:rPr>
              <a:t>KPSS: Most series are below 0.05, while Alderman is above 0.05.</a:t>
            </a:r>
            <a:endParaRPr sz="1100">
              <a:solidFill>
                <a:schemeClr val="dk1"/>
              </a:solidFill>
              <a:latin typeface="Poppins"/>
              <a:ea typeface="Poppins"/>
              <a:cs typeface="Poppins"/>
              <a:sym typeface="Poppins"/>
            </a:endParaRPr>
          </a:p>
          <a:p>
            <a:pPr indent="-293211" lvl="0" marL="457200" rtl="0" algn="l">
              <a:spcBef>
                <a:spcPts val="0"/>
              </a:spcBef>
              <a:spcAft>
                <a:spcPts val="0"/>
              </a:spcAft>
              <a:buClr>
                <a:schemeClr val="dk1"/>
              </a:buClr>
              <a:buSzPct val="100000"/>
              <a:buFont typeface="Poppins"/>
              <a:buChar char="●"/>
            </a:pPr>
            <a:r>
              <a:rPr lang="en" sz="1100">
                <a:solidFill>
                  <a:schemeClr val="dk1"/>
                </a:solidFill>
                <a:latin typeface="Poppins"/>
                <a:ea typeface="Poppins"/>
                <a:cs typeface="Poppins"/>
                <a:sym typeface="Poppins"/>
              </a:rPr>
              <a:t>The stationarity tests give mixed results, so some series may need differencing for ARIMA/VAR-type model.</a:t>
            </a:r>
            <a:endParaRPr sz="1100">
              <a:solidFill>
                <a:schemeClr val="dk1"/>
              </a:solidFill>
              <a:latin typeface="Poppins"/>
              <a:ea typeface="Poppins"/>
              <a:cs typeface="Poppins"/>
              <a:sym typeface="Poppins"/>
            </a:endParaRPr>
          </a:p>
          <a:p>
            <a:pPr indent="0" lvl="0" marL="0" rtl="0" algn="l">
              <a:spcBef>
                <a:spcPts val="1200"/>
              </a:spcBef>
              <a:spcAft>
                <a:spcPts val="1200"/>
              </a:spcAft>
              <a:buNone/>
            </a:pPr>
            <a:r>
              <a:rPr lang="en" sz="1100">
                <a:solidFill>
                  <a:schemeClr val="dk1"/>
                </a:solidFill>
                <a:latin typeface="Poppins"/>
                <a:ea typeface="Poppins"/>
                <a:cs typeface="Poppins"/>
                <a:sym typeface="Poppins"/>
              </a:rPr>
              <a:t>After 1st differencing, the other series look more stationary.</a:t>
            </a:r>
            <a:endParaRPr sz="1100">
              <a:solidFill>
                <a:schemeClr val="dk1"/>
              </a:solidFill>
              <a:latin typeface="Poppins"/>
              <a:ea typeface="Poppins"/>
              <a:cs typeface="Poppins"/>
              <a:sym typeface="Poppins"/>
            </a:endParaRPr>
          </a:p>
        </p:txBody>
      </p:sp>
      <p:pic>
        <p:nvPicPr>
          <p:cNvPr id="111" name="Google Shape;111;p19" title="KPSS_pvalues_by_series (1).png"/>
          <p:cNvPicPr preferRelativeResize="0"/>
          <p:nvPr/>
        </p:nvPicPr>
        <p:blipFill>
          <a:blip r:embed="rId4">
            <a:alphaModFix/>
          </a:blip>
          <a:stretch>
            <a:fillRect/>
          </a:stretch>
        </p:blipFill>
        <p:spPr>
          <a:xfrm>
            <a:off x="384300" y="2976775"/>
            <a:ext cx="4903038" cy="1931500"/>
          </a:xfrm>
          <a:prstGeom prst="rect">
            <a:avLst/>
          </a:prstGeom>
          <a:noFill/>
          <a:ln>
            <a:noFill/>
          </a:ln>
        </p:spPr>
      </p:pic>
      <p:pic>
        <p:nvPicPr>
          <p:cNvPr id="112" name="Google Shape;112;p19" title="FIG_stationarity_adf_pvalues.png"/>
          <p:cNvPicPr preferRelativeResize="0"/>
          <p:nvPr/>
        </p:nvPicPr>
        <p:blipFill>
          <a:blip r:embed="rId5">
            <a:alphaModFix/>
          </a:blip>
          <a:stretch>
            <a:fillRect/>
          </a:stretch>
        </p:blipFill>
        <p:spPr>
          <a:xfrm>
            <a:off x="384300" y="1017725"/>
            <a:ext cx="4897625" cy="1959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Big Shoulders"/>
                <a:ea typeface="Big Shoulders"/>
                <a:cs typeface="Big Shoulders"/>
                <a:sym typeface="Big Shoulders"/>
              </a:rPr>
              <a:t>Feature Engineering</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19" name="Google Shape;119;p20"/>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20" name="Google Shape;120;p20"/>
          <p:cNvSpPr txBox="1"/>
          <p:nvPr>
            <p:ph idx="1" type="body"/>
          </p:nvPr>
        </p:nvSpPr>
        <p:spPr>
          <a:xfrm>
            <a:off x="440700" y="1152475"/>
            <a:ext cx="8391600" cy="39909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400">
                <a:solidFill>
                  <a:schemeClr val="dk1"/>
                </a:solidFill>
              </a:rPr>
              <a:t>Weather as External Regressor</a:t>
            </a:r>
            <a:endParaRPr b="1" sz="1400">
              <a:solidFill>
                <a:schemeClr val="dk1"/>
              </a:solidFill>
            </a:endParaRPr>
          </a:p>
          <a:p>
            <a:pPr indent="0" lvl="0" marL="0" rtl="0" algn="l">
              <a:spcBef>
                <a:spcPts val="1200"/>
              </a:spcBef>
              <a:spcAft>
                <a:spcPts val="0"/>
              </a:spcAft>
              <a:buClr>
                <a:schemeClr val="dk1"/>
              </a:buClr>
              <a:buSzPts val="1100"/>
              <a:buFont typeface="Arial"/>
              <a:buNone/>
            </a:pPr>
            <a:r>
              <a:rPr lang="en" sz="1200">
                <a:solidFill>
                  <a:schemeClr val="dk1"/>
                </a:solidFill>
              </a:rPr>
              <a:t>To capture environmental effects on service demand, we incorporated </a:t>
            </a:r>
            <a:r>
              <a:rPr b="1" lang="en" sz="1200">
                <a:solidFill>
                  <a:schemeClr val="dk1"/>
                </a:solidFill>
              </a:rPr>
              <a:t>weather variables</a:t>
            </a:r>
            <a:r>
              <a:rPr lang="en" sz="1200">
                <a:solidFill>
                  <a:schemeClr val="dk1"/>
                </a:solidFill>
              </a:rPr>
              <a:t> into the modeling framework.</a:t>
            </a:r>
            <a:endParaRPr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Weather data was merged with the 311 request dataset.</a:t>
            </a:r>
            <a:endParaRPr sz="1200">
              <a:solidFill>
                <a:schemeClr val="dk1"/>
              </a:solidFill>
            </a:endParaRPr>
          </a:p>
          <a:p>
            <a:pPr indent="-304800" lvl="0" marL="457200" rtl="0" algn="l">
              <a:spcBef>
                <a:spcPts val="0"/>
              </a:spcBef>
              <a:spcAft>
                <a:spcPts val="0"/>
              </a:spcAft>
              <a:buClr>
                <a:schemeClr val="dk1"/>
              </a:buClr>
              <a:buSzPts val="1200"/>
              <a:buChar char="●"/>
            </a:pPr>
            <a:r>
              <a:rPr b="1" lang="en" sz="1200">
                <a:solidFill>
                  <a:schemeClr val="dk1"/>
                </a:solidFill>
              </a:rPr>
              <a:t>Average temperature</a:t>
            </a:r>
            <a:r>
              <a:rPr lang="en" sz="1200">
                <a:solidFill>
                  <a:schemeClr val="dk1"/>
                </a:solidFill>
              </a:rPr>
              <a:t> was used as an external regressor in models that support exogenous variables.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Weather features aim to capture </a:t>
            </a:r>
            <a:r>
              <a:rPr b="1" lang="en" sz="1200">
                <a:solidFill>
                  <a:schemeClr val="dk1"/>
                </a:solidFill>
              </a:rPr>
              <a:t>environment-driven fluctuations</a:t>
            </a:r>
            <a:r>
              <a:rPr lang="en" sz="1200">
                <a:solidFill>
                  <a:schemeClr val="dk1"/>
                </a:solidFill>
              </a:rPr>
              <a:t> in service requests.</a:t>
            </a:r>
            <a:endParaRPr sz="1200">
              <a:solidFill>
                <a:schemeClr val="dk1"/>
              </a:solidFill>
            </a:endParaRPr>
          </a:p>
          <a:p>
            <a:pPr indent="0" lvl="0" marL="0" rtl="0" algn="l">
              <a:spcBef>
                <a:spcPts val="1200"/>
              </a:spcBef>
              <a:spcAft>
                <a:spcPts val="0"/>
              </a:spcAft>
              <a:buNone/>
            </a:pPr>
            <a:r>
              <a:t/>
            </a:r>
            <a:endParaRPr sz="1200">
              <a:solidFill>
                <a:schemeClr val="dk1"/>
              </a:solidFill>
            </a:endParaRPr>
          </a:p>
          <a:p>
            <a:pPr indent="0" lvl="0" marL="0" rtl="0" algn="l">
              <a:spcBef>
                <a:spcPts val="1400"/>
              </a:spcBef>
              <a:spcAft>
                <a:spcPts val="0"/>
              </a:spcAft>
              <a:buNone/>
            </a:pPr>
            <a:r>
              <a:rPr b="1" lang="en" sz="1400">
                <a:solidFill>
                  <a:schemeClr val="dk1"/>
                </a:solidFill>
              </a:rPr>
              <a:t>Motivation</a:t>
            </a:r>
            <a:endParaRPr b="1" sz="1400">
              <a:solidFill>
                <a:schemeClr val="dk1"/>
              </a:solidFill>
            </a:endParaRPr>
          </a:p>
          <a:p>
            <a:pPr indent="0" lvl="0" marL="0" rtl="0" algn="l">
              <a:spcBef>
                <a:spcPts val="1200"/>
              </a:spcBef>
              <a:spcAft>
                <a:spcPts val="0"/>
              </a:spcAft>
              <a:buNone/>
            </a:pPr>
            <a:r>
              <a:rPr lang="en" sz="1200">
                <a:solidFill>
                  <a:schemeClr val="dk1"/>
                </a:solidFill>
              </a:rPr>
              <a:t>Certain types of 311 requests are </a:t>
            </a:r>
            <a:r>
              <a:rPr b="1" lang="en" sz="1200">
                <a:solidFill>
                  <a:schemeClr val="dk1"/>
                </a:solidFill>
              </a:rPr>
              <a:t>sensitive to environmental conditions</a:t>
            </a:r>
            <a:r>
              <a:rPr lang="en" sz="1200">
                <a:solidFill>
                  <a:schemeClr val="dk1"/>
                </a:solidFill>
              </a:rPr>
              <a:t>:</a:t>
            </a:r>
            <a:endParaRPr sz="1200">
              <a:solidFill>
                <a:schemeClr val="dk1"/>
              </a:solidFill>
            </a:endParaRPr>
          </a:p>
          <a:p>
            <a:pPr indent="-304800" lvl="0" marL="457200" rtl="0" algn="l">
              <a:spcBef>
                <a:spcPts val="1200"/>
              </a:spcBef>
              <a:spcAft>
                <a:spcPts val="0"/>
              </a:spcAft>
              <a:buClr>
                <a:schemeClr val="dk1"/>
              </a:buClr>
              <a:buSzPts val="1200"/>
              <a:buChar char="●"/>
            </a:pPr>
            <a:r>
              <a:rPr lang="en" sz="1200">
                <a:solidFill>
                  <a:schemeClr val="dk1"/>
                </a:solidFill>
              </a:rPr>
              <a:t>High temperatures may increase </a:t>
            </a:r>
            <a:r>
              <a:rPr b="1" lang="en" sz="1200">
                <a:solidFill>
                  <a:schemeClr val="dk1"/>
                </a:solidFill>
              </a:rPr>
              <a:t>water-related service requests</a:t>
            </a:r>
            <a:endParaRPr b="1"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Extreme weather can increase </a:t>
            </a:r>
            <a:r>
              <a:rPr b="1" lang="en" sz="1200">
                <a:solidFill>
                  <a:schemeClr val="dk1"/>
                </a:solidFill>
              </a:rPr>
              <a:t>infrastructure maintenance demand</a:t>
            </a:r>
            <a:endParaRPr b="1"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Seasonal weather patterns may affect </a:t>
            </a:r>
            <a:r>
              <a:rPr b="1" lang="en" sz="1200">
                <a:solidFill>
                  <a:schemeClr val="dk1"/>
                </a:solidFill>
              </a:rPr>
              <a:t>sanitation and transportation services</a:t>
            </a:r>
            <a:endParaRPr sz="1900">
              <a:solidFill>
                <a:srgbClr val="4D4D4D"/>
              </a:solidFill>
              <a:latin typeface="Roboto"/>
              <a:ea typeface="Roboto"/>
              <a:cs typeface="Roboto"/>
              <a:sym typeface="Roboto"/>
            </a:endParaRPr>
          </a:p>
        </p:txBody>
      </p:sp>
      <p:sp>
        <p:nvSpPr>
          <p:cNvPr id="121" name="Google Shape;121;p20"/>
          <p:cNvSpPr/>
          <p:nvPr/>
        </p:nvSpPr>
        <p:spPr>
          <a:xfrm>
            <a:off x="369625" y="3421850"/>
            <a:ext cx="6443100" cy="1241100"/>
          </a:xfrm>
          <a:prstGeom prst="rect">
            <a:avLst/>
          </a:prstGeom>
          <a:solidFill>
            <a:srgbClr val="41B6E5">
              <a:alpha val="176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2" name="Google Shape;122;p20"/>
          <p:cNvPicPr preferRelativeResize="0"/>
          <p:nvPr/>
        </p:nvPicPr>
        <p:blipFill>
          <a:blip r:embed="rId4">
            <a:alphaModFix/>
          </a:blip>
          <a:stretch>
            <a:fillRect/>
          </a:stretch>
        </p:blipFill>
        <p:spPr>
          <a:xfrm flipH="1">
            <a:off x="369625" y="1226825"/>
            <a:ext cx="71075" cy="236225"/>
          </a:xfrm>
          <a:prstGeom prst="rect">
            <a:avLst/>
          </a:prstGeom>
          <a:noFill/>
          <a:ln>
            <a:noFill/>
          </a:ln>
        </p:spPr>
      </p:pic>
      <p:pic>
        <p:nvPicPr>
          <p:cNvPr id="123" name="Google Shape;123;p20"/>
          <p:cNvPicPr preferRelativeResize="0"/>
          <p:nvPr/>
        </p:nvPicPr>
        <p:blipFill>
          <a:blip r:embed="rId4">
            <a:alphaModFix/>
          </a:blip>
          <a:stretch>
            <a:fillRect/>
          </a:stretch>
        </p:blipFill>
        <p:spPr>
          <a:xfrm flipH="1">
            <a:off x="369625" y="3167375"/>
            <a:ext cx="71075" cy="220975"/>
          </a:xfrm>
          <a:prstGeom prst="rect">
            <a:avLst/>
          </a:prstGeom>
          <a:noFill/>
          <a:ln>
            <a:noFill/>
          </a:ln>
        </p:spPr>
      </p:pic>
      <p:sp>
        <p:nvSpPr>
          <p:cNvPr id="124" name="Google Shape;124;p20"/>
          <p:cNvSpPr/>
          <p:nvPr/>
        </p:nvSpPr>
        <p:spPr>
          <a:xfrm>
            <a:off x="369625" y="1524000"/>
            <a:ext cx="8320800" cy="1241100"/>
          </a:xfrm>
          <a:prstGeom prst="rect">
            <a:avLst/>
          </a:prstGeom>
          <a:solidFill>
            <a:srgbClr val="41B6E5">
              <a:alpha val="1765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Proposed Modeling Approaches</a:t>
            </a:r>
            <a:r>
              <a:rPr lang="en"/>
              <a:t> </a:t>
            </a:r>
            <a:endParaRPr/>
          </a:p>
        </p:txBody>
      </p:sp>
      <p:sp>
        <p:nvSpPr>
          <p:cNvPr id="130" name="Google Shape;130;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1" name="Google Shape;131;p21"/>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32" name="Google Shape;132;p21"/>
          <p:cNvSpPr txBox="1"/>
          <p:nvPr>
            <p:ph idx="1" type="body"/>
          </p:nvPr>
        </p:nvSpPr>
        <p:spPr>
          <a:xfrm>
            <a:off x="311700" y="1152475"/>
            <a:ext cx="8520600" cy="6918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solidFill>
                  <a:schemeClr val="dk1"/>
                </a:solidFill>
              </a:rPr>
              <a:t>To forecast 311 service demand, we evaluated several time series models with different modeling assumptions:</a:t>
            </a:r>
            <a:endParaRPr sz="1200">
              <a:solidFill>
                <a:schemeClr val="dk1"/>
              </a:solidFill>
            </a:endParaRPr>
          </a:p>
          <a:p>
            <a:pPr indent="0" lvl="0" marL="0" rtl="0" algn="l">
              <a:spcBef>
                <a:spcPts val="1200"/>
              </a:spcBef>
              <a:spcAft>
                <a:spcPts val="1200"/>
              </a:spcAft>
              <a:buNone/>
            </a:pPr>
            <a:r>
              <a:t/>
            </a:r>
            <a:endParaRPr sz="1200">
              <a:solidFill>
                <a:schemeClr val="dk1"/>
              </a:solidFill>
            </a:endParaRPr>
          </a:p>
        </p:txBody>
      </p:sp>
      <p:graphicFrame>
        <p:nvGraphicFramePr>
          <p:cNvPr id="133" name="Google Shape;133;p21"/>
          <p:cNvGraphicFramePr/>
          <p:nvPr/>
        </p:nvGraphicFramePr>
        <p:xfrm>
          <a:off x="374825" y="1769850"/>
          <a:ext cx="3000000" cy="3000000"/>
        </p:xfrm>
        <a:graphic>
          <a:graphicData uri="http://schemas.openxmlformats.org/drawingml/2006/table">
            <a:tbl>
              <a:tblPr>
                <a:noFill/>
                <a:tableStyleId>{251DAB21-158C-4815-9D84-33921FB9B9AF}</a:tableStyleId>
              </a:tblPr>
              <a:tblGrid>
                <a:gridCol w="1113475"/>
                <a:gridCol w="4937875"/>
              </a:tblGrid>
              <a:tr h="200025">
                <a:tc>
                  <a:txBody>
                    <a:bodyPr/>
                    <a:lstStyle/>
                    <a:p>
                      <a:pPr indent="0" lvl="0" marL="0" rtl="0" algn="ctr">
                        <a:lnSpc>
                          <a:spcPct val="115000"/>
                        </a:lnSpc>
                        <a:spcBef>
                          <a:spcPts val="0"/>
                        </a:spcBef>
                        <a:spcAft>
                          <a:spcPts val="0"/>
                        </a:spcAft>
                        <a:buNone/>
                      </a:pPr>
                      <a:r>
                        <a:rPr b="1" lang="en" sz="1100"/>
                        <a:t>Model</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1B6E5">
                        <a:alpha val="17650"/>
                      </a:srgbClr>
                    </a:solidFill>
                  </a:tcPr>
                </a:tc>
                <a:tc>
                  <a:txBody>
                    <a:bodyPr/>
                    <a:lstStyle/>
                    <a:p>
                      <a:pPr indent="0" lvl="0" marL="0" rtl="0" algn="ctr">
                        <a:lnSpc>
                          <a:spcPct val="115000"/>
                        </a:lnSpc>
                        <a:spcBef>
                          <a:spcPts val="0"/>
                        </a:spcBef>
                        <a:spcAft>
                          <a:spcPts val="0"/>
                        </a:spcAft>
                        <a:buNone/>
                      </a:pPr>
                      <a:r>
                        <a:rPr b="1" lang="en" sz="1100"/>
                        <a:t>Purpose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41B6E5">
                        <a:alpha val="17650"/>
                      </a:srgbClr>
                    </a:solidFill>
                  </a:tcPr>
                </a:tc>
              </a:tr>
              <a:tr h="200025">
                <a:tc>
                  <a:txBody>
                    <a:bodyPr/>
                    <a:lstStyle/>
                    <a:p>
                      <a:pPr indent="0" lvl="0" marL="0" rtl="0" algn="l">
                        <a:spcBef>
                          <a:spcPts val="0"/>
                        </a:spcBef>
                        <a:spcAft>
                          <a:spcPts val="0"/>
                        </a:spcAft>
                        <a:buNone/>
                      </a:pPr>
                      <a:r>
                        <a:rPr b="1" lang="en" sz="1100"/>
                        <a:t>Baseline</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Simple benchmark using historical patterns (</a:t>
                      </a:r>
                      <a:r>
                        <a:rPr lang="en" sz="1200">
                          <a:solidFill>
                            <a:srgbClr val="1F1F1F"/>
                          </a:solidFill>
                          <a:highlight>
                            <a:srgbClr val="FFFFFF"/>
                          </a:highlight>
                        </a:rPr>
                        <a:t>Forecast tomorrow using last week’s same weekday</a:t>
                      </a:r>
                      <a:r>
                        <a:rPr lang="en" sz="1300"/>
                        <a:t>)</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100"/>
                        <a:t>SARIMA</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Captures trend and seasonal structure</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100"/>
                        <a:t>SARIMAX</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SARIMA with external regressors (weather)</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100"/>
                        <a:t>Prophet</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Flexible model for trend, holiday, and seasonality</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100"/>
                        <a:t>Holt-Winters</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Exponential smoothing with seasonal components</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00025">
                <a:tc>
                  <a:txBody>
                    <a:bodyPr/>
                    <a:lstStyle/>
                    <a:p>
                      <a:pPr indent="0" lvl="0" marL="0" rtl="0" algn="l">
                        <a:spcBef>
                          <a:spcPts val="0"/>
                        </a:spcBef>
                        <a:spcAft>
                          <a:spcPts val="0"/>
                        </a:spcAft>
                        <a:buNone/>
                      </a:pPr>
                      <a:r>
                        <a:rPr b="1" lang="en" sz="1100"/>
                        <a:t>VAR</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300"/>
                        <a:t>Multivariate model capturing interactions between departments and weather</a:t>
                      </a:r>
                      <a:endParaRPr sz="13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4" name="Google Shape;134;p21"/>
          <p:cNvSpPr txBox="1"/>
          <p:nvPr/>
        </p:nvSpPr>
        <p:spPr>
          <a:xfrm>
            <a:off x="6561275" y="1682800"/>
            <a:ext cx="2494500" cy="305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Evaluation Framework</a:t>
            </a:r>
            <a:endParaRPr sz="1100">
              <a:solidFill>
                <a:schemeClr val="dk1"/>
              </a:solidFill>
            </a:endParaRPr>
          </a:p>
          <a:p>
            <a:pPr indent="0" lvl="0" marL="0" rtl="0" algn="l">
              <a:lnSpc>
                <a:spcPct val="115000"/>
              </a:lnSpc>
              <a:spcBef>
                <a:spcPts val="400"/>
              </a:spcBef>
              <a:spcAft>
                <a:spcPts val="0"/>
              </a:spcAft>
              <a:buNone/>
            </a:pPr>
            <a:r>
              <a:rPr b="1" lang="en" sz="1600">
                <a:solidFill>
                  <a:schemeClr val="dk1"/>
                </a:solidFill>
              </a:rPr>
              <a:t>·</a:t>
            </a:r>
            <a:r>
              <a:rPr b="1" lang="en">
                <a:solidFill>
                  <a:schemeClr val="dk1"/>
                </a:solidFill>
              </a:rPr>
              <a:t> </a:t>
            </a:r>
            <a:r>
              <a:rPr lang="en" sz="1100">
                <a:solidFill>
                  <a:schemeClr val="dk1"/>
                </a:solidFill>
              </a:rPr>
              <a:t>The </a:t>
            </a:r>
            <a:r>
              <a:rPr b="1" lang="en" sz="1100">
                <a:solidFill>
                  <a:schemeClr val="dk1"/>
                </a:solidFill>
              </a:rPr>
              <a:t>same train/test split</a:t>
            </a:r>
            <a:r>
              <a:rPr lang="en" sz="1100">
                <a:solidFill>
                  <a:schemeClr val="dk1"/>
                </a:solidFill>
              </a:rPr>
              <a:t> was used for all models (80/20)</a:t>
            </a:r>
            <a:endParaRPr sz="1100">
              <a:solidFill>
                <a:schemeClr val="dk1"/>
              </a:solidFill>
            </a:endParaRPr>
          </a:p>
          <a:p>
            <a:pPr indent="0" lvl="0" marL="0" rtl="0" algn="l">
              <a:lnSpc>
                <a:spcPct val="115000"/>
              </a:lnSpc>
              <a:spcBef>
                <a:spcPts val="0"/>
              </a:spcBef>
              <a:spcAft>
                <a:spcPts val="0"/>
              </a:spcAft>
              <a:buNone/>
            </a:pPr>
            <a:r>
              <a:rPr b="1" lang="en" sz="1600">
                <a:solidFill>
                  <a:schemeClr val="dk1"/>
                </a:solidFill>
              </a:rPr>
              <a:t>·</a:t>
            </a:r>
            <a:r>
              <a:rPr b="1" lang="en" sz="1500">
                <a:solidFill>
                  <a:schemeClr val="dk1"/>
                </a:solidFill>
              </a:rPr>
              <a:t> </a:t>
            </a:r>
            <a:r>
              <a:rPr lang="en" sz="1100">
                <a:solidFill>
                  <a:schemeClr val="dk1"/>
                </a:solidFill>
              </a:rPr>
              <a:t>Performance was evaluated using:</a:t>
            </a:r>
            <a:endParaRPr sz="1100">
              <a:solidFill>
                <a:schemeClr val="dk1"/>
              </a:solidFill>
            </a:endParaRPr>
          </a:p>
          <a:p>
            <a:pPr indent="0" lvl="0" marL="457200" rtl="0" algn="l">
              <a:lnSpc>
                <a:spcPct val="115000"/>
              </a:lnSpc>
              <a:spcBef>
                <a:spcPts val="0"/>
              </a:spcBef>
              <a:spcAft>
                <a:spcPts val="0"/>
              </a:spcAft>
              <a:buNone/>
            </a:pPr>
            <a:r>
              <a:rPr b="1" lang="en" sz="1500">
                <a:solidFill>
                  <a:schemeClr val="dk1"/>
                </a:solidFill>
              </a:rPr>
              <a:t>· </a:t>
            </a:r>
            <a:r>
              <a:rPr b="1" lang="en" sz="1000">
                <a:solidFill>
                  <a:schemeClr val="dk1"/>
                </a:solidFill>
              </a:rPr>
              <a:t>MAE</a:t>
            </a:r>
            <a:endParaRPr b="1" sz="1000">
              <a:solidFill>
                <a:schemeClr val="dk1"/>
              </a:solidFill>
            </a:endParaRPr>
          </a:p>
          <a:p>
            <a:pPr indent="0" lvl="0" marL="457200" rtl="0" algn="l">
              <a:lnSpc>
                <a:spcPct val="115000"/>
              </a:lnSpc>
              <a:spcBef>
                <a:spcPts val="0"/>
              </a:spcBef>
              <a:spcAft>
                <a:spcPts val="0"/>
              </a:spcAft>
              <a:buNone/>
            </a:pPr>
            <a:r>
              <a:rPr b="1" lang="en" sz="1500">
                <a:solidFill>
                  <a:schemeClr val="dk1"/>
                </a:solidFill>
              </a:rPr>
              <a:t>· </a:t>
            </a:r>
            <a:r>
              <a:rPr b="1" lang="en" sz="1000">
                <a:solidFill>
                  <a:schemeClr val="dk1"/>
                </a:solidFill>
              </a:rPr>
              <a:t>RMSE</a:t>
            </a:r>
            <a:endParaRPr b="1" sz="1000">
              <a:solidFill>
                <a:schemeClr val="dk1"/>
              </a:solidFill>
            </a:endParaRPr>
          </a:p>
          <a:p>
            <a:pPr indent="0" lvl="0" marL="457200" rtl="0" algn="l">
              <a:lnSpc>
                <a:spcPct val="115000"/>
              </a:lnSpc>
              <a:spcBef>
                <a:spcPts val="0"/>
              </a:spcBef>
              <a:spcAft>
                <a:spcPts val="0"/>
              </a:spcAft>
              <a:buNone/>
            </a:pPr>
            <a:r>
              <a:rPr b="1" lang="en" sz="1600">
                <a:solidFill>
                  <a:schemeClr val="dk1"/>
                </a:solidFill>
              </a:rPr>
              <a:t>· </a:t>
            </a:r>
            <a:r>
              <a:rPr b="1" lang="en" sz="1000">
                <a:solidFill>
                  <a:schemeClr val="dk1"/>
                </a:solidFill>
              </a:rPr>
              <a:t>AIC</a:t>
            </a:r>
            <a:endParaRPr b="1" sz="1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rPr>
              <a:t>This framework allows us to compare forecasting performance across different modeling approaches.</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pic>
        <p:nvPicPr>
          <p:cNvPr id="135" name="Google Shape;135;p21"/>
          <p:cNvPicPr preferRelativeResize="0"/>
          <p:nvPr/>
        </p:nvPicPr>
        <p:blipFill>
          <a:blip r:embed="rId4">
            <a:alphaModFix/>
          </a:blip>
          <a:stretch>
            <a:fillRect/>
          </a:stretch>
        </p:blipFill>
        <p:spPr>
          <a:xfrm>
            <a:off x="6527500" y="1769850"/>
            <a:ext cx="59750" cy="204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Clr>
                <a:schemeClr val="dk1"/>
              </a:buClr>
              <a:buSzPct val="39285"/>
              <a:buFont typeface="Arial"/>
              <a:buNone/>
            </a:pPr>
            <a:r>
              <a:rPr b="1" lang="en">
                <a:latin typeface="Big Shoulders"/>
                <a:ea typeface="Big Shoulders"/>
                <a:cs typeface="Big Shoulders"/>
                <a:sym typeface="Big Shoulders"/>
              </a:rPr>
              <a:t>Selected Model Results with Justifications</a:t>
            </a:r>
            <a:endParaRPr/>
          </a:p>
        </p:txBody>
      </p:sp>
      <p:sp>
        <p:nvSpPr>
          <p:cNvPr id="141" name="Google Shape;14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42" name="Google Shape;142;p22"/>
          <p:cNvPicPr preferRelativeResize="0"/>
          <p:nvPr/>
        </p:nvPicPr>
        <p:blipFill>
          <a:blip r:embed="rId3">
            <a:alphaModFix/>
          </a:blip>
          <a:stretch>
            <a:fillRect/>
          </a:stretch>
        </p:blipFill>
        <p:spPr>
          <a:xfrm>
            <a:off x="7770895" y="112175"/>
            <a:ext cx="1284764" cy="332850"/>
          </a:xfrm>
          <a:prstGeom prst="rect">
            <a:avLst/>
          </a:prstGeom>
          <a:noFill/>
          <a:ln>
            <a:noFill/>
          </a:ln>
        </p:spPr>
      </p:pic>
      <p:graphicFrame>
        <p:nvGraphicFramePr>
          <p:cNvPr id="143" name="Google Shape;143;p22"/>
          <p:cNvGraphicFramePr/>
          <p:nvPr/>
        </p:nvGraphicFramePr>
        <p:xfrm>
          <a:off x="368875" y="1218850"/>
          <a:ext cx="3000000" cy="3000000"/>
        </p:xfrm>
        <a:graphic>
          <a:graphicData uri="http://schemas.openxmlformats.org/drawingml/2006/table">
            <a:tbl>
              <a:tblPr>
                <a:noFill/>
                <a:tableStyleId>{378E7D44-02BC-493E-B59A-4FCB6C99C91D}</a:tableStyleId>
              </a:tblPr>
              <a:tblGrid>
                <a:gridCol w="1183500"/>
                <a:gridCol w="1183500"/>
                <a:gridCol w="1183500"/>
                <a:gridCol w="1183500"/>
                <a:gridCol w="1183500"/>
              </a:tblGrid>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ctr">
                        <a:lnSpc>
                          <a:spcPct val="115000"/>
                        </a:lnSpc>
                        <a:spcBef>
                          <a:spcPts val="0"/>
                        </a:spcBef>
                        <a:spcAft>
                          <a:spcPts val="0"/>
                        </a:spcAft>
                        <a:buNone/>
                      </a:pPr>
                      <a:r>
                        <a:rPr b="1" lang="en" sz="1200"/>
                        <a:t>Model</a:t>
                      </a:r>
                      <a:endParaRPr sz="1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1B6E5">
                        <a:alpha val="17650"/>
                      </a:srgbClr>
                    </a:solidFill>
                  </a:tcPr>
                </a:tc>
                <a:tc>
                  <a:txBody>
                    <a:bodyPr/>
                    <a:lstStyle/>
                    <a:p>
                      <a:pPr indent="0" lvl="0" marL="0" rtl="0" algn="ctr">
                        <a:lnSpc>
                          <a:spcPct val="115000"/>
                        </a:lnSpc>
                        <a:spcBef>
                          <a:spcPts val="0"/>
                        </a:spcBef>
                        <a:spcAft>
                          <a:spcPts val="0"/>
                        </a:spcAft>
                        <a:buNone/>
                      </a:pPr>
                      <a:r>
                        <a:rPr b="1" lang="en" sz="1200"/>
                        <a:t>MAE</a:t>
                      </a:r>
                      <a:endParaRPr sz="1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1B6E5">
                        <a:alpha val="17650"/>
                      </a:srgbClr>
                    </a:solidFill>
                  </a:tcPr>
                </a:tc>
                <a:tc>
                  <a:txBody>
                    <a:bodyPr/>
                    <a:lstStyle/>
                    <a:p>
                      <a:pPr indent="0" lvl="0" marL="0" rtl="0" algn="ctr">
                        <a:lnSpc>
                          <a:spcPct val="115000"/>
                        </a:lnSpc>
                        <a:spcBef>
                          <a:spcPts val="0"/>
                        </a:spcBef>
                        <a:spcAft>
                          <a:spcPts val="0"/>
                        </a:spcAft>
                        <a:buNone/>
                      </a:pPr>
                      <a:r>
                        <a:rPr b="1" lang="en" sz="1200"/>
                        <a:t>RMSE</a:t>
                      </a:r>
                      <a:endParaRPr sz="1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1B6E5">
                        <a:alpha val="17650"/>
                      </a:srgbClr>
                    </a:solidFill>
                  </a:tcPr>
                </a:tc>
                <a:tc>
                  <a:txBody>
                    <a:bodyPr/>
                    <a:lstStyle/>
                    <a:p>
                      <a:pPr indent="0" lvl="0" marL="0" rtl="0" algn="ctr">
                        <a:lnSpc>
                          <a:spcPct val="115000"/>
                        </a:lnSpc>
                        <a:spcBef>
                          <a:spcPts val="0"/>
                        </a:spcBef>
                        <a:spcAft>
                          <a:spcPts val="0"/>
                        </a:spcAft>
                        <a:buNone/>
                      </a:pPr>
                      <a:r>
                        <a:rPr b="1" lang="en" sz="1200"/>
                        <a:t>AIC</a:t>
                      </a:r>
                      <a:endParaRPr sz="12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rgbClr val="41B6E5">
                        <a:alpha val="17650"/>
                      </a:srgbClr>
                    </a:solidFill>
                  </a:tcPr>
                </a:tc>
              </a:tr>
              <a:tr h="559525">
                <a:tc>
                  <a:txBody>
                    <a:bodyPr/>
                    <a:lstStyle/>
                    <a:p>
                      <a:pPr indent="0" lvl="0" marL="0" rtl="0" algn="l">
                        <a:lnSpc>
                          <a:spcPct val="115000"/>
                        </a:lnSpc>
                        <a:spcBef>
                          <a:spcPts val="0"/>
                        </a:spcBef>
                        <a:spcAft>
                          <a:spcPts val="0"/>
                        </a:spcAft>
                        <a:buClr>
                          <a:schemeClr val="dk1"/>
                        </a:buClr>
                        <a:buSzPts val="1100"/>
                        <a:buFont typeface="Arial"/>
                        <a:buNone/>
                      </a:pPr>
                      <a:r>
                        <a:rPr b="1" lang="en" sz="1100">
                          <a:solidFill>
                            <a:schemeClr val="dk1"/>
                          </a:solidFill>
                        </a:rPr>
                        <a:t>Total 311 Demand</a:t>
                      </a:r>
                      <a:endParaRPr/>
                    </a:p>
                  </a:txBody>
                  <a:tcPr marT="91425" marB="91425" marR="91425" marL="91425">
                    <a:lnR cap="flat" cmpd="sng" w="6350">
                      <a:solidFill>
                        <a:srgbClr val="000000"/>
                      </a:solidFill>
                      <a:prstDash val="solid"/>
                      <a:round/>
                      <a:headEnd len="sm" w="sm" type="none"/>
                      <a:tailEnd len="sm" w="sm" type="none"/>
                    </a:lnR>
                    <a:solidFill>
                      <a:srgbClr val="41B6E5">
                        <a:alpha val="17650"/>
                      </a:srgbClr>
                    </a:solidFill>
                  </a:tcPr>
                </a:tc>
                <a:tc>
                  <a:txBody>
                    <a:bodyPr/>
                    <a:lstStyle/>
                    <a:p>
                      <a:pPr indent="0" lvl="0" marL="0" rtl="0" algn="l">
                        <a:lnSpc>
                          <a:spcPct val="115000"/>
                        </a:lnSpc>
                        <a:spcBef>
                          <a:spcPts val="0"/>
                        </a:spcBef>
                        <a:spcAft>
                          <a:spcPts val="0"/>
                        </a:spcAft>
                        <a:buNone/>
                      </a:pPr>
                      <a:r>
                        <a:rPr lang="en" sz="1100"/>
                        <a:t>Baseline</a:t>
                      </a:r>
                      <a:endParaRPr sz="1100"/>
                    </a:p>
                    <a:p>
                      <a:pPr indent="0" lvl="0" marL="0" rtl="0" algn="l">
                        <a:lnSpc>
                          <a:spcPct val="115000"/>
                        </a:lnSpc>
                        <a:spcBef>
                          <a:spcPts val="0"/>
                        </a:spcBef>
                        <a:spcAft>
                          <a:spcPts val="0"/>
                        </a:spcAft>
                        <a:buNone/>
                      </a:pPr>
                      <a:r>
                        <a:rPr lang="en" sz="1100"/>
                        <a:t>(Daily)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613.21</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911.86</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N/A</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solidFill>
                      <a:schemeClr val="lt1"/>
                    </a:solidFill>
                  </a:tcPr>
                </a:tc>
              </a:tr>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100"/>
                        <a:t>SARIMA (Monthly)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14124.07</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16509.91</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1398.72</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100"/>
                        <a:t>SARIMAX</a:t>
                      </a:r>
                      <a:endParaRPr sz="1100"/>
                    </a:p>
                    <a:p>
                      <a:pPr indent="0" lvl="0" marL="0" rtl="0" algn="l">
                        <a:lnSpc>
                          <a:spcPct val="115000"/>
                        </a:lnSpc>
                        <a:spcBef>
                          <a:spcPts val="0"/>
                        </a:spcBef>
                        <a:spcAft>
                          <a:spcPts val="0"/>
                        </a:spcAft>
                        <a:buNone/>
                      </a:pPr>
                      <a:r>
                        <a:rPr lang="en" sz="1100"/>
                        <a:t>(Monthly)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13800.62</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16797.89</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1418.90</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100"/>
                        <a:t>Prophet</a:t>
                      </a:r>
                      <a:endParaRPr sz="1100"/>
                    </a:p>
                    <a:p>
                      <a:pPr indent="0" lvl="0" marL="0" rtl="0" algn="l">
                        <a:lnSpc>
                          <a:spcPct val="115000"/>
                        </a:lnSpc>
                        <a:spcBef>
                          <a:spcPts val="0"/>
                        </a:spcBef>
                        <a:spcAft>
                          <a:spcPts val="0"/>
                        </a:spcAft>
                        <a:buNone/>
                      </a:pPr>
                      <a:r>
                        <a:rPr lang="en" sz="1100"/>
                        <a:t>(Daily)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518.01</a:t>
                      </a:r>
                      <a:r>
                        <a:rPr lang="en" sz="1200">
                          <a:solidFill>
                            <a:schemeClr val="dk1"/>
                          </a:solidFill>
                          <a:latin typeface="Courier New"/>
                          <a:ea typeface="Courier New"/>
                          <a:cs typeface="Courier New"/>
                          <a:sym typeface="Courier New"/>
                        </a:rPr>
                        <a:t> </a:t>
                      </a:r>
                      <a:endParaRPr sz="1600">
                        <a:solidFill>
                          <a:schemeClr val="dk1"/>
                        </a:solidFill>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680.43</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N/A</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100"/>
                        <a:t>Holt-Winters</a:t>
                      </a:r>
                      <a:endParaRPr sz="1100"/>
                    </a:p>
                    <a:p>
                      <a:pPr indent="0" lvl="0" marL="0" rtl="0" algn="l">
                        <a:lnSpc>
                          <a:spcPct val="115000"/>
                        </a:lnSpc>
                        <a:spcBef>
                          <a:spcPts val="0"/>
                        </a:spcBef>
                        <a:spcAft>
                          <a:spcPts val="0"/>
                        </a:spcAft>
                        <a:buNone/>
                      </a:pPr>
                      <a:r>
                        <a:rPr lang="en" sz="1100"/>
                        <a:t>(Daily)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896.64</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1145.67</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latin typeface="Roboto Light"/>
                          <a:ea typeface="Roboto Light"/>
                          <a:cs typeface="Roboto Light"/>
                          <a:sym typeface="Roboto Light"/>
                        </a:rPr>
                        <a:t>N/A</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447725">
                <a:tc>
                  <a:txBody>
                    <a:bodyPr/>
                    <a:lstStyle/>
                    <a:p>
                      <a:pPr indent="0" lvl="0" marL="0" rtl="0" algn="l">
                        <a:spcBef>
                          <a:spcPts val="0"/>
                        </a:spcBef>
                        <a:spcAft>
                          <a:spcPts val="0"/>
                        </a:spcAft>
                        <a:buNone/>
                      </a:pPr>
                      <a:r>
                        <a:t/>
                      </a:r>
                      <a:endParaRPr/>
                    </a:p>
                  </a:txBody>
                  <a:tcPr marT="91425" marB="91425" marR="91425" marL="91425">
                    <a:lnR cap="flat" cmpd="sng" w="6350">
                      <a:solidFill>
                        <a:srgbClr val="000000"/>
                      </a:solidFill>
                      <a:prstDash val="solid"/>
                      <a:round/>
                      <a:headEnd len="sm" w="sm" type="none"/>
                      <a:tailEnd len="sm" w="sm" type="none"/>
                    </a:lnR>
                  </a:tcPr>
                </a:tc>
                <a:tc>
                  <a:txBody>
                    <a:bodyPr/>
                    <a:lstStyle/>
                    <a:p>
                      <a:pPr indent="0" lvl="0" marL="0" rtl="0" algn="l">
                        <a:lnSpc>
                          <a:spcPct val="115000"/>
                        </a:lnSpc>
                        <a:spcBef>
                          <a:spcPts val="0"/>
                        </a:spcBef>
                        <a:spcAft>
                          <a:spcPts val="0"/>
                        </a:spcAft>
                        <a:buNone/>
                      </a:pPr>
                      <a:r>
                        <a:rPr lang="en" sz="1100"/>
                        <a:t>VAR</a:t>
                      </a:r>
                      <a:endParaRPr sz="1100"/>
                    </a:p>
                    <a:p>
                      <a:pPr indent="0" lvl="0" marL="0" rtl="0" algn="l">
                        <a:lnSpc>
                          <a:spcPct val="115000"/>
                        </a:lnSpc>
                        <a:spcBef>
                          <a:spcPts val="0"/>
                        </a:spcBef>
                        <a:spcAft>
                          <a:spcPts val="0"/>
                        </a:spcAft>
                        <a:buNone/>
                      </a:pPr>
                      <a:r>
                        <a:rPr lang="en" sz="1100"/>
                        <a:t>(Monthly)</a:t>
                      </a:r>
                      <a:endParaRPr sz="1100"/>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14494.74</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highlight>
                            <a:srgbClr val="FFFFFF"/>
                          </a:highlight>
                          <a:latin typeface="Roboto Light"/>
                          <a:ea typeface="Roboto Light"/>
                          <a:cs typeface="Roboto Light"/>
                          <a:sym typeface="Roboto Light"/>
                        </a:rPr>
                        <a:t>18145.15</a:t>
                      </a:r>
                      <a:endParaRPr sz="1100">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100">
                          <a:solidFill>
                            <a:srgbClr val="1F1F1F"/>
                          </a:solidFill>
                          <a:latin typeface="Roboto Light"/>
                          <a:ea typeface="Roboto Light"/>
                          <a:cs typeface="Roboto Light"/>
                          <a:sym typeface="Roboto Light"/>
                        </a:rPr>
                        <a:t>21.64</a:t>
                      </a:r>
                      <a:endParaRPr sz="1100">
                        <a:solidFill>
                          <a:srgbClr val="1F1F1F"/>
                        </a:solidFill>
                        <a:highlight>
                          <a:srgbClr val="FFFFFF"/>
                        </a:highlight>
                        <a:latin typeface="Roboto Light"/>
                        <a:ea typeface="Roboto Light"/>
                        <a:cs typeface="Roboto Light"/>
                        <a:sym typeface="Roboto Light"/>
                      </a:endParaRPr>
                    </a:p>
                  </a:txBody>
                  <a:tcPr marT="63500" marB="63500" marR="63500" marL="63500">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bl>
          </a:graphicData>
        </a:graphic>
      </p:graphicFrame>
      <p:pic>
        <p:nvPicPr>
          <p:cNvPr id="144" name="Google Shape;144;p22"/>
          <p:cNvPicPr preferRelativeResize="0"/>
          <p:nvPr/>
        </p:nvPicPr>
        <p:blipFill rotWithShape="1">
          <a:blip r:embed="rId4">
            <a:alphaModFix/>
          </a:blip>
          <a:srcRect b="0" l="51336" r="0" t="0"/>
          <a:stretch/>
        </p:blipFill>
        <p:spPr>
          <a:xfrm>
            <a:off x="962201" y="3248651"/>
            <a:ext cx="349322" cy="393600"/>
          </a:xfrm>
          <a:prstGeom prst="rect">
            <a:avLst/>
          </a:prstGeom>
          <a:noFill/>
          <a:ln>
            <a:noFill/>
          </a:ln>
        </p:spPr>
      </p:pic>
      <p:sp>
        <p:nvSpPr>
          <p:cNvPr id="145" name="Google Shape;145;p22"/>
          <p:cNvSpPr txBox="1"/>
          <p:nvPr/>
        </p:nvSpPr>
        <p:spPr>
          <a:xfrm>
            <a:off x="6337425" y="1457300"/>
            <a:ext cx="2806500" cy="257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434343"/>
                </a:solidFill>
              </a:rPr>
              <a:t>Prophet demonstrates highest accuracy in forecasting due to several advantages:</a:t>
            </a:r>
            <a:endParaRPr b="1" sz="1100">
              <a:solidFill>
                <a:srgbClr val="434343"/>
              </a:solidFill>
            </a:endParaRPr>
          </a:p>
          <a:p>
            <a:pPr indent="0" lvl="0" marL="0" rtl="0" algn="l">
              <a:lnSpc>
                <a:spcPct val="115000"/>
              </a:lnSpc>
              <a:spcBef>
                <a:spcPts val="0"/>
              </a:spcBef>
              <a:spcAft>
                <a:spcPts val="0"/>
              </a:spcAft>
              <a:buNone/>
            </a:pPr>
            <a:r>
              <a:t/>
            </a:r>
            <a:endParaRPr sz="1000">
              <a:solidFill>
                <a:srgbClr val="434343"/>
              </a:solidFill>
            </a:endParaRPr>
          </a:p>
          <a:p>
            <a:pPr indent="0" lvl="0" marL="0" rtl="0" algn="l">
              <a:spcBef>
                <a:spcPts val="0"/>
              </a:spcBef>
              <a:spcAft>
                <a:spcPts val="0"/>
              </a:spcAft>
              <a:buNone/>
            </a:pPr>
            <a:r>
              <a:rPr lang="en" sz="1100">
                <a:solidFill>
                  <a:schemeClr val="dk1"/>
                </a:solidFill>
              </a:rPr>
              <a:t>Handling Weekday vs. Weekend variance in Chicago 311 data</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Using monthly data made SARIMAX / VAR struggle to differentiate between noise and signals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Prophet incorporated seasonality, specific holiday effects into the model.</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Hypertuning the </a:t>
            </a:r>
            <a:r>
              <a:rPr i="1" lang="en" sz="900">
                <a:solidFill>
                  <a:schemeClr val="dk1"/>
                </a:solidFill>
                <a:latin typeface="Roboto Light"/>
                <a:ea typeface="Roboto Light"/>
                <a:cs typeface="Roboto Light"/>
                <a:sym typeface="Roboto Light"/>
              </a:rPr>
              <a:t>changepoint_prior_scale,</a:t>
            </a:r>
            <a:endParaRPr i="1" sz="900">
              <a:solidFill>
                <a:schemeClr val="dk1"/>
              </a:solidFill>
              <a:latin typeface="Roboto Light"/>
              <a:ea typeface="Roboto Light"/>
              <a:cs typeface="Roboto Light"/>
              <a:sym typeface="Roboto Light"/>
            </a:endParaRPr>
          </a:p>
          <a:p>
            <a:pPr indent="0" lvl="0" marL="0" rtl="0" algn="l">
              <a:lnSpc>
                <a:spcPct val="150000"/>
              </a:lnSpc>
              <a:spcBef>
                <a:spcPts val="0"/>
              </a:spcBef>
              <a:spcAft>
                <a:spcPts val="0"/>
              </a:spcAft>
              <a:buNone/>
            </a:pPr>
            <a:r>
              <a:rPr i="1" lang="en" sz="900">
                <a:solidFill>
                  <a:schemeClr val="dk1"/>
                </a:solidFill>
                <a:latin typeface="Roboto Light"/>
                <a:ea typeface="Roboto Light"/>
                <a:cs typeface="Roboto Light"/>
                <a:sym typeface="Roboto Light"/>
              </a:rPr>
              <a:t>Fourier_order </a:t>
            </a:r>
            <a:r>
              <a:rPr lang="en" sz="1100">
                <a:solidFill>
                  <a:schemeClr val="dk1"/>
                </a:solidFill>
              </a:rPr>
              <a:t>improved the MAE / RMSE</a:t>
            </a:r>
            <a:endParaRPr sz="1100">
              <a:solidFill>
                <a:schemeClr val="dk1"/>
              </a:solidFill>
            </a:endParaRPr>
          </a:p>
          <a:p>
            <a:pPr indent="0" lvl="0" marL="0" rtl="0" algn="l">
              <a:lnSpc>
                <a:spcPct val="115000"/>
              </a:lnSpc>
              <a:spcBef>
                <a:spcPts val="0"/>
              </a:spcBef>
              <a:spcAft>
                <a:spcPts val="0"/>
              </a:spcAft>
              <a:buNone/>
            </a:pPr>
            <a:r>
              <a:t/>
            </a:r>
            <a:endParaRPr sz="1000">
              <a:solidFill>
                <a:srgbClr val="434343"/>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Big Shoulders"/>
                <a:ea typeface="Big Shoulders"/>
                <a:cs typeface="Big Shoulders"/>
                <a:sym typeface="Big Shoulders"/>
              </a:rPr>
              <a:t>6-month Forecasts</a:t>
            </a:r>
            <a:endParaRPr/>
          </a:p>
        </p:txBody>
      </p:sp>
      <p:sp>
        <p:nvSpPr>
          <p:cNvPr id="151" name="Google Shape;15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2" name="Google Shape;15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53" name="Google Shape;153;p23"/>
          <p:cNvPicPr preferRelativeResize="0"/>
          <p:nvPr/>
        </p:nvPicPr>
        <p:blipFill>
          <a:blip r:embed="rId3">
            <a:alphaModFix/>
          </a:blip>
          <a:stretch>
            <a:fillRect/>
          </a:stretch>
        </p:blipFill>
        <p:spPr>
          <a:xfrm>
            <a:off x="7770895" y="112175"/>
            <a:ext cx="1284764" cy="332850"/>
          </a:xfrm>
          <a:prstGeom prst="rect">
            <a:avLst/>
          </a:prstGeom>
          <a:noFill/>
          <a:ln>
            <a:noFill/>
          </a:ln>
        </p:spPr>
      </p:pic>
      <p:pic>
        <p:nvPicPr>
          <p:cNvPr id="154" name="Google Shape;154;p23"/>
          <p:cNvPicPr preferRelativeResize="0"/>
          <p:nvPr/>
        </p:nvPicPr>
        <p:blipFill>
          <a:blip r:embed="rId4">
            <a:alphaModFix/>
          </a:blip>
          <a:stretch>
            <a:fillRect/>
          </a:stretch>
        </p:blipFill>
        <p:spPr>
          <a:xfrm>
            <a:off x="159988" y="1152480"/>
            <a:ext cx="8824025" cy="311289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500"/>
              </a:spcAft>
              <a:buNone/>
            </a:pPr>
            <a:r>
              <a:rPr b="1" lang="en">
                <a:latin typeface="Big Shoulders"/>
                <a:ea typeface="Big Shoulders"/>
                <a:cs typeface="Big Shoulders"/>
                <a:sym typeface="Big Shoulders"/>
              </a:rPr>
              <a:t>Model Tradeoffs</a:t>
            </a:r>
            <a:endParaRPr b="1">
              <a:latin typeface="Big Shoulders"/>
              <a:ea typeface="Big Shoulders"/>
              <a:cs typeface="Big Shoulders"/>
              <a:sym typeface="Big Shoulders"/>
            </a:endParaRPr>
          </a:p>
        </p:txBody>
      </p:sp>
      <p:sp>
        <p:nvSpPr>
          <p:cNvPr id="160" name="Google Shape;160;p24"/>
          <p:cNvSpPr txBox="1"/>
          <p:nvPr>
            <p:ph idx="1" type="body"/>
          </p:nvPr>
        </p:nvSpPr>
        <p:spPr>
          <a:xfrm>
            <a:off x="660400" y="3615925"/>
            <a:ext cx="8003100" cy="1284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en" sz="1287">
                <a:solidFill>
                  <a:schemeClr val="dk1"/>
                </a:solidFill>
              </a:rPr>
              <a:t>Simplicity vs. Complexity</a:t>
            </a:r>
            <a:r>
              <a:rPr lang="en" sz="1287">
                <a:solidFill>
                  <a:schemeClr val="dk1"/>
                </a:solidFill>
              </a:rPr>
              <a:t>: Simple seasonal models (like Holt-Winters) generally outperformed more complex ones at the department level.</a:t>
            </a:r>
            <a:endParaRPr sz="1287">
              <a:solidFill>
                <a:schemeClr val="dk1"/>
              </a:solidFill>
            </a:endParaRPr>
          </a:p>
          <a:p>
            <a:pPr indent="0" lvl="0" marL="0" rtl="0" algn="l">
              <a:lnSpc>
                <a:spcPct val="95000"/>
              </a:lnSpc>
              <a:spcBef>
                <a:spcPts val="1200"/>
              </a:spcBef>
              <a:spcAft>
                <a:spcPts val="0"/>
              </a:spcAft>
              <a:buSzPts val="688"/>
              <a:buNone/>
            </a:pPr>
            <a:r>
              <a:rPr b="1" lang="en" sz="1287">
                <a:solidFill>
                  <a:schemeClr val="dk1"/>
                </a:solidFill>
              </a:rPr>
              <a:t>Exogenous Variables (Weather)</a:t>
            </a:r>
            <a:r>
              <a:rPr lang="en" sz="1287">
                <a:solidFill>
                  <a:schemeClr val="dk1"/>
                </a:solidFill>
              </a:rPr>
              <a:t>: Incorporating weather (SARIMAX/VAR) added instability and did not provide consistent accuracy gains for total 311 forecast, though it may improve performance for specific department-level requests.</a:t>
            </a:r>
            <a:endParaRPr sz="1287">
              <a:solidFill>
                <a:schemeClr val="dk1"/>
              </a:solidFill>
            </a:endParaRPr>
          </a:p>
          <a:p>
            <a:pPr indent="0" lvl="0" marL="0" rtl="0" algn="l">
              <a:lnSpc>
                <a:spcPct val="95000"/>
              </a:lnSpc>
              <a:spcBef>
                <a:spcPts val="1200"/>
              </a:spcBef>
              <a:spcAft>
                <a:spcPts val="0"/>
              </a:spcAft>
              <a:buSzPts val="688"/>
              <a:buNone/>
            </a:pPr>
            <a:r>
              <a:t/>
            </a:r>
            <a:endParaRPr sz="1287">
              <a:solidFill>
                <a:schemeClr val="dk1"/>
              </a:solidFill>
            </a:endParaRPr>
          </a:p>
          <a:p>
            <a:pPr indent="0" lvl="0" marL="0" rtl="0" algn="l">
              <a:lnSpc>
                <a:spcPct val="95000"/>
              </a:lnSpc>
              <a:spcBef>
                <a:spcPts val="1200"/>
              </a:spcBef>
              <a:spcAft>
                <a:spcPts val="1200"/>
              </a:spcAft>
              <a:buSzPts val="688"/>
              <a:buNone/>
            </a:pPr>
            <a:r>
              <a:t/>
            </a:r>
            <a:endParaRPr sz="687">
              <a:solidFill>
                <a:schemeClr val="dk1"/>
              </a:solidFill>
            </a:endParaRPr>
          </a:p>
        </p:txBody>
      </p:sp>
      <p:sp>
        <p:nvSpPr>
          <p:cNvPr id="161" name="Google Shape;16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62" name="Google Shape;162;p24"/>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63" name="Google Shape;163;p24"/>
          <p:cNvSpPr txBox="1"/>
          <p:nvPr/>
        </p:nvSpPr>
        <p:spPr>
          <a:xfrm>
            <a:off x="520700" y="1130300"/>
            <a:ext cx="1473300" cy="113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64" name="Google Shape;164;p24"/>
          <p:cNvSpPr/>
          <p:nvPr/>
        </p:nvSpPr>
        <p:spPr>
          <a:xfrm>
            <a:off x="762000" y="1130300"/>
            <a:ext cx="1284900" cy="698400"/>
          </a:xfrm>
          <a:prstGeom prst="roundRect">
            <a:avLst>
              <a:gd fmla="val 16667" name="adj"/>
            </a:avLst>
          </a:prstGeom>
          <a:solidFill>
            <a:srgbClr val="C9DB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Holt-Winters</a:t>
            </a:r>
            <a:endParaRPr/>
          </a:p>
        </p:txBody>
      </p:sp>
      <p:sp>
        <p:nvSpPr>
          <p:cNvPr id="165" name="Google Shape;165;p24"/>
          <p:cNvSpPr/>
          <p:nvPr/>
        </p:nvSpPr>
        <p:spPr>
          <a:xfrm>
            <a:off x="2425700" y="1130300"/>
            <a:ext cx="1284900" cy="698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SARIMA/ SARIMAX</a:t>
            </a:r>
            <a:endParaRPr/>
          </a:p>
        </p:txBody>
      </p:sp>
      <p:sp>
        <p:nvSpPr>
          <p:cNvPr id="166" name="Google Shape;166;p24"/>
          <p:cNvSpPr/>
          <p:nvPr/>
        </p:nvSpPr>
        <p:spPr>
          <a:xfrm>
            <a:off x="4142300" y="1130300"/>
            <a:ext cx="1284900" cy="698400"/>
          </a:xfrm>
          <a:prstGeom prst="roundRect">
            <a:avLst>
              <a:gd fmla="val 16667" name="adj"/>
            </a:avLst>
          </a:prstGeom>
          <a:solidFill>
            <a:srgbClr val="C9DB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VAR</a:t>
            </a:r>
            <a:endParaRPr/>
          </a:p>
        </p:txBody>
      </p:sp>
      <p:sp>
        <p:nvSpPr>
          <p:cNvPr id="167" name="Google Shape;167;p24"/>
          <p:cNvSpPr/>
          <p:nvPr/>
        </p:nvSpPr>
        <p:spPr>
          <a:xfrm>
            <a:off x="5715000" y="1130300"/>
            <a:ext cx="1284900" cy="6984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Prophet</a:t>
            </a:r>
            <a:endParaRPr/>
          </a:p>
        </p:txBody>
      </p:sp>
      <p:sp>
        <p:nvSpPr>
          <p:cNvPr id="168" name="Google Shape;168;p24"/>
          <p:cNvSpPr/>
          <p:nvPr/>
        </p:nvSpPr>
        <p:spPr>
          <a:xfrm>
            <a:off x="7378700" y="1130300"/>
            <a:ext cx="1284900" cy="698400"/>
          </a:xfrm>
          <a:prstGeom prst="roundRect">
            <a:avLst>
              <a:gd fmla="val 16667" name="adj"/>
            </a:avLst>
          </a:prstGeom>
          <a:solidFill>
            <a:srgbClr val="C9DB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Baseline</a:t>
            </a:r>
            <a:endParaRPr/>
          </a:p>
        </p:txBody>
      </p:sp>
      <p:sp>
        <p:nvSpPr>
          <p:cNvPr id="169" name="Google Shape;169;p24"/>
          <p:cNvSpPr txBox="1"/>
          <p:nvPr/>
        </p:nvSpPr>
        <p:spPr>
          <a:xfrm>
            <a:off x="520700" y="2082225"/>
            <a:ext cx="1762200" cy="11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Stable patterns</a:t>
            </a:r>
            <a:endParaRPr b="1" sz="1200">
              <a:solidFill>
                <a:schemeClr val="dk2"/>
              </a:solidFill>
              <a:latin typeface="Roboto"/>
              <a:ea typeface="Roboto"/>
              <a:cs typeface="Roboto"/>
              <a:sym typeface="Roboto"/>
            </a:endParaRPr>
          </a:p>
          <a:p>
            <a:pPr indent="0" lvl="0" marL="0" rtl="0" algn="ctr">
              <a:spcBef>
                <a:spcPts val="0"/>
              </a:spcBef>
              <a:spcAft>
                <a:spcPts val="0"/>
              </a:spcAft>
              <a:buNone/>
            </a:pPr>
            <a:r>
              <a:t/>
            </a:r>
            <a:endParaRPr b="1" sz="800">
              <a:solidFill>
                <a:schemeClr val="dk2"/>
              </a:solidFill>
              <a:latin typeface="Roboto"/>
              <a:ea typeface="Roboto"/>
              <a:cs typeface="Roboto"/>
              <a:sym typeface="Roboto"/>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Best at 311 Department-level forecasting with more stable, recurring patterns</a:t>
            </a:r>
            <a:endParaRPr sz="1100">
              <a:solidFill>
                <a:schemeClr val="dk2"/>
              </a:solidFill>
              <a:latin typeface="Roboto Medium"/>
              <a:ea typeface="Roboto Medium"/>
              <a:cs typeface="Roboto Medium"/>
              <a:sym typeface="Roboto Medium"/>
            </a:endParaRPr>
          </a:p>
        </p:txBody>
      </p:sp>
      <p:sp>
        <p:nvSpPr>
          <p:cNvPr id="170" name="Google Shape;170;p24"/>
          <p:cNvSpPr txBox="1"/>
          <p:nvPr/>
        </p:nvSpPr>
        <p:spPr>
          <a:xfrm>
            <a:off x="2283050" y="2082225"/>
            <a:ext cx="1570200" cy="11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Complexity </a:t>
            </a:r>
            <a:endParaRPr b="1" sz="1200">
              <a:solidFill>
                <a:schemeClr val="dk2"/>
              </a:solidFill>
              <a:latin typeface="Roboto"/>
              <a:ea typeface="Roboto"/>
              <a:cs typeface="Roboto"/>
              <a:sym typeface="Roboto"/>
            </a:endParaRPr>
          </a:p>
          <a:p>
            <a:pPr indent="0" lvl="0" marL="0" rtl="0" algn="ctr">
              <a:spcBef>
                <a:spcPts val="0"/>
              </a:spcBef>
              <a:spcAft>
                <a:spcPts val="0"/>
              </a:spcAft>
              <a:buNone/>
            </a:pPr>
            <a:r>
              <a:t/>
            </a:r>
            <a:endParaRPr b="1" sz="800">
              <a:solidFill>
                <a:schemeClr val="dk2"/>
              </a:solidFill>
              <a:latin typeface="Roboto"/>
              <a:ea typeface="Roboto"/>
              <a:cs typeface="Roboto"/>
              <a:sym typeface="Roboto"/>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Situations where simple seasonal models are insufficient</a:t>
            </a:r>
            <a:endParaRPr sz="1100">
              <a:solidFill>
                <a:schemeClr val="dk2"/>
              </a:solidFill>
              <a:latin typeface="Roboto Medium"/>
              <a:ea typeface="Roboto Medium"/>
              <a:cs typeface="Roboto Medium"/>
              <a:sym typeface="Roboto Medium"/>
            </a:endParaRPr>
          </a:p>
        </p:txBody>
      </p:sp>
      <p:sp>
        <p:nvSpPr>
          <p:cNvPr id="171" name="Google Shape;171;p24"/>
          <p:cNvSpPr txBox="1"/>
          <p:nvPr/>
        </p:nvSpPr>
        <p:spPr>
          <a:xfrm>
            <a:off x="4045875" y="2082213"/>
            <a:ext cx="1570200" cy="11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Weather Related Strength</a:t>
            </a:r>
            <a:endParaRPr b="1" sz="1200">
              <a:solidFill>
                <a:schemeClr val="dk2"/>
              </a:solidFill>
              <a:latin typeface="Roboto"/>
              <a:ea typeface="Roboto"/>
              <a:cs typeface="Roboto"/>
              <a:sym typeface="Roboto"/>
            </a:endParaRPr>
          </a:p>
          <a:p>
            <a:pPr indent="0" lvl="0" marL="0" rtl="0" algn="ctr">
              <a:spcBef>
                <a:spcPts val="0"/>
              </a:spcBef>
              <a:spcAft>
                <a:spcPts val="0"/>
              </a:spcAft>
              <a:buNone/>
            </a:pPr>
            <a:r>
              <a:t/>
            </a:r>
            <a:endParaRPr b="1" sz="800">
              <a:solidFill>
                <a:schemeClr val="dk2"/>
              </a:solidFill>
              <a:latin typeface="Roboto"/>
              <a:ea typeface="Roboto"/>
              <a:cs typeface="Roboto"/>
              <a:sym typeface="Roboto"/>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Strength in weather related forecasts in department, such as, streets and sanitation</a:t>
            </a:r>
            <a:endParaRPr sz="1100">
              <a:solidFill>
                <a:schemeClr val="dk2"/>
              </a:solidFill>
              <a:latin typeface="Roboto Medium"/>
              <a:ea typeface="Roboto Medium"/>
              <a:cs typeface="Roboto Medium"/>
              <a:sym typeface="Roboto Medium"/>
            </a:endParaRPr>
          </a:p>
        </p:txBody>
      </p:sp>
      <p:sp>
        <p:nvSpPr>
          <p:cNvPr id="172" name="Google Shape;172;p24"/>
          <p:cNvSpPr txBox="1"/>
          <p:nvPr/>
        </p:nvSpPr>
        <p:spPr>
          <a:xfrm>
            <a:off x="5572350" y="2082225"/>
            <a:ext cx="1570200" cy="11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Capture overall seasonality</a:t>
            </a:r>
            <a:endParaRPr b="1" sz="1200">
              <a:solidFill>
                <a:schemeClr val="dk2"/>
              </a:solidFill>
              <a:latin typeface="Roboto"/>
              <a:ea typeface="Roboto"/>
              <a:cs typeface="Roboto"/>
              <a:sym typeface="Roboto"/>
            </a:endParaRPr>
          </a:p>
          <a:p>
            <a:pPr indent="0" lvl="0" marL="0" rtl="0" algn="ctr">
              <a:spcBef>
                <a:spcPts val="0"/>
              </a:spcBef>
              <a:spcAft>
                <a:spcPts val="0"/>
              </a:spcAft>
              <a:buNone/>
            </a:pPr>
            <a:r>
              <a:t/>
            </a:r>
            <a:endParaRPr b="1" sz="800">
              <a:solidFill>
                <a:schemeClr val="dk2"/>
              </a:solidFill>
              <a:latin typeface="Roboto"/>
              <a:ea typeface="Roboto"/>
              <a:cs typeface="Roboto"/>
              <a:sym typeface="Roboto"/>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 slightly under-forecast weekend activity</a:t>
            </a:r>
            <a:endParaRPr sz="1100">
              <a:solidFill>
                <a:schemeClr val="dk2"/>
              </a:solidFill>
              <a:latin typeface="Roboto Medium"/>
              <a:ea typeface="Roboto Medium"/>
              <a:cs typeface="Roboto Medium"/>
              <a:sym typeface="Roboto Medium"/>
            </a:endParaRPr>
          </a:p>
        </p:txBody>
      </p:sp>
      <p:sp>
        <p:nvSpPr>
          <p:cNvPr id="173" name="Google Shape;173;p24"/>
          <p:cNvSpPr txBox="1"/>
          <p:nvPr/>
        </p:nvSpPr>
        <p:spPr>
          <a:xfrm>
            <a:off x="7186325" y="2082213"/>
            <a:ext cx="1570200" cy="113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chemeClr val="dk2"/>
                </a:solidFill>
                <a:latin typeface="Roboto"/>
                <a:ea typeface="Roboto"/>
                <a:cs typeface="Roboto"/>
                <a:sym typeface="Roboto"/>
              </a:rPr>
              <a:t>Strong </a:t>
            </a:r>
            <a:r>
              <a:rPr b="1" lang="en" sz="1200">
                <a:solidFill>
                  <a:schemeClr val="dk2"/>
                </a:solidFill>
                <a:latin typeface="Roboto"/>
                <a:ea typeface="Roboto"/>
                <a:cs typeface="Roboto"/>
                <a:sym typeface="Roboto"/>
              </a:rPr>
              <a:t>Consistency</a:t>
            </a:r>
            <a:endParaRPr b="1" sz="1200">
              <a:solidFill>
                <a:schemeClr val="dk2"/>
              </a:solidFill>
              <a:latin typeface="Roboto"/>
              <a:ea typeface="Roboto"/>
              <a:cs typeface="Roboto"/>
              <a:sym typeface="Roboto"/>
            </a:endParaRPr>
          </a:p>
          <a:p>
            <a:pPr indent="0" lvl="0" marL="0" rtl="0" algn="ctr">
              <a:spcBef>
                <a:spcPts val="0"/>
              </a:spcBef>
              <a:spcAft>
                <a:spcPts val="0"/>
              </a:spcAft>
              <a:buNone/>
            </a:pPr>
            <a:r>
              <a:t/>
            </a:r>
            <a:endParaRPr b="1" sz="800">
              <a:solidFill>
                <a:schemeClr val="dk2"/>
              </a:solidFill>
              <a:latin typeface="Roboto"/>
              <a:ea typeface="Roboto"/>
              <a:cs typeface="Roboto"/>
              <a:sym typeface="Roboto"/>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 Lacks sophistication in the model to capture seasonality,</a:t>
            </a:r>
            <a:endParaRPr sz="1100">
              <a:solidFill>
                <a:schemeClr val="dk2"/>
              </a:solidFill>
              <a:latin typeface="Roboto Medium"/>
              <a:ea typeface="Roboto Medium"/>
              <a:cs typeface="Roboto Medium"/>
              <a:sym typeface="Roboto Medium"/>
            </a:endParaRPr>
          </a:p>
          <a:p>
            <a:pPr indent="0" lvl="0" marL="0" rtl="0" algn="ctr">
              <a:spcBef>
                <a:spcPts val="0"/>
              </a:spcBef>
              <a:spcAft>
                <a:spcPts val="0"/>
              </a:spcAft>
              <a:buNone/>
            </a:pPr>
            <a:r>
              <a:rPr lang="en" sz="1100">
                <a:solidFill>
                  <a:schemeClr val="dk2"/>
                </a:solidFill>
                <a:latin typeface="Roboto Medium"/>
                <a:ea typeface="Roboto Medium"/>
                <a:cs typeface="Roboto Medium"/>
                <a:sym typeface="Roboto Medium"/>
              </a:rPr>
              <a:t>limited predictions for long term trends </a:t>
            </a:r>
            <a:endParaRPr sz="1100">
              <a:solidFill>
                <a:schemeClr val="dk2"/>
              </a:solidFill>
              <a:latin typeface="Roboto Medium"/>
              <a:ea typeface="Roboto Medium"/>
              <a:cs typeface="Roboto Medium"/>
              <a:sym typeface="Roboto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104761"/>
              <a:buFont typeface="Arial"/>
              <a:buNone/>
            </a:pPr>
            <a:r>
              <a:rPr b="1" lang="en">
                <a:latin typeface="Big Shoulders"/>
                <a:ea typeface="Big Shoulders"/>
                <a:cs typeface="Big Shoulders"/>
                <a:sym typeface="Big Shoulders"/>
              </a:rPr>
              <a:t>Key Insights &amp; Next Steps</a:t>
            </a:r>
            <a:endParaRPr b="1" sz="1050">
              <a:solidFill>
                <a:srgbClr val="273540"/>
              </a:solidFill>
            </a:endParaRPr>
          </a:p>
          <a:p>
            <a:pPr indent="0" lvl="0" marL="0" rtl="0" algn="l">
              <a:spcBef>
                <a:spcPts val="500"/>
              </a:spcBef>
              <a:spcAft>
                <a:spcPts val="0"/>
              </a:spcAft>
              <a:buNone/>
            </a:pPr>
            <a:r>
              <a:t/>
            </a:r>
            <a:endParaRPr/>
          </a:p>
        </p:txBody>
      </p:sp>
      <p:sp>
        <p:nvSpPr>
          <p:cNvPr id="179" name="Google Shape;17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0" name="Google Shape;180;p25"/>
          <p:cNvPicPr preferRelativeResize="0"/>
          <p:nvPr/>
        </p:nvPicPr>
        <p:blipFill>
          <a:blip r:embed="rId3">
            <a:alphaModFix/>
          </a:blip>
          <a:stretch>
            <a:fillRect/>
          </a:stretch>
        </p:blipFill>
        <p:spPr>
          <a:xfrm>
            <a:off x="7770895" y="112175"/>
            <a:ext cx="1284764" cy="332850"/>
          </a:xfrm>
          <a:prstGeom prst="rect">
            <a:avLst/>
          </a:prstGeom>
          <a:noFill/>
          <a:ln>
            <a:noFill/>
          </a:ln>
        </p:spPr>
      </p:pic>
      <p:sp>
        <p:nvSpPr>
          <p:cNvPr id="181" name="Google Shape;181;p25"/>
          <p:cNvSpPr txBox="1"/>
          <p:nvPr>
            <p:ph idx="1" type="body"/>
          </p:nvPr>
        </p:nvSpPr>
        <p:spPr>
          <a:xfrm>
            <a:off x="311700" y="1017725"/>
            <a:ext cx="8160900" cy="3699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605"/>
              <a:buNone/>
            </a:pPr>
            <a:r>
              <a:rPr b="1" lang="en" sz="1500">
                <a:solidFill>
                  <a:schemeClr val="dk1"/>
                </a:solidFill>
                <a:latin typeface="Roboto"/>
                <a:ea typeface="Roboto"/>
                <a:cs typeface="Roboto"/>
                <a:sym typeface="Roboto"/>
              </a:rPr>
              <a:t>Key Insights:</a:t>
            </a:r>
            <a:endParaRPr b="1" sz="1500">
              <a:solidFill>
                <a:schemeClr val="dk1"/>
              </a:solidFill>
              <a:latin typeface="Roboto"/>
              <a:ea typeface="Roboto"/>
              <a:cs typeface="Roboto"/>
              <a:sym typeface="Roboto"/>
            </a:endParaRPr>
          </a:p>
          <a:p>
            <a:pPr indent="-311150" lvl="0" marL="457200" rtl="0" algn="l">
              <a:lnSpc>
                <a:spcPct val="115000"/>
              </a:lnSpc>
              <a:spcBef>
                <a:spcPts val="1200"/>
              </a:spcBef>
              <a:spcAft>
                <a:spcPts val="0"/>
              </a:spcAft>
              <a:buClr>
                <a:schemeClr val="dk1"/>
              </a:buClr>
              <a:buSzPts val="1300"/>
              <a:buFont typeface="Roboto"/>
              <a:buChar char="●"/>
            </a:pPr>
            <a:r>
              <a:rPr lang="en" sz="1300">
                <a:solidFill>
                  <a:schemeClr val="dk1"/>
                </a:solidFill>
                <a:latin typeface="Roboto"/>
                <a:ea typeface="Roboto"/>
                <a:cs typeface="Roboto"/>
                <a:sym typeface="Roboto"/>
              </a:rPr>
              <a:t>Best model varies by aggregation level (Total vs. Department) and time granularity (daily vs. monthly)</a:t>
            </a:r>
            <a:endParaRPr sz="1300">
              <a:solidFill>
                <a:schemeClr val="dk1"/>
              </a:solidFill>
              <a:latin typeface="Roboto"/>
              <a:ea typeface="Roboto"/>
              <a:cs typeface="Roboto"/>
              <a:sym typeface="Roboto"/>
            </a:endParaRPr>
          </a:p>
          <a:p>
            <a:pPr indent="-311150" lvl="0" marL="457200" marR="0" rtl="0" algn="l">
              <a:lnSpc>
                <a:spcPct val="115000"/>
              </a:lnSpc>
              <a:spcBef>
                <a:spcPts val="0"/>
              </a:spcBef>
              <a:spcAft>
                <a:spcPts val="0"/>
              </a:spcAft>
              <a:buClr>
                <a:schemeClr val="dk1"/>
              </a:buClr>
              <a:buSzPts val="1300"/>
              <a:buFont typeface="Roboto"/>
              <a:buChar char="●"/>
            </a:pPr>
            <a:r>
              <a:rPr lang="en" sz="1300">
                <a:solidFill>
                  <a:schemeClr val="dk1"/>
                </a:solidFill>
                <a:latin typeface="Roboto"/>
                <a:ea typeface="Roboto"/>
                <a:cs typeface="Roboto"/>
                <a:sym typeface="Roboto"/>
              </a:rPr>
              <a:t>Daily (operational): Prophet best for Total 311</a:t>
            </a:r>
            <a:r>
              <a:rPr lang="en" sz="1300">
                <a:solidFill>
                  <a:schemeClr val="dk1"/>
                </a:solidFill>
                <a:latin typeface="Roboto"/>
                <a:ea typeface="Roboto"/>
                <a:cs typeface="Roboto"/>
                <a:sym typeface="Roboto"/>
              </a:rPr>
              <a:t>; </a:t>
            </a:r>
            <a:r>
              <a:rPr lang="en" sz="1300">
                <a:solidFill>
                  <a:schemeClr val="dk1"/>
                </a:solidFill>
                <a:latin typeface="Roboto"/>
                <a:ea typeface="Roboto"/>
                <a:cs typeface="Roboto"/>
                <a:sym typeface="Roboto"/>
              </a:rPr>
              <a:t>Holt-Winters/Prophet best for departments</a:t>
            </a:r>
            <a:endParaRPr sz="1300">
              <a:solidFill>
                <a:schemeClr val="dk1"/>
              </a:solidFill>
              <a:latin typeface="Roboto"/>
              <a:ea typeface="Roboto"/>
              <a:cs typeface="Roboto"/>
              <a:sym typeface="Roboto"/>
            </a:endParaRPr>
          </a:p>
          <a:p>
            <a:pPr indent="0" lvl="0" marL="0" rtl="0" algn="l">
              <a:lnSpc>
                <a:spcPct val="115000"/>
              </a:lnSpc>
              <a:spcBef>
                <a:spcPts val="1200"/>
              </a:spcBef>
              <a:spcAft>
                <a:spcPts val="0"/>
              </a:spcAft>
              <a:buSzPts val="605"/>
              <a:buNone/>
            </a:pPr>
            <a:r>
              <a:rPr b="1" lang="en" sz="1500">
                <a:solidFill>
                  <a:schemeClr val="dk1"/>
                </a:solidFill>
                <a:latin typeface="Roboto"/>
                <a:ea typeface="Roboto"/>
                <a:cs typeface="Roboto"/>
                <a:sym typeface="Roboto"/>
              </a:rPr>
              <a:t>Limitations:</a:t>
            </a:r>
            <a:endParaRPr b="1" sz="1500">
              <a:solidFill>
                <a:schemeClr val="dk1"/>
              </a:solidFill>
              <a:latin typeface="Roboto"/>
              <a:ea typeface="Roboto"/>
              <a:cs typeface="Roboto"/>
              <a:sym typeface="Roboto"/>
            </a:endParaRPr>
          </a:p>
          <a:p>
            <a:pPr indent="-311150" lvl="0" marL="457200" marR="0" rtl="0" algn="l">
              <a:lnSpc>
                <a:spcPct val="115000"/>
              </a:lnSpc>
              <a:spcBef>
                <a:spcPts val="1200"/>
              </a:spcBef>
              <a:spcAft>
                <a:spcPts val="0"/>
              </a:spcAft>
              <a:buClr>
                <a:schemeClr val="dk1"/>
              </a:buClr>
              <a:buSzPts val="1300"/>
              <a:buFont typeface="Roboto"/>
              <a:buChar char="●"/>
            </a:pPr>
            <a:r>
              <a:rPr lang="en" sz="1300">
                <a:solidFill>
                  <a:schemeClr val="dk1"/>
                </a:solidFill>
                <a:latin typeface="Roboto"/>
                <a:ea typeface="Roboto"/>
                <a:cs typeface="Roboto"/>
                <a:sym typeface="Roboto"/>
              </a:rPr>
              <a:t>Inconsistent feature sets across models (some include weather as external regressors, others didn’t)</a:t>
            </a:r>
            <a:endParaRPr sz="1300">
              <a:solidFill>
                <a:schemeClr val="dk1"/>
              </a:solidFill>
              <a:latin typeface="Roboto"/>
              <a:ea typeface="Roboto"/>
              <a:cs typeface="Roboto"/>
              <a:sym typeface="Roboto"/>
            </a:endParaRPr>
          </a:p>
          <a:p>
            <a:pPr indent="-311150" lvl="0" marL="457200" marR="0" rtl="0" algn="l">
              <a:lnSpc>
                <a:spcPct val="115000"/>
              </a:lnSpc>
              <a:spcBef>
                <a:spcPts val="0"/>
              </a:spcBef>
              <a:spcAft>
                <a:spcPts val="0"/>
              </a:spcAft>
              <a:buClr>
                <a:schemeClr val="dk1"/>
              </a:buClr>
              <a:buSzPts val="1300"/>
              <a:buFont typeface="Roboto"/>
              <a:buChar char="●"/>
            </a:pPr>
            <a:r>
              <a:rPr lang="en" sz="1300">
                <a:solidFill>
                  <a:schemeClr val="dk1"/>
                </a:solidFill>
                <a:latin typeface="Roboto"/>
                <a:ea typeface="Roboto"/>
                <a:cs typeface="Roboto"/>
                <a:sym typeface="Roboto"/>
              </a:rPr>
              <a:t>Single train/test split, not enough cross validation</a:t>
            </a:r>
            <a:endParaRPr sz="1300">
              <a:solidFill>
                <a:schemeClr val="dk1"/>
              </a:solidFill>
              <a:latin typeface="Roboto"/>
              <a:ea typeface="Roboto"/>
              <a:cs typeface="Roboto"/>
              <a:sym typeface="Roboto"/>
            </a:endParaRPr>
          </a:p>
          <a:p>
            <a:pPr indent="-311150" lvl="0" marL="457200" marR="0" rtl="0" algn="l">
              <a:lnSpc>
                <a:spcPct val="115000"/>
              </a:lnSpc>
              <a:spcBef>
                <a:spcPts val="0"/>
              </a:spcBef>
              <a:spcAft>
                <a:spcPts val="0"/>
              </a:spcAft>
              <a:buClr>
                <a:schemeClr val="dk1"/>
              </a:buClr>
              <a:buSzPts val="1300"/>
              <a:buFont typeface="Roboto"/>
              <a:buChar char="●"/>
            </a:pPr>
            <a:r>
              <a:rPr lang="en" sz="1300">
                <a:solidFill>
                  <a:schemeClr val="dk1"/>
                </a:solidFill>
                <a:latin typeface="Roboto"/>
                <a:ea typeface="Roboto"/>
                <a:cs typeface="Roboto"/>
                <a:sym typeface="Roboto"/>
              </a:rPr>
              <a:t>Different time granularity (daily vs. monthly) limits direct MAE/RMSE comparison</a:t>
            </a:r>
            <a:endParaRPr sz="1300">
              <a:solidFill>
                <a:schemeClr val="dk1"/>
              </a:solidFill>
              <a:latin typeface="Roboto"/>
              <a:ea typeface="Roboto"/>
              <a:cs typeface="Roboto"/>
              <a:sym typeface="Roboto"/>
            </a:endParaRPr>
          </a:p>
          <a:p>
            <a:pPr indent="0" lvl="0" marL="0" rtl="0" algn="l">
              <a:lnSpc>
                <a:spcPct val="115000"/>
              </a:lnSpc>
              <a:spcBef>
                <a:spcPts val="1200"/>
              </a:spcBef>
              <a:spcAft>
                <a:spcPts val="0"/>
              </a:spcAft>
              <a:buSzPts val="605"/>
              <a:buNone/>
            </a:pPr>
            <a:r>
              <a:rPr b="1" lang="en" sz="1500">
                <a:solidFill>
                  <a:schemeClr val="dk1"/>
                </a:solidFill>
                <a:latin typeface="Roboto"/>
                <a:ea typeface="Roboto"/>
                <a:cs typeface="Roboto"/>
                <a:sym typeface="Roboto"/>
              </a:rPr>
              <a:t>Future Work:</a:t>
            </a:r>
            <a:endParaRPr b="1" sz="1500">
              <a:solidFill>
                <a:schemeClr val="dk1"/>
              </a:solidFill>
              <a:latin typeface="Roboto"/>
              <a:ea typeface="Roboto"/>
              <a:cs typeface="Roboto"/>
              <a:sym typeface="Roboto"/>
            </a:endParaRPr>
          </a:p>
          <a:p>
            <a:pPr indent="-311150" lvl="0" marL="457200" rtl="0" algn="l">
              <a:lnSpc>
                <a:spcPct val="115000"/>
              </a:lnSpc>
              <a:spcBef>
                <a:spcPts val="1200"/>
              </a:spcBef>
              <a:spcAft>
                <a:spcPts val="0"/>
              </a:spcAft>
              <a:buClr>
                <a:schemeClr val="dk1"/>
              </a:buClr>
              <a:buSzPts val="1300"/>
              <a:buFont typeface="Roboto"/>
              <a:buChar char="●"/>
            </a:pPr>
            <a:r>
              <a:rPr lang="en" sz="1300">
                <a:solidFill>
                  <a:schemeClr val="dk1"/>
                </a:solidFill>
                <a:latin typeface="Roboto"/>
                <a:ea typeface="Roboto"/>
                <a:cs typeface="Roboto"/>
                <a:sym typeface="Roboto"/>
              </a:rPr>
              <a:t>Add richer weather features</a:t>
            </a: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Font typeface="Roboto"/>
              <a:buChar char="●"/>
            </a:pPr>
            <a:r>
              <a:rPr lang="en" sz="1300">
                <a:solidFill>
                  <a:schemeClr val="dk1"/>
                </a:solidFill>
                <a:latin typeface="Roboto"/>
                <a:ea typeface="Roboto"/>
                <a:cs typeface="Roboto"/>
                <a:sym typeface="Roboto"/>
              </a:rPr>
              <a:t>Further tune models for different department demand patterns</a:t>
            </a: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Font typeface="Roboto"/>
              <a:buChar char="●"/>
            </a:pPr>
            <a:r>
              <a:rPr lang="en" sz="1300">
                <a:solidFill>
                  <a:schemeClr val="dk1"/>
                </a:solidFill>
                <a:latin typeface="Roboto"/>
                <a:ea typeface="Roboto"/>
                <a:cs typeface="Roboto"/>
                <a:sym typeface="Roboto"/>
              </a:rPr>
              <a:t>Test rolling retraining for practical deployment</a:t>
            </a:r>
            <a:endParaRPr sz="1300">
              <a:solidFill>
                <a:schemeClr val="dk1"/>
              </a:solidFill>
              <a:latin typeface="Roboto"/>
              <a:ea typeface="Roboto"/>
              <a:cs typeface="Roboto"/>
              <a:sym typeface="Roboto"/>
            </a:endParaRPr>
          </a:p>
          <a:p>
            <a:pPr indent="0" lvl="0" marL="0" rtl="0" algn="l">
              <a:lnSpc>
                <a:spcPct val="115000"/>
              </a:lnSpc>
              <a:spcBef>
                <a:spcPts val="1200"/>
              </a:spcBef>
              <a:spcAft>
                <a:spcPts val="0"/>
              </a:spcAft>
              <a:buSzPts val="605"/>
              <a:buNone/>
            </a:pPr>
            <a:r>
              <a:t/>
            </a:r>
            <a:endParaRPr sz="1380">
              <a:solidFill>
                <a:schemeClr val="dk1"/>
              </a:solidFill>
              <a:latin typeface="Roboto"/>
              <a:ea typeface="Roboto"/>
              <a:cs typeface="Roboto"/>
              <a:sym typeface="Roboto"/>
            </a:endParaRPr>
          </a:p>
          <a:p>
            <a:pPr indent="0" lvl="0" marL="0" rtl="0" algn="l">
              <a:lnSpc>
                <a:spcPct val="115000"/>
              </a:lnSpc>
              <a:spcBef>
                <a:spcPts val="1200"/>
              </a:spcBef>
              <a:spcAft>
                <a:spcPts val="0"/>
              </a:spcAft>
              <a:buSzPts val="605"/>
              <a:buNone/>
            </a:pPr>
            <a:r>
              <a:t/>
            </a:r>
            <a:endParaRPr sz="1380">
              <a:solidFill>
                <a:schemeClr val="dk1"/>
              </a:solidFill>
              <a:latin typeface="Roboto"/>
              <a:ea typeface="Roboto"/>
              <a:cs typeface="Roboto"/>
              <a:sym typeface="Roboto"/>
            </a:endParaRPr>
          </a:p>
          <a:p>
            <a:pPr indent="0" lvl="0" marL="0" rtl="0" algn="l">
              <a:lnSpc>
                <a:spcPct val="115000"/>
              </a:lnSpc>
              <a:spcBef>
                <a:spcPts val="1200"/>
              </a:spcBef>
              <a:spcAft>
                <a:spcPts val="1200"/>
              </a:spcAft>
              <a:buSzPts val="605"/>
              <a:buNone/>
            </a:pPr>
            <a:r>
              <a:t/>
            </a:r>
            <a:endParaRPr sz="1380">
              <a:solidFill>
                <a:schemeClr val="dk1"/>
              </a:solidFill>
              <a:latin typeface="Roboto"/>
              <a:ea typeface="Roboto"/>
              <a:cs typeface="Roboto"/>
              <a:sym typeface="Roboto"/>
            </a:endParaRPr>
          </a:p>
        </p:txBody>
      </p:sp>
      <p:pic>
        <p:nvPicPr>
          <p:cNvPr id="182" name="Google Shape;182;p25"/>
          <p:cNvPicPr preferRelativeResize="0"/>
          <p:nvPr/>
        </p:nvPicPr>
        <p:blipFill>
          <a:blip r:embed="rId4">
            <a:alphaModFix/>
          </a:blip>
          <a:stretch>
            <a:fillRect/>
          </a:stretch>
        </p:blipFill>
        <p:spPr>
          <a:xfrm>
            <a:off x="3499450" y="288217"/>
            <a:ext cx="782776" cy="7827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Big Shoulders"/>
                <a:ea typeface="Big Shoulders"/>
                <a:cs typeface="Big Shoulders"/>
                <a:sym typeface="Big Shoulders"/>
              </a:rPr>
              <a:t>From Model Results to Business Impact</a:t>
            </a:r>
            <a:endParaRPr b="1">
              <a:latin typeface="Big Shoulders Stencil"/>
              <a:ea typeface="Big Shoulders Stencil"/>
              <a:cs typeface="Big Shoulders Stencil"/>
              <a:sym typeface="Big Shoulders Stencil"/>
            </a:endParaRPr>
          </a:p>
        </p:txBody>
      </p:sp>
      <p:sp>
        <p:nvSpPr>
          <p:cNvPr id="188" name="Google Shape;188;p26"/>
          <p:cNvSpPr txBox="1"/>
          <p:nvPr>
            <p:ph idx="1" type="body"/>
          </p:nvPr>
        </p:nvSpPr>
        <p:spPr>
          <a:xfrm>
            <a:off x="311700" y="944900"/>
            <a:ext cx="8832300" cy="39318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SzPts val="688"/>
              <a:buNone/>
            </a:pPr>
            <a:r>
              <a:rPr b="1" lang="en" sz="1375">
                <a:solidFill>
                  <a:schemeClr val="dk1"/>
                </a:solidFill>
                <a:latin typeface="Roboto"/>
                <a:ea typeface="Roboto"/>
                <a:cs typeface="Roboto"/>
                <a:sym typeface="Roboto"/>
              </a:rPr>
              <a:t>How the Forecast Solves the Business Problem</a:t>
            </a:r>
            <a:endParaRPr b="1" sz="1375">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Input: daily 311 demand forecasts (citywide + by department)</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Output: next-day outlook for operations (and longer-horizon forecasts for planning)</a:t>
            </a:r>
            <a:endParaRPr sz="1250">
              <a:solidFill>
                <a:schemeClr val="dk1"/>
              </a:solidFill>
              <a:latin typeface="Roboto"/>
              <a:ea typeface="Roboto"/>
              <a:cs typeface="Roboto"/>
              <a:sym typeface="Roboto"/>
            </a:endParaRPr>
          </a:p>
          <a:p>
            <a:pPr indent="0" lvl="0" marL="0" marR="0" rtl="0" algn="l">
              <a:lnSpc>
                <a:spcPct val="115000"/>
              </a:lnSpc>
              <a:spcBef>
                <a:spcPts val="1200"/>
              </a:spcBef>
              <a:spcAft>
                <a:spcPts val="0"/>
              </a:spcAft>
              <a:buSzPts val="688"/>
              <a:buNone/>
            </a:pPr>
            <a:r>
              <a:rPr b="1" lang="en" sz="1375">
                <a:solidFill>
                  <a:schemeClr val="dk1"/>
                </a:solidFill>
                <a:latin typeface="Roboto"/>
                <a:ea typeface="Roboto"/>
                <a:cs typeface="Roboto"/>
                <a:sym typeface="Roboto"/>
              </a:rPr>
              <a:t>Operational Use Cases</a:t>
            </a:r>
            <a:r>
              <a:rPr b="1" lang="en" sz="1250">
                <a:solidFill>
                  <a:schemeClr val="dk1"/>
                </a:solidFill>
                <a:latin typeface="Roboto"/>
                <a:ea typeface="Roboto"/>
                <a:cs typeface="Roboto"/>
                <a:sym typeface="Roboto"/>
              </a:rPr>
              <a:t> </a:t>
            </a:r>
            <a:endParaRPr b="1"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Pre-stage resources ahead of predicted surges</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Adjust staffing schedules by department ahead of peak days</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Trigger cross-department coordination when multiple departments spike</a:t>
            </a:r>
            <a:endParaRPr sz="1250">
              <a:solidFill>
                <a:schemeClr val="dk1"/>
              </a:solidFill>
              <a:latin typeface="Roboto"/>
              <a:ea typeface="Roboto"/>
              <a:cs typeface="Roboto"/>
              <a:sym typeface="Roboto"/>
            </a:endParaRPr>
          </a:p>
          <a:p>
            <a:pPr indent="0" lvl="0" marL="0" rtl="0" algn="l">
              <a:lnSpc>
                <a:spcPct val="115000"/>
              </a:lnSpc>
              <a:spcBef>
                <a:spcPts val="1200"/>
              </a:spcBef>
              <a:spcAft>
                <a:spcPts val="0"/>
              </a:spcAft>
              <a:buSzPts val="688"/>
              <a:buNone/>
            </a:pPr>
            <a:r>
              <a:rPr b="1" lang="en" sz="1375">
                <a:solidFill>
                  <a:schemeClr val="dk1"/>
                </a:solidFill>
                <a:latin typeface="Roboto"/>
                <a:ea typeface="Roboto"/>
                <a:cs typeface="Roboto"/>
                <a:sym typeface="Roboto"/>
              </a:rPr>
              <a:t>Hypotheses → Modeling Choices</a:t>
            </a:r>
            <a:endParaRPr b="1" sz="1187">
              <a:solidFill>
                <a:schemeClr val="dk1"/>
              </a:solidFill>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H1 Seasonality: seasonal models (baseline / Holt-Winters / Prophet) capture weekly &amp; annual patterns</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H2 Calendar effects: weekday &amp; holiday effects captured in Prophet (calendar features)</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H3 Weather lag: tested lagged weather regressors (SARIMAX / regressor setup)</a:t>
            </a:r>
            <a:endParaRPr sz="1250">
              <a:solidFill>
                <a:schemeClr val="dk1"/>
              </a:solidFill>
              <a:latin typeface="Roboto"/>
              <a:ea typeface="Roboto"/>
              <a:cs typeface="Roboto"/>
              <a:sym typeface="Roboto"/>
            </a:endParaRPr>
          </a:p>
          <a:p>
            <a:pPr indent="0" lvl="0" marL="0" marR="0" rtl="0" algn="l">
              <a:lnSpc>
                <a:spcPct val="115000"/>
              </a:lnSpc>
              <a:spcBef>
                <a:spcPts val="1200"/>
              </a:spcBef>
              <a:spcAft>
                <a:spcPts val="0"/>
              </a:spcAft>
              <a:buSzPts val="688"/>
              <a:buNone/>
            </a:pPr>
            <a:r>
              <a:rPr b="1" lang="en" sz="1375">
                <a:solidFill>
                  <a:schemeClr val="dk1"/>
                </a:solidFill>
                <a:latin typeface="Roboto"/>
                <a:ea typeface="Roboto"/>
                <a:cs typeface="Roboto"/>
                <a:sym typeface="Roboto"/>
              </a:rPr>
              <a:t>Recommended Deployment Setup</a:t>
            </a:r>
            <a:endParaRPr b="1"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Two-level daily setup (recommended): citywide forecast for planning + department forecasts for staffing</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Monthly models (SARIMA/SARIMAX/VAR): reference only (not comparable to daily MAE/RMSE)</a:t>
            </a:r>
            <a:endParaRPr sz="1250">
              <a:solidFill>
                <a:schemeClr val="dk1"/>
              </a:solidFill>
              <a:latin typeface="Roboto"/>
              <a:ea typeface="Roboto"/>
              <a:cs typeface="Roboto"/>
              <a:sym typeface="Roboto"/>
            </a:endParaRPr>
          </a:p>
          <a:p>
            <a:pPr indent="-307975" lvl="0" marL="457200" marR="0" rtl="0" algn="l">
              <a:lnSpc>
                <a:spcPct val="115000"/>
              </a:lnSpc>
              <a:spcBef>
                <a:spcPts val="0"/>
              </a:spcBef>
              <a:spcAft>
                <a:spcPts val="0"/>
              </a:spcAft>
              <a:buClr>
                <a:schemeClr val="dk1"/>
              </a:buClr>
              <a:buSzPts val="1250"/>
              <a:buFont typeface="Roboto"/>
              <a:buChar char="●"/>
            </a:pPr>
            <a:r>
              <a:rPr lang="en" sz="1250">
                <a:solidFill>
                  <a:schemeClr val="dk1"/>
                </a:solidFill>
                <a:latin typeface="Roboto"/>
                <a:ea typeface="Roboto"/>
                <a:cs typeface="Roboto"/>
                <a:sym typeface="Roboto"/>
              </a:rPr>
              <a:t>Trade-off: External regressors showed limited and inconsistent accuracy gains</a:t>
            </a:r>
            <a:endParaRPr sz="1250">
              <a:solidFill>
                <a:schemeClr val="dk1"/>
              </a:solidFill>
              <a:latin typeface="Roboto"/>
              <a:ea typeface="Roboto"/>
              <a:cs typeface="Roboto"/>
              <a:sym typeface="Roboto"/>
            </a:endParaRPr>
          </a:p>
          <a:p>
            <a:pPr indent="0" lvl="0" marL="0" marR="0" rtl="0" algn="l">
              <a:lnSpc>
                <a:spcPct val="105000"/>
              </a:lnSpc>
              <a:spcBef>
                <a:spcPts val="1200"/>
              </a:spcBef>
              <a:spcAft>
                <a:spcPts val="1200"/>
              </a:spcAft>
              <a:buSzPts val="688"/>
              <a:buNone/>
            </a:pPr>
            <a:r>
              <a:t/>
            </a:r>
            <a:endParaRPr sz="1250">
              <a:solidFill>
                <a:schemeClr val="dk1"/>
              </a:solidFill>
              <a:latin typeface="Roboto"/>
              <a:ea typeface="Roboto"/>
              <a:cs typeface="Roboto"/>
              <a:sym typeface="Roboto"/>
            </a:endParaRPr>
          </a:p>
        </p:txBody>
      </p:sp>
      <p:sp>
        <p:nvSpPr>
          <p:cNvPr id="189" name="Google Shape;18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0" name="Google Shape;190;p26"/>
          <p:cNvPicPr preferRelativeResize="0"/>
          <p:nvPr/>
        </p:nvPicPr>
        <p:blipFill>
          <a:blip r:embed="rId3">
            <a:alphaModFix/>
          </a:blip>
          <a:stretch>
            <a:fillRect/>
          </a:stretch>
        </p:blipFill>
        <p:spPr>
          <a:xfrm>
            <a:off x="7770895" y="112175"/>
            <a:ext cx="1284764" cy="332850"/>
          </a:xfrm>
          <a:prstGeom prst="rect">
            <a:avLst/>
          </a:prstGeom>
          <a:noFill/>
          <a:ln>
            <a:noFill/>
          </a:ln>
        </p:spPr>
      </p:pic>
      <p:pic>
        <p:nvPicPr>
          <p:cNvPr id="191" name="Google Shape;191;p26"/>
          <p:cNvPicPr preferRelativeResize="0"/>
          <p:nvPr/>
        </p:nvPicPr>
        <p:blipFill>
          <a:blip r:embed="rId4">
            <a:alphaModFix/>
          </a:blip>
          <a:stretch>
            <a:fillRect/>
          </a:stretch>
        </p:blipFill>
        <p:spPr>
          <a:xfrm>
            <a:off x="5303130" y="279592"/>
            <a:ext cx="782776" cy="7827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Appendix (Prophet Testing / Forecasting Result)</a:t>
            </a:r>
            <a:endParaRPr/>
          </a:p>
        </p:txBody>
      </p:sp>
      <p:sp>
        <p:nvSpPr>
          <p:cNvPr id="197" name="Google Shape;197;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Prophet is our best model with validated forecasting result</a:t>
            </a:r>
            <a:endParaRPr/>
          </a:p>
        </p:txBody>
      </p:sp>
      <p:sp>
        <p:nvSpPr>
          <p:cNvPr id="198" name="Google Shape;19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99" name="Google Shape;199;p27" title="prophet_evaluation.png"/>
          <p:cNvPicPr preferRelativeResize="0"/>
          <p:nvPr/>
        </p:nvPicPr>
        <p:blipFill>
          <a:blip r:embed="rId3">
            <a:alphaModFix/>
          </a:blip>
          <a:stretch>
            <a:fillRect/>
          </a:stretch>
        </p:blipFill>
        <p:spPr>
          <a:xfrm>
            <a:off x="240025" y="1675825"/>
            <a:ext cx="8592276" cy="30333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